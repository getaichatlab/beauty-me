
<file path=[Content_Types].xml><?xml version="1.0" encoding="utf-8"?>
<Types xmlns="http://schemas.openxmlformats.org/package/2006/content-types">
  <Default Extension="xml" ContentType="application/vnd.openxmlformats-package.core-properties+xml"/>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a0f1821fcd419c" /><Relationship Type="http://schemas.openxmlformats.org/officeDocument/2006/relationships/extended-properties" Target="/docProps/app.xml" Id="R7b97b4691a2744de" /><Relationship Type="http://schemas.openxmlformats.org/officeDocument/2006/relationships/officeDocument" Target="/ppt/presentation.xml" Id="Rd3d9c444353d4ab2" /></Relationships>
</file>

<file path=ppt/presentation.xml><?xml version="1.0" encoding="utf-8"?>
<p:presentation xmlns:p="http://schemas.openxmlformats.org/presentationml/2006/main">
  <p:sldMasterIdLst>
    <p:sldMasterId xmlns:r="http://schemas.openxmlformats.org/officeDocument/2006/relationships" id="2147483648" r:id="Rbe6ac630b7d24e96"/>
  </p:sldMasterIdLst>
  <p:notesMasterIdLst>
    <p:notesMasterId xmlns:r="http://schemas.openxmlformats.org/officeDocument/2006/relationships" r:id="R223f35ae06af4635"/>
  </p:notesMasterIdLst>
  <p:sldIdLst>
    <p:sldId xmlns:r="http://schemas.openxmlformats.org/officeDocument/2006/relationships" id="256" r:id="R8896deeacc5d4077"/>
    <p:sldId xmlns:r="http://schemas.openxmlformats.org/officeDocument/2006/relationships" id="257" r:id="R22957342249b4945"/>
    <p:sldId xmlns:r="http://schemas.openxmlformats.org/officeDocument/2006/relationships" id="258" r:id="R911e5142ef7d4834"/>
    <p:sldId xmlns:r="http://schemas.openxmlformats.org/officeDocument/2006/relationships" id="259" r:id="Rd7ed061fb6134cbd"/>
    <p:sldId xmlns:r="http://schemas.openxmlformats.org/officeDocument/2006/relationships" id="260" r:id="R23c80c5fa3d14292"/>
    <p:sldId xmlns:r="http://schemas.openxmlformats.org/officeDocument/2006/relationships" id="261" r:id="R2f9321aeade3463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9267f18f644d7b" /><Relationship Type="http://schemas.openxmlformats.org/officeDocument/2006/relationships/slideMaster" Target="/ppt/slideMasters/slideMaster1.xml" Id="Rbe6ac630b7d24e96" /><Relationship Type="http://schemas.openxmlformats.org/officeDocument/2006/relationships/notesMaster" Target="/ppt/notesMasters/notesMaster1.xml" Id="R223f35ae06af4635" /><Relationship Type="http://schemas.openxmlformats.org/officeDocument/2006/relationships/presProps" Target="/ppt/presProps.xml" Id="Rc8b506631d6e4026" /><Relationship Type="http://schemas.openxmlformats.org/officeDocument/2006/relationships/tableStyles" Target="/ppt/tableStyles.xml" Id="R221bd20821564a60" /><Relationship Type="http://schemas.openxmlformats.org/officeDocument/2006/relationships/slide" Target="/ppt/slides/slide1.xml" Id="R8896deeacc5d4077" /><Relationship Type="http://schemas.openxmlformats.org/officeDocument/2006/relationships/slide" Target="/ppt/slides/slide2.xml" Id="R22957342249b4945" /><Relationship Type="http://schemas.openxmlformats.org/officeDocument/2006/relationships/slide" Target="/ppt/slides/slide3.xml" Id="R911e5142ef7d4834" /><Relationship Type="http://schemas.openxmlformats.org/officeDocument/2006/relationships/slide" Target="/ppt/slides/slide4.xml" Id="Rd7ed061fb6134cbd" /><Relationship Type="http://schemas.openxmlformats.org/officeDocument/2006/relationships/slide" Target="/ppt/slides/slide5.xml" Id="R23c80c5fa3d14292" /><Relationship Type="http://schemas.openxmlformats.org/officeDocument/2006/relationships/slide" Target="/ppt/slides/slide6.xml" Id="R2f9321aeade346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434b19a5094d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9e05f018b64d6f" /><Relationship Type="http://schemas.openxmlformats.org/officeDocument/2006/relationships/notesMaster" Target="/ppt/notesMasters/notesMaster1.xml" Id="Re6cf88280c734be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e29d7c8f7724397" /><Relationship Type="http://schemas.openxmlformats.org/officeDocument/2006/relationships/notesMaster" Target="/ppt/notesMasters/notesMaster1.xml" Id="R8cb11296fbd34f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bb5c3d9dbf94443" /><Relationship Type="http://schemas.openxmlformats.org/officeDocument/2006/relationships/notesMaster" Target="/ppt/notesMasters/notesMaster1.xml" Id="Rd93fc5a93fef4bf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8d4416a7d74ea3" /><Relationship Type="http://schemas.openxmlformats.org/officeDocument/2006/relationships/notesMaster" Target="/ppt/notesMasters/notesMaster1.xml" Id="Rd33b47362be440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7f87347684454d" /><Relationship Type="http://schemas.openxmlformats.org/officeDocument/2006/relationships/notesMaster" Target="/ppt/notesMasters/notesMaster1.xml" Id="R37f4cbe4a2014b3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41ae8ba1dfa4548" /><Relationship Type="http://schemas.openxmlformats.org/officeDocument/2006/relationships/notesMaster" Target="/ppt/notesMasters/notesMaster1.xml" Id="Rf6ab795372b44b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Beauty Me uchun tayyorlangan mustaqil demo konsepti. Haqiqiy surat salonning Instagram postidan: https://www.instagram.com/beautyme_uz/p/CZya3dgt4T8/ . Sayt: https://beauty-me-tashkent-demo.netlify.app/uz/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Skrinshot: https://beauty-me-tashkent-demo.netlify.app/uz/ . Ko‘rsatilgan foydalar interfeys vazifalaridan kelib chiqadigan imkoniyatlar, savdo yoki konversiya natijasiga kafolat berilmaydi. Hozirgi yozilish forma rejimi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Haqiqiy mobil skrinshotlar: https://beauty-me-tashkent-demo.netlify.app/uz/ va https://beauty-me-tashkent-demo.netlify.app/uz/gallery/ . Funksiyalar loyiha src/data/content.ts, Gallery va Booking komponentlari orqali tekshirilgan. Yozilish faqat xizmat, sana va vaqt tanlovini shu tabdagi admin namunasiga o‘tkazadi. Ism, telefon va izoh saqlanmaydi; salonga hech narsa yuborilmaydi.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Admin screenshot and link: https://beauty-me-tashkent-demo.netlify.app/admin/demo/ . Dashboard statistics and leads are synthetic demo data, not salon performance. Demo transport stores only per-tab sessionStorage. Real publishing, customer requests and visit collection require Supabase deployment per ADMIN_SETUP.md. Source: ADMIN_DEMO_QA.md and src/admin/demo.ts.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Commercial scope supplied by the user: develop a CRM-connected Telegram bot, notify all selected responsible administrators about every website request, support confirmation/contact actions, and synchronize status with the admin panel. This is included implementation work, not an existing live feature. Contact means using the submitted phone number; no claim of automatic bot messaging to customers who have not started the bot. Current live admin is a sandbox.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User-specified fixed development price: USD 250, including the website, real admin/CRM integration, Telegram bot development, setup and go-live. The client pays domain and server/hosting provider charges separately, accounts and domain are registered under the business owner. Our work covers provider selection, registration assistance, connections and complete setup. First month after go-live includes free service/help and training of the designated person to maintain the website and use admin features. No subsequent monthly service price or provider fee was supplied, so none is invented here. QR payloads: https://beauty-me-tashkent-demo.netlify.app/uz/ and https://beauty-me-tashkent-demo.netlify.app/admin/demo/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11eaa06770450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9b237d77e024cc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93819a5c12e485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69950ff92eb4fb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e19c6b8b91c41b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9e8e5d1516249a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1BC2F0-2C53-4C9A-8BC3-E60A54A0823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4E515E7-C8BA-4079-89EB-9E0B12A8038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8FB45C2-88C8-45CC-99BC-A3E4AC5E2C0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68BF42-4A72-4159-AB2B-7B233D11BD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86BD25C-C8D7-4FDE-8446-D77D571BA8D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F42EAE3-DD05-4A26-8798-690FD0E1F0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1B0CE89-B401-467B-A3A0-7E0DD317556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6E49904-8047-493C-BC2F-F50E22A7B60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B3BB5C-7D55-46C6-B214-FFE77DB282C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70FC0F7-E210-46B4-BBFC-B8AB9EF89B3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7c774d0e854a3f" /><Relationship Type="http://schemas.openxmlformats.org/officeDocument/2006/relationships/slideLayout" Target="/ppt/slideLayouts/slideLayout1.xml" Id="Re0b492ac4b0c4c65" /><Relationship Type="http://schemas.openxmlformats.org/officeDocument/2006/relationships/slideLayout" Target="/ppt/slideLayouts/slideLayout2.xml" Id="R0cfd060a8216458e" /><Relationship Type="http://schemas.openxmlformats.org/officeDocument/2006/relationships/slideLayout" Target="/ppt/slideLayouts/slideLayout3.xml" Id="R6012ca4d291f4abf" /><Relationship Type="http://schemas.openxmlformats.org/officeDocument/2006/relationships/slideLayout" Target="/ppt/slideLayouts/slideLayout4.xml" Id="R43b636f0faf4499f" /><Relationship Type="http://schemas.openxmlformats.org/officeDocument/2006/relationships/slideLayout" Target="/ppt/slideLayouts/slideLayout5.xml" Id="R10dec0fbfc014f82" /><Relationship Type="http://schemas.openxmlformats.org/officeDocument/2006/relationships/slideLayout" Target="/ppt/slideLayouts/slideLayout6.xml" Id="R10e079a591574a7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b492ac4b0c4c65"/>
    <p:sldLayoutId xmlns:r="http://schemas.openxmlformats.org/officeDocument/2006/relationships" id="2147483650" r:id="R0cfd060a8216458e"/>
    <p:sldLayoutId xmlns:r="http://schemas.openxmlformats.org/officeDocument/2006/relationships" id="2147483651" r:id="R6012ca4d291f4abf"/>
    <p:sldLayoutId xmlns:r="http://schemas.openxmlformats.org/officeDocument/2006/relationships" id="2147483652" r:id="R43b636f0faf4499f"/>
    <p:sldLayoutId xmlns:r="http://schemas.openxmlformats.org/officeDocument/2006/relationships" id="2147483653" r:id="R10dec0fbfc014f82"/>
    <p:sldLayoutId xmlns:r="http://schemas.openxmlformats.org/officeDocument/2006/relationships" id="2147483654" r:id="R10e079a591574a7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8979b3abc8e4746" /><Relationship Type="http://schemas.openxmlformats.org/officeDocument/2006/relationships/image" Target="/ppt/media/image.bin" Id="R139e17c8f3c64ee4" /><Relationship Type="http://schemas.openxmlformats.org/officeDocument/2006/relationships/notesSlide" Target="/ppt/notesSlides/notesSlide1.xml" Id="R85fe1d31fd884c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b05d4e528794197" /><Relationship Type="http://schemas.openxmlformats.org/officeDocument/2006/relationships/image" Target="/ppt/media/image.png" Id="R4b0f7df0f21a4425" /><Relationship Type="http://schemas.openxmlformats.org/officeDocument/2006/relationships/notesSlide" Target="/ppt/notesSlides/notesSlide2.xml" Id="R6ae078f02356471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3b63742442f4d74" /><Relationship Type="http://schemas.openxmlformats.org/officeDocument/2006/relationships/image" Target="/ppt/media/image2.png" Id="Re2b39031b9154ff3" /><Relationship Type="http://schemas.openxmlformats.org/officeDocument/2006/relationships/image" Target="/ppt/media/image3.png" Id="R505cb52af2c74878" /><Relationship Type="http://schemas.openxmlformats.org/officeDocument/2006/relationships/notesSlide" Target="/ppt/notesSlides/notesSlide3.xml" Id="Rae3cdd362fb34e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166dc1ca7cb4a9d" /><Relationship Type="http://schemas.openxmlformats.org/officeDocument/2006/relationships/image" Target="/ppt/media/image4.png" Id="R7bea5cc910f340eb" /><Relationship Type="http://schemas.openxmlformats.org/officeDocument/2006/relationships/notesSlide" Target="/ppt/notesSlides/notesSlide4.xml" Id="Rd23ad395a70b41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ad761a5057e448d" /><Relationship Type="http://schemas.openxmlformats.org/officeDocument/2006/relationships/notesSlide" Target="/ppt/notesSlides/notesSlide5.xml" Id="R7ccf1fbc762b441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a7fb1787c3d47ac" /><Relationship Type="http://schemas.openxmlformats.org/officeDocument/2006/relationships/image" Target="/ppt/media/image5.png" Id="Rbcdd72b0aa9b4c27" /><Relationship Type="http://schemas.openxmlformats.org/officeDocument/2006/relationships/image" Target="/ppt/media/image6.png" Id="Rb4373b3210f34444" /><Relationship Type="http://schemas.openxmlformats.org/officeDocument/2006/relationships/hyperlink" Target="https://beauty-me-tashkent-demo.netlify.app/uz/" TargetMode="External" Id="R992ac7b355df4851" /><Relationship Type="http://schemas.openxmlformats.org/officeDocument/2006/relationships/hyperlink" Target="https://beauty-me-tashkent-demo.netlify.app/admin/demo/" TargetMode="External" Id="R7fce9b1631874183" /><Relationship Type="http://schemas.openxmlformats.org/officeDocument/2006/relationships/notesSlide" Target="/ppt/notesSlides/notesSlide6.xml" Id="Rae459765da2749ea" /></Relationships>
</file>

<file path=ppt/slides/slide1.xml><?xml version="1.0" encoding="utf-8"?>
<p:sld xmlns:p="http://schemas.openxmlformats.org/presentationml/2006/main">
  <p:cSld>
    <p:bg>
      <p:bgPr>
        <a:solidFill xmlns:a="http://schemas.openxmlformats.org/drawingml/2006/main">
          <a:srgbClr val="4B182A"/>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A1B434AD-ABD3-450F-B0A4-B0D4D66307AD}"/>
              </a:ext>
            </a:extLst>
          </p:cNvPr>
          <p:cNvPicPr>
            <a:picLocks xmlns:a="http://schemas.openxmlformats.org/drawingml/2006/main" noChangeAspect="1"/>
          </p:cNvPicPr>
          <p:nvPr/>
        </p:nvPicPr>
        <p:blipFill>
          <a:blip xmlns:r="http://schemas.openxmlformats.org/officeDocument/2006/relationships" xmlns:a="http://schemas.openxmlformats.org/drawingml/2006/main" r:embed="R139e17c8f3c64ee4"/>
          <a:srcRect xmlns:a="http://schemas.openxmlformats.org/drawingml/2006/main" l="1389" t="0" r="1389"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Beauty Me">
            <a:extLst xmlns:a="http://schemas.openxmlformats.org/drawingml/2006/main">
              <a:ext uri="{FF2B5EF4-FFF2-40B4-BE49-F238E27FC236}">
                <a16:creationId xmlns:a16="http://schemas.microsoft.com/office/drawing/2014/main" id="{3CCD4B1C-A3DD-46E0-8D95-57ED12CE3A87}"/>
              </a:ext>
            </a:extLst>
          </p:cNvPr>
          <p:cNvSpPr>
            <a:spLocks xmlns:a="http://schemas.openxmlformats.org/drawingml/2006/main" noGrp="1"/>
          </p:cNvSpPr>
          <p:nvPr/>
        </p:nvSpPr>
        <p:spPr>
          <a:xfrm xmlns:a="http://schemas.openxmlformats.org/drawingml/2006/main">
            <a:off x="647700" y="619125"/>
            <a:ext cx="5905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0">
                <a:solidFill>
                  <a:srgbClr val="F4EEE6"/>
                </a:solidFill>
                <a:latin typeface="Georgia"/>
                <a:ea typeface="Georgia"/>
                <a:cs typeface="Georgia"/>
              </a:defRPr>
            </a:defPPr>
          </a:lstStyle>
          <a:p xmlns:a="http://schemas.openxmlformats.org/drawingml/2006/main">
            <a:pPr algn="l">
              <a:defRPr sz="6300" b="0">
                <a:solidFill>
                  <a:srgbClr val="F4EEE6"/>
                </a:solidFill>
                <a:latin typeface="Georgia"/>
                <a:ea typeface="Georgia"/>
                <a:cs typeface="Georgia"/>
              </a:defRPr>
            </a:pPr>
            <a:r>
              <a:rPr sz="6300" b="0">
                <a:solidFill>
                  <a:srgbClr val="F4EEE6"/>
                </a:solidFill>
                <a:latin typeface="Georgia"/>
                <a:ea typeface="Georgia"/>
                <a:cs typeface="Georgia"/>
              </a:rPr>
              <a:t>Beauty Me</a:t>
            </a:r>
          </a:p>
        </p:txBody>
      </p:sp>
      <p:sp>
        <p:nvSpPr>
          <p:cNvPr id="3" name="Salonning&#10;onlayn manzili">
            <a:extLst xmlns:a="http://schemas.openxmlformats.org/drawingml/2006/main">
              <a:ext uri="{FF2B5EF4-FFF2-40B4-BE49-F238E27FC236}">
                <a16:creationId xmlns:a16="http://schemas.microsoft.com/office/drawing/2014/main" id="{5178D1B0-6E37-409A-AFBB-34413587D7CD}"/>
              </a:ext>
            </a:extLst>
          </p:cNvPr>
          <p:cNvSpPr>
            <a:spLocks xmlns:a="http://schemas.openxmlformats.org/drawingml/2006/main" noGrp="1"/>
          </p:cNvSpPr>
          <p:nvPr/>
        </p:nvSpPr>
        <p:spPr>
          <a:xfrm xmlns:a="http://schemas.openxmlformats.org/drawingml/2006/main">
            <a:off x="647700" y="2495550"/>
            <a:ext cx="59531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0">
                <a:solidFill>
                  <a:srgbClr val="F4EEE6"/>
                </a:solidFill>
                <a:latin typeface="Georgia"/>
                <a:ea typeface="Georgia"/>
                <a:cs typeface="Georgia"/>
              </a:defRPr>
            </a:defPPr>
          </a:lstStyle>
          <a:p xmlns:a="http://schemas.openxmlformats.org/drawingml/2006/main">
            <a:pPr algn="l">
              <a:defRPr sz="4650" b="0">
                <a:solidFill>
                  <a:srgbClr val="F4EEE6"/>
                </a:solidFill>
                <a:latin typeface="Georgia"/>
                <a:ea typeface="Georgia"/>
                <a:cs typeface="Georgia"/>
              </a:defRPr>
            </a:pPr>
            <a:r>
              <a:rPr sz="4650" b="0">
                <a:solidFill>
                  <a:srgbClr val="F4EEE6"/>
                </a:solidFill>
                <a:latin typeface="Georgia"/>
                <a:ea typeface="Georgia"/>
                <a:cs typeface="Georgia"/>
              </a:rPr>
              <a:t>Salonning</a:t>
            </a:r>
          </a:p>
          <a:p xmlns:a="http://schemas.openxmlformats.org/drawingml/2006/main">
            <a:pPr algn="l">
              <a:defRPr sz="4650" b="0">
                <a:solidFill>
                  <a:srgbClr val="F4EEE6"/>
                </a:solidFill>
                <a:latin typeface="Georgia"/>
                <a:ea typeface="Georgia"/>
                <a:cs typeface="Georgia"/>
              </a:defRPr>
            </a:pPr>
            <a:r>
              <a:rPr sz="4650" b="0">
                <a:solidFill>
                  <a:srgbClr val="F4EEE6"/>
                </a:solidFill>
                <a:latin typeface="Georgia"/>
                <a:ea typeface="Georgia"/>
                <a:cs typeface="Georgia"/>
              </a:rPr>
              <a:t>onlayn manzili</a:t>
            </a:r>
          </a:p>
        </p:txBody>
      </p:sp>
      <p:sp>
        <p:nvSpPr>
          <p:cNvPr id="4" name="Xizmatlarni ko‘rsatish va&#10;mijozga bog‘lanishni oso">
            <a:extLst xmlns:a="http://schemas.openxmlformats.org/drawingml/2006/main">
              <a:ext uri="{FF2B5EF4-FFF2-40B4-BE49-F238E27FC236}">
                <a16:creationId xmlns:a16="http://schemas.microsoft.com/office/drawing/2014/main" id="{6B4B77D4-1E88-46B8-9BD0-294E20DED05C}"/>
              </a:ext>
            </a:extLst>
          </p:cNvPr>
          <p:cNvSpPr>
            <a:spLocks xmlns:a="http://schemas.openxmlformats.org/drawingml/2006/main" noGrp="1"/>
          </p:cNvSpPr>
          <p:nvPr/>
        </p:nvSpPr>
        <p:spPr>
          <a:xfrm xmlns:a="http://schemas.openxmlformats.org/drawingml/2006/main">
            <a:off x="685800" y="4619625"/>
            <a:ext cx="5524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DDBCAF"/>
                </a:solidFill>
                <a:latin typeface="Arial"/>
                <a:ea typeface="Arial"/>
                <a:cs typeface="Arial"/>
              </a:defRPr>
            </a:defPPr>
          </a:lstStyle>
          <a:p xmlns:a="http://schemas.openxmlformats.org/drawingml/2006/main">
            <a:pPr algn="l">
              <a:defRPr sz="2025" b="0">
                <a:solidFill>
                  <a:srgbClr val="DDBCAF"/>
                </a:solidFill>
                <a:latin typeface="Arial"/>
                <a:ea typeface="Arial"/>
                <a:cs typeface="Arial"/>
              </a:defRPr>
            </a:pPr>
            <a:r>
              <a:rPr sz="2025" b="0">
                <a:solidFill>
                  <a:srgbClr val="DDBCAF"/>
                </a:solidFill>
                <a:latin typeface="Arial"/>
                <a:ea typeface="Arial"/>
                <a:cs typeface="Arial"/>
              </a:rPr>
              <a:t>Xizmatlarni ko‘rsatish va</a:t>
            </a:r>
          </a:p>
          <a:p xmlns:a="http://schemas.openxmlformats.org/drawingml/2006/main">
            <a:pPr algn="l">
              <a:defRPr sz="2025" b="0">
                <a:solidFill>
                  <a:srgbClr val="DDBCAF"/>
                </a:solidFill>
                <a:latin typeface="Arial"/>
                <a:ea typeface="Arial"/>
                <a:cs typeface="Arial"/>
              </a:defRPr>
            </a:pPr>
            <a:r>
              <a:rPr sz="2025" b="0">
                <a:solidFill>
                  <a:srgbClr val="DDBCAF"/>
                </a:solidFill>
                <a:latin typeface="Arial"/>
                <a:ea typeface="Arial"/>
                <a:cs typeface="Arial"/>
              </a:rPr>
              <a:t>mijozga bog‘lanishni osonlashtirish</a:t>
            </a:r>
          </a:p>
        </p:txBody>
      </p:sp>
      <p:sp>
        <p:nvSpPr>
          <p:cNvPr id="5" name="Veb sayt, CRM va Telegram bot taklifi">
            <a:extLst xmlns:a="http://schemas.openxmlformats.org/drawingml/2006/main">
              <a:ext uri="{FF2B5EF4-FFF2-40B4-BE49-F238E27FC236}">
                <a16:creationId xmlns:a16="http://schemas.microsoft.com/office/drawing/2014/main" id="{B8C32DEA-56B8-472B-BD94-8806A4FF2663}"/>
              </a:ext>
            </a:extLst>
          </p:cNvPr>
          <p:cNvSpPr>
            <a:spLocks xmlns:a="http://schemas.openxmlformats.org/drawingml/2006/main" noGrp="1"/>
          </p:cNvSpPr>
          <p:nvPr/>
        </p:nvSpPr>
        <p:spPr>
          <a:xfrm xmlns:a="http://schemas.openxmlformats.org/drawingml/2006/main">
            <a:off x="685800" y="6038850"/>
            <a:ext cx="566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4EEE6"/>
                </a:solidFill>
                <a:latin typeface="Arial"/>
                <a:ea typeface="Arial"/>
                <a:cs typeface="Arial"/>
              </a:defRPr>
            </a:defPPr>
          </a:lstStyle>
          <a:p xmlns:a="http://schemas.openxmlformats.org/drawingml/2006/main">
            <a:pPr algn="l">
              <a:defRPr sz="1500" b="0">
                <a:solidFill>
                  <a:srgbClr val="F4EEE6"/>
                </a:solidFill>
                <a:latin typeface="Arial"/>
                <a:ea typeface="Arial"/>
                <a:cs typeface="Arial"/>
              </a:defRPr>
            </a:pPr>
            <a:r>
              <a:rPr sz="1500" b="0">
                <a:solidFill>
                  <a:srgbClr val="F4EEE6"/>
                </a:solidFill>
                <a:latin typeface="Arial"/>
                <a:ea typeface="Arial"/>
                <a:cs typeface="Arial"/>
              </a:rPr>
              <a:t>Veb sayt, CRM va Telegram bot taklifi</a:t>
            </a:r>
          </a:p>
        </p:txBody>
      </p:sp>
    </p:spTree>
    <p:extLst>
      <p:ext uri="{BB962C8B-B14F-4D97-AF65-F5344CB8AC3E}">
        <p14:creationId xmlns:p14="http://schemas.microsoft.com/office/powerpoint/2010/main" val="100551587"/>
      </p:ext>
    </p:extLst>
  </p:cSld>
</p:sld>
</file>

<file path=ppt/slides/slide2.xml><?xml version="1.0" encoding="utf-8"?>
<p:sld xmlns:p="http://schemas.openxmlformats.org/presentationml/2006/main">
  <p:cSld>
    <p:bg>
      <p:bgPr>
        <a:solidFill xmlns:a="http://schemas.openxmlformats.org/drawingml/2006/main">
          <a:srgbClr val="F4EEE6"/>
        </a:solidFill>
      </p:bgPr>
    </p:bg>
    <p:spTree>
      <p:nvGrpSpPr>
        <p:cNvPr id="1" name=""/>
        <p:cNvGrpSpPr/>
        <p:nvPr/>
      </p:nvGrpSpPr>
      <p:grpSpPr>
        <a:xfrm xmlns:a="http://schemas.openxmlformats.org/drawingml/2006/main"/>
      </p:grpSpPr>
      <p:sp>
        <p:nvSpPr>
          <p:cNvPr id="16" name="Biznesga foydasi">
            <a:extLst xmlns:a="http://schemas.openxmlformats.org/drawingml/2006/main">
              <a:ext uri="{FF2B5EF4-FFF2-40B4-BE49-F238E27FC236}">
                <a16:creationId xmlns:a16="http://schemas.microsoft.com/office/drawing/2014/main" id="{5C1096A4-AB51-481B-9E76-A4FA8DF422D2}"/>
              </a:ext>
            </a:extLst>
          </p:cNvPr>
          <p:cNvSpPr>
            <a:spLocks xmlns:a="http://schemas.openxmlformats.org/drawingml/2006/main" noGrp="1"/>
          </p:cNvSpPr>
          <p:nvPr/>
        </p:nvSpPr>
        <p:spPr>
          <a:xfrm xmlns:a="http://schemas.openxmlformats.org/drawingml/2006/main">
            <a:off x="609600" y="428625"/>
            <a:ext cx="781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0">
                <a:solidFill>
                  <a:srgbClr val="4B182A"/>
                </a:solidFill>
                <a:latin typeface="Georgia"/>
                <a:ea typeface="Georgia"/>
                <a:cs typeface="Georgia"/>
              </a:defRPr>
            </a:defPPr>
          </a:lstStyle>
          <a:p xmlns:a="http://schemas.openxmlformats.org/drawingml/2006/main">
            <a:pPr algn="l">
              <a:defRPr sz="3900" b="0">
                <a:solidFill>
                  <a:srgbClr val="4B182A"/>
                </a:solidFill>
                <a:latin typeface="Georgia"/>
                <a:ea typeface="Georgia"/>
                <a:cs typeface="Georgia"/>
              </a:defRPr>
            </a:pPr>
            <a:r>
              <a:rPr sz="3900" b="0">
                <a:solidFill>
                  <a:srgbClr val="4B182A"/>
                </a:solidFill>
                <a:latin typeface="Georgia"/>
                <a:ea typeface="Georgia"/>
                <a:cs typeface="Georgia"/>
              </a:rPr>
              <a:t>Biznesga foydasi</a:t>
            </a:r>
          </a:p>
        </p:txBody>
      </p:sp>
      <p:sp>
        <p:nvSpPr>
          <p:cNvPr id="2" name="01">
            <a:extLst xmlns:a="http://schemas.openxmlformats.org/drawingml/2006/main">
              <a:ext uri="{FF2B5EF4-FFF2-40B4-BE49-F238E27FC236}">
                <a16:creationId xmlns:a16="http://schemas.microsoft.com/office/drawing/2014/main" id="{53530275-870F-474C-A58F-4FB48C661C8A}"/>
              </a:ext>
            </a:extLst>
          </p:cNvPr>
          <p:cNvSpPr>
            <a:spLocks xmlns:a="http://schemas.openxmlformats.org/drawingml/2006/main" noGrp="1"/>
          </p:cNvSpPr>
          <p:nvPr/>
        </p:nvSpPr>
        <p:spPr>
          <a:xfrm xmlns:a="http://schemas.openxmlformats.org/drawingml/2006/main">
            <a:off x="609600" y="1524000"/>
            <a:ext cx="552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B182A"/>
                </a:solidFill>
                <a:latin typeface="Georgia"/>
                <a:ea typeface="Georgia"/>
                <a:cs typeface="Georgia"/>
              </a:defRPr>
            </a:defPPr>
          </a:lstStyle>
          <a:p xmlns:a="http://schemas.openxmlformats.org/drawingml/2006/main">
            <a:pPr algn="l">
              <a:defRPr sz="2175" b="0">
                <a:solidFill>
                  <a:srgbClr val="4B182A"/>
                </a:solidFill>
                <a:latin typeface="Georgia"/>
                <a:ea typeface="Georgia"/>
                <a:cs typeface="Georgia"/>
              </a:defRPr>
            </a:pPr>
            <a:r>
              <a:rPr sz="2175" b="0">
                <a:solidFill>
                  <a:srgbClr val="4B182A"/>
                </a:solidFill>
                <a:latin typeface="Georgia"/>
                <a:ea typeface="Georgia"/>
                <a:cs typeface="Georgia"/>
              </a:rPr>
              <a:t>01</a:t>
            </a:r>
          </a:p>
        </p:txBody>
      </p:sp>
      <p:sp>
        <p:nvSpPr>
          <p:cNvPr id="3" name="Ko‘proq ishonch">
            <a:extLst xmlns:a="http://schemas.openxmlformats.org/drawingml/2006/main">
              <a:ext uri="{FF2B5EF4-FFF2-40B4-BE49-F238E27FC236}">
                <a16:creationId xmlns:a16="http://schemas.microsoft.com/office/drawing/2014/main" id="{23A48CEB-2AC9-4C32-AD62-10051DC8A8DC}"/>
              </a:ext>
            </a:extLst>
          </p:cNvPr>
          <p:cNvSpPr>
            <a:spLocks xmlns:a="http://schemas.openxmlformats.org/drawingml/2006/main" noGrp="1"/>
          </p:cNvSpPr>
          <p:nvPr/>
        </p:nvSpPr>
        <p:spPr>
          <a:xfrm xmlns:a="http://schemas.openxmlformats.org/drawingml/2006/main">
            <a:off x="1285875" y="1524000"/>
            <a:ext cx="419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4B182A"/>
                </a:solidFill>
                <a:latin typeface="Arial"/>
                <a:ea typeface="Arial"/>
                <a:cs typeface="Arial"/>
              </a:defRPr>
            </a:defPPr>
          </a:lstStyle>
          <a:p xmlns:a="http://schemas.openxmlformats.org/drawingml/2006/main">
            <a:pPr algn="l">
              <a:defRPr sz="1875" b="1">
                <a:solidFill>
                  <a:srgbClr val="4B182A"/>
                </a:solidFill>
                <a:latin typeface="Arial"/>
                <a:ea typeface="Arial"/>
                <a:cs typeface="Arial"/>
              </a:defRPr>
            </a:pPr>
            <a:r>
              <a:rPr sz="1875" b="1">
                <a:solidFill>
                  <a:srgbClr val="4B182A"/>
                </a:solidFill>
                <a:latin typeface="Arial"/>
                <a:ea typeface="Arial"/>
                <a:cs typeface="Arial"/>
              </a:rPr>
              <a:t>Ko‘proq ishonch</a:t>
            </a:r>
          </a:p>
        </p:txBody>
      </p:sp>
      <p:sp>
        <p:nvSpPr>
          <p:cNvPr id="4" name="Salonning haqiqiy ishlari va xizmatlari&#10;mijozga ta">
            <a:extLst xmlns:a="http://schemas.openxmlformats.org/drawingml/2006/main">
              <a:ext uri="{FF2B5EF4-FFF2-40B4-BE49-F238E27FC236}">
                <a16:creationId xmlns:a16="http://schemas.microsoft.com/office/drawing/2014/main" id="{FDEBF190-C3A6-4E0B-8FC9-88074C7670D1}"/>
              </a:ext>
            </a:extLst>
          </p:cNvPr>
          <p:cNvSpPr>
            <a:spLocks xmlns:a="http://schemas.openxmlformats.org/drawingml/2006/main" noGrp="1"/>
          </p:cNvSpPr>
          <p:nvPr/>
        </p:nvSpPr>
        <p:spPr>
          <a:xfrm xmlns:a="http://schemas.openxmlformats.org/drawingml/2006/main">
            <a:off x="1285875" y="1924050"/>
            <a:ext cx="4324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75656D"/>
                </a:solidFill>
                <a:latin typeface="Arial"/>
                <a:ea typeface="Arial"/>
                <a:cs typeface="Arial"/>
              </a:defRPr>
            </a:defPPr>
          </a:lstStyle>
          <a:p xmlns:a="http://schemas.openxmlformats.org/drawingml/2006/main">
            <a:pPr algn="l">
              <a:defRPr sz="1575" b="0">
                <a:solidFill>
                  <a:srgbClr val="75656D"/>
                </a:solidFill>
                <a:latin typeface="Arial"/>
                <a:ea typeface="Arial"/>
                <a:cs typeface="Arial"/>
              </a:defRPr>
            </a:pPr>
            <a:r>
              <a:rPr sz="1575" b="0">
                <a:solidFill>
                  <a:srgbClr val="75656D"/>
                </a:solidFill>
                <a:latin typeface="Arial"/>
                <a:ea typeface="Arial"/>
                <a:cs typeface="Arial"/>
              </a:rPr>
              <a:t>Salonning haqiqiy ishlari va xizmatlari</a:t>
            </a:r>
          </a:p>
          <a:p xmlns:a="http://schemas.openxmlformats.org/drawingml/2006/main">
            <a:pPr algn="l">
              <a:defRPr sz="1575" b="0">
                <a:solidFill>
                  <a:srgbClr val="75656D"/>
                </a:solidFill>
                <a:latin typeface="Arial"/>
                <a:ea typeface="Arial"/>
                <a:cs typeface="Arial"/>
              </a:defRPr>
            </a:pPr>
            <a:r>
              <a:rPr sz="1575" b="0">
                <a:solidFill>
                  <a:srgbClr val="75656D"/>
                </a:solidFill>
                <a:latin typeface="Arial"/>
                <a:ea typeface="Arial"/>
                <a:cs typeface="Arial"/>
              </a:rPr>
              <a:t>mijozga tanlashda yordam beradi.</a:t>
            </a:r>
          </a:p>
        </p:txBody>
      </p:sp>
      <p:sp>
        <p:nvSpPr>
          <p:cNvPr id="5" name="02">
            <a:extLst xmlns:a="http://schemas.openxmlformats.org/drawingml/2006/main">
              <a:ext uri="{FF2B5EF4-FFF2-40B4-BE49-F238E27FC236}">
                <a16:creationId xmlns:a16="http://schemas.microsoft.com/office/drawing/2014/main" id="{623EA33E-C3C1-4251-89CE-9B5314800B13}"/>
              </a:ext>
            </a:extLst>
          </p:cNvPr>
          <p:cNvSpPr>
            <a:spLocks xmlns:a="http://schemas.openxmlformats.org/drawingml/2006/main" noGrp="1"/>
          </p:cNvSpPr>
          <p:nvPr/>
        </p:nvSpPr>
        <p:spPr>
          <a:xfrm xmlns:a="http://schemas.openxmlformats.org/drawingml/2006/main">
            <a:off x="609600" y="2743200"/>
            <a:ext cx="552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B182A"/>
                </a:solidFill>
                <a:latin typeface="Georgia"/>
                <a:ea typeface="Georgia"/>
                <a:cs typeface="Georgia"/>
              </a:defRPr>
            </a:defPPr>
          </a:lstStyle>
          <a:p xmlns:a="http://schemas.openxmlformats.org/drawingml/2006/main">
            <a:pPr algn="l">
              <a:defRPr sz="2175" b="0">
                <a:solidFill>
                  <a:srgbClr val="4B182A"/>
                </a:solidFill>
                <a:latin typeface="Georgia"/>
                <a:ea typeface="Georgia"/>
                <a:cs typeface="Georgia"/>
              </a:defRPr>
            </a:pPr>
            <a:r>
              <a:rPr sz="2175" b="0">
                <a:solidFill>
                  <a:srgbClr val="4B182A"/>
                </a:solidFill>
                <a:latin typeface="Georgia"/>
                <a:ea typeface="Georgia"/>
                <a:cs typeface="Georgia"/>
              </a:rPr>
              <a:t>02</a:t>
            </a:r>
          </a:p>
        </p:txBody>
      </p:sp>
      <p:sp>
        <p:nvSpPr>
          <p:cNvPr id="6" name="Yozilish osonroq">
            <a:extLst xmlns:a="http://schemas.openxmlformats.org/drawingml/2006/main">
              <a:ext uri="{FF2B5EF4-FFF2-40B4-BE49-F238E27FC236}">
                <a16:creationId xmlns:a16="http://schemas.microsoft.com/office/drawing/2014/main" id="{00B09AA2-2917-48BD-A778-743DCBB5F141}"/>
              </a:ext>
            </a:extLst>
          </p:cNvPr>
          <p:cNvSpPr>
            <a:spLocks xmlns:a="http://schemas.openxmlformats.org/drawingml/2006/main" noGrp="1"/>
          </p:cNvSpPr>
          <p:nvPr/>
        </p:nvSpPr>
        <p:spPr>
          <a:xfrm xmlns:a="http://schemas.openxmlformats.org/drawingml/2006/main">
            <a:off x="1285875" y="2743200"/>
            <a:ext cx="419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4B182A"/>
                </a:solidFill>
                <a:latin typeface="Arial"/>
                <a:ea typeface="Arial"/>
                <a:cs typeface="Arial"/>
              </a:defRPr>
            </a:defPPr>
          </a:lstStyle>
          <a:p xmlns:a="http://schemas.openxmlformats.org/drawingml/2006/main">
            <a:pPr algn="l">
              <a:defRPr sz="1875" b="1">
                <a:solidFill>
                  <a:srgbClr val="4B182A"/>
                </a:solidFill>
                <a:latin typeface="Arial"/>
                <a:ea typeface="Arial"/>
                <a:cs typeface="Arial"/>
              </a:defRPr>
            </a:pPr>
            <a:r>
              <a:rPr sz="1875" b="1">
                <a:solidFill>
                  <a:srgbClr val="4B182A"/>
                </a:solidFill>
                <a:latin typeface="Arial"/>
                <a:ea typeface="Arial"/>
                <a:cs typeface="Arial"/>
              </a:rPr>
              <a:t>Yozilish osonroq</a:t>
            </a:r>
          </a:p>
        </p:txBody>
      </p:sp>
      <p:sp>
        <p:nvSpPr>
          <p:cNvPr id="7" name="Xizmatni tanlash, yozilish va&#10;telefon orqali aloqa">
            <a:extLst xmlns:a="http://schemas.openxmlformats.org/drawingml/2006/main">
              <a:ext uri="{FF2B5EF4-FFF2-40B4-BE49-F238E27FC236}">
                <a16:creationId xmlns:a16="http://schemas.microsoft.com/office/drawing/2014/main" id="{F2899F96-74EB-4D44-A499-F1BFAF4941C8}"/>
              </a:ext>
            </a:extLst>
          </p:cNvPr>
          <p:cNvSpPr>
            <a:spLocks xmlns:a="http://schemas.openxmlformats.org/drawingml/2006/main" noGrp="1"/>
          </p:cNvSpPr>
          <p:nvPr/>
        </p:nvSpPr>
        <p:spPr>
          <a:xfrm xmlns:a="http://schemas.openxmlformats.org/drawingml/2006/main">
            <a:off x="1285875" y="3143250"/>
            <a:ext cx="4324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75656D"/>
                </a:solidFill>
                <a:latin typeface="Arial"/>
                <a:ea typeface="Arial"/>
                <a:cs typeface="Arial"/>
              </a:defRPr>
            </a:defPPr>
          </a:lstStyle>
          <a:p xmlns:a="http://schemas.openxmlformats.org/drawingml/2006/main">
            <a:pPr algn="l">
              <a:defRPr sz="1575" b="0">
                <a:solidFill>
                  <a:srgbClr val="75656D"/>
                </a:solidFill>
                <a:latin typeface="Arial"/>
                <a:ea typeface="Arial"/>
                <a:cs typeface="Arial"/>
              </a:defRPr>
            </a:pPr>
            <a:r>
              <a:rPr sz="1575" b="0">
                <a:solidFill>
                  <a:srgbClr val="75656D"/>
                </a:solidFill>
                <a:latin typeface="Arial"/>
                <a:ea typeface="Arial"/>
                <a:cs typeface="Arial"/>
              </a:rPr>
              <a:t>Xizmatni tanlash, yozilish va</a:t>
            </a:r>
          </a:p>
          <a:p xmlns:a="http://schemas.openxmlformats.org/drawingml/2006/main">
            <a:pPr algn="l">
              <a:defRPr sz="1575" b="0">
                <a:solidFill>
                  <a:srgbClr val="75656D"/>
                </a:solidFill>
                <a:latin typeface="Arial"/>
                <a:ea typeface="Arial"/>
                <a:cs typeface="Arial"/>
              </a:defRPr>
            </a:pPr>
            <a:r>
              <a:rPr sz="1575" b="0">
                <a:solidFill>
                  <a:srgbClr val="75656D"/>
                </a:solidFill>
                <a:latin typeface="Arial"/>
                <a:ea typeface="Arial"/>
                <a:cs typeface="Arial"/>
              </a:rPr>
              <a:t>telefon orqali aloqa bir joyda.</a:t>
            </a:r>
          </a:p>
        </p:txBody>
      </p:sp>
      <p:sp>
        <p:nvSpPr>
          <p:cNvPr id="8" name="03">
            <a:extLst xmlns:a="http://schemas.openxmlformats.org/drawingml/2006/main">
              <a:ext uri="{FF2B5EF4-FFF2-40B4-BE49-F238E27FC236}">
                <a16:creationId xmlns:a16="http://schemas.microsoft.com/office/drawing/2014/main" id="{33870560-99C3-4D94-959D-D5437A214350}"/>
              </a:ext>
            </a:extLst>
          </p:cNvPr>
          <p:cNvSpPr>
            <a:spLocks xmlns:a="http://schemas.openxmlformats.org/drawingml/2006/main" noGrp="1"/>
          </p:cNvSpPr>
          <p:nvPr/>
        </p:nvSpPr>
        <p:spPr>
          <a:xfrm xmlns:a="http://schemas.openxmlformats.org/drawingml/2006/main">
            <a:off x="609600" y="3962400"/>
            <a:ext cx="552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B182A"/>
                </a:solidFill>
                <a:latin typeface="Georgia"/>
                <a:ea typeface="Georgia"/>
                <a:cs typeface="Georgia"/>
              </a:defRPr>
            </a:defPPr>
          </a:lstStyle>
          <a:p xmlns:a="http://schemas.openxmlformats.org/drawingml/2006/main">
            <a:pPr algn="l">
              <a:defRPr sz="2175" b="0">
                <a:solidFill>
                  <a:srgbClr val="4B182A"/>
                </a:solidFill>
                <a:latin typeface="Georgia"/>
                <a:ea typeface="Georgia"/>
                <a:cs typeface="Georgia"/>
              </a:defRPr>
            </a:pPr>
            <a:r>
              <a:rPr sz="2175" b="0">
                <a:solidFill>
                  <a:srgbClr val="4B182A"/>
                </a:solidFill>
                <a:latin typeface="Georgia"/>
                <a:ea typeface="Georgia"/>
                <a:cs typeface="Georgia"/>
              </a:rPr>
              <a:t>03</a:t>
            </a:r>
          </a:p>
        </p:txBody>
      </p:sp>
      <p:sp>
        <p:nvSpPr>
          <p:cNvPr id="9" name="Kamroq takroriy savol">
            <a:extLst xmlns:a="http://schemas.openxmlformats.org/drawingml/2006/main">
              <a:ext uri="{FF2B5EF4-FFF2-40B4-BE49-F238E27FC236}">
                <a16:creationId xmlns:a16="http://schemas.microsoft.com/office/drawing/2014/main" id="{9FA43048-91B6-4C8C-A98A-33AA7F3E8382}"/>
              </a:ext>
            </a:extLst>
          </p:cNvPr>
          <p:cNvSpPr>
            <a:spLocks xmlns:a="http://schemas.openxmlformats.org/drawingml/2006/main" noGrp="1"/>
          </p:cNvSpPr>
          <p:nvPr/>
        </p:nvSpPr>
        <p:spPr>
          <a:xfrm xmlns:a="http://schemas.openxmlformats.org/drawingml/2006/main">
            <a:off x="1285875" y="3962400"/>
            <a:ext cx="419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4B182A"/>
                </a:solidFill>
                <a:latin typeface="Arial"/>
                <a:ea typeface="Arial"/>
                <a:cs typeface="Arial"/>
              </a:defRPr>
            </a:defPPr>
          </a:lstStyle>
          <a:p xmlns:a="http://schemas.openxmlformats.org/drawingml/2006/main">
            <a:pPr algn="l">
              <a:defRPr sz="1875" b="1">
                <a:solidFill>
                  <a:srgbClr val="4B182A"/>
                </a:solidFill>
                <a:latin typeface="Arial"/>
                <a:ea typeface="Arial"/>
                <a:cs typeface="Arial"/>
              </a:defRPr>
            </a:pPr>
            <a:r>
              <a:rPr sz="1875" b="1">
                <a:solidFill>
                  <a:srgbClr val="4B182A"/>
                </a:solidFill>
                <a:latin typeface="Arial"/>
                <a:ea typeface="Arial"/>
                <a:cs typeface="Arial"/>
              </a:rPr>
              <a:t>Kamroq takroriy savol</a:t>
            </a:r>
          </a:p>
        </p:txBody>
      </p:sp>
      <p:sp>
        <p:nvSpPr>
          <p:cNvPr id="10" name="Xizmatlar, manzil va aloqa ma’lumotini&#10;mijoz saytn">
            <a:extLst xmlns:a="http://schemas.openxmlformats.org/drawingml/2006/main">
              <a:ext uri="{FF2B5EF4-FFF2-40B4-BE49-F238E27FC236}">
                <a16:creationId xmlns:a16="http://schemas.microsoft.com/office/drawing/2014/main" id="{F6C60283-F371-4B74-BE7A-39CD192F26A3}"/>
              </a:ext>
            </a:extLst>
          </p:cNvPr>
          <p:cNvSpPr>
            <a:spLocks xmlns:a="http://schemas.openxmlformats.org/drawingml/2006/main" noGrp="1"/>
          </p:cNvSpPr>
          <p:nvPr/>
        </p:nvSpPr>
        <p:spPr>
          <a:xfrm xmlns:a="http://schemas.openxmlformats.org/drawingml/2006/main">
            <a:off x="1285875" y="4362450"/>
            <a:ext cx="4324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75656D"/>
                </a:solidFill>
                <a:latin typeface="Arial"/>
                <a:ea typeface="Arial"/>
                <a:cs typeface="Arial"/>
              </a:defRPr>
            </a:defPPr>
          </a:lstStyle>
          <a:p xmlns:a="http://schemas.openxmlformats.org/drawingml/2006/main">
            <a:pPr algn="l">
              <a:defRPr sz="1575" b="0">
                <a:solidFill>
                  <a:srgbClr val="75656D"/>
                </a:solidFill>
                <a:latin typeface="Arial"/>
                <a:ea typeface="Arial"/>
                <a:cs typeface="Arial"/>
              </a:defRPr>
            </a:pPr>
            <a:r>
              <a:rPr sz="1575" b="0">
                <a:solidFill>
                  <a:srgbClr val="75656D"/>
                </a:solidFill>
                <a:latin typeface="Arial"/>
                <a:ea typeface="Arial"/>
                <a:cs typeface="Arial"/>
              </a:rPr>
              <a:t>Xizmatlar, manzil va aloqa ma’lumotini</a:t>
            </a:r>
          </a:p>
          <a:p xmlns:a="http://schemas.openxmlformats.org/drawingml/2006/main">
            <a:pPr algn="l">
              <a:defRPr sz="1575" b="0">
                <a:solidFill>
                  <a:srgbClr val="75656D"/>
                </a:solidFill>
                <a:latin typeface="Arial"/>
                <a:ea typeface="Arial"/>
                <a:cs typeface="Arial"/>
              </a:defRPr>
            </a:pPr>
            <a:r>
              <a:rPr sz="1575" b="0">
                <a:solidFill>
                  <a:srgbClr val="75656D"/>
                </a:solidFill>
                <a:latin typeface="Arial"/>
                <a:ea typeface="Arial"/>
                <a:cs typeface="Arial"/>
              </a:rPr>
              <a:t>mijoz saytning o‘zida ko‘radi.</a:t>
            </a:r>
          </a:p>
        </p:txBody>
      </p:sp>
      <p:sp>
        <p:nvSpPr>
          <p:cNvPr id="11" name="04">
            <a:extLst xmlns:a="http://schemas.openxmlformats.org/drawingml/2006/main">
              <a:ext uri="{FF2B5EF4-FFF2-40B4-BE49-F238E27FC236}">
                <a16:creationId xmlns:a16="http://schemas.microsoft.com/office/drawing/2014/main" id="{426BE761-96C7-46AB-8544-365A5B43AA8D}"/>
              </a:ext>
            </a:extLst>
          </p:cNvPr>
          <p:cNvSpPr>
            <a:spLocks xmlns:a="http://schemas.openxmlformats.org/drawingml/2006/main" noGrp="1"/>
          </p:cNvSpPr>
          <p:nvPr/>
        </p:nvSpPr>
        <p:spPr>
          <a:xfrm xmlns:a="http://schemas.openxmlformats.org/drawingml/2006/main">
            <a:off x="609600" y="5181600"/>
            <a:ext cx="552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B182A"/>
                </a:solidFill>
                <a:latin typeface="Georgia"/>
                <a:ea typeface="Georgia"/>
                <a:cs typeface="Georgia"/>
              </a:defRPr>
            </a:defPPr>
          </a:lstStyle>
          <a:p xmlns:a="http://schemas.openxmlformats.org/drawingml/2006/main">
            <a:pPr algn="l">
              <a:defRPr sz="2175" b="0">
                <a:solidFill>
                  <a:srgbClr val="4B182A"/>
                </a:solidFill>
                <a:latin typeface="Georgia"/>
                <a:ea typeface="Georgia"/>
                <a:cs typeface="Georgia"/>
              </a:defRPr>
            </a:pPr>
            <a:r>
              <a:rPr sz="2175" b="0">
                <a:solidFill>
                  <a:srgbClr val="4B182A"/>
                </a:solidFill>
                <a:latin typeface="Georgia"/>
                <a:ea typeface="Georgia"/>
                <a:cs typeface="Georgia"/>
              </a:rPr>
              <a:t>04</a:t>
            </a:r>
          </a:p>
        </p:txBody>
      </p:sp>
      <p:sp>
        <p:nvSpPr>
          <p:cNvPr id="12" name="Reklama uchun bitta havola">
            <a:extLst xmlns:a="http://schemas.openxmlformats.org/drawingml/2006/main">
              <a:ext uri="{FF2B5EF4-FFF2-40B4-BE49-F238E27FC236}">
                <a16:creationId xmlns:a16="http://schemas.microsoft.com/office/drawing/2014/main" id="{8CE808A8-BCDD-40D5-871F-26F2F5DAF66E}"/>
              </a:ext>
            </a:extLst>
          </p:cNvPr>
          <p:cNvSpPr>
            <a:spLocks xmlns:a="http://schemas.openxmlformats.org/drawingml/2006/main" noGrp="1"/>
          </p:cNvSpPr>
          <p:nvPr/>
        </p:nvSpPr>
        <p:spPr>
          <a:xfrm xmlns:a="http://schemas.openxmlformats.org/drawingml/2006/main">
            <a:off x="1285875" y="5181600"/>
            <a:ext cx="419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4B182A"/>
                </a:solidFill>
                <a:latin typeface="Arial"/>
                <a:ea typeface="Arial"/>
                <a:cs typeface="Arial"/>
              </a:defRPr>
            </a:defPPr>
          </a:lstStyle>
          <a:p xmlns:a="http://schemas.openxmlformats.org/drawingml/2006/main">
            <a:pPr algn="l">
              <a:defRPr sz="1875" b="1">
                <a:solidFill>
                  <a:srgbClr val="4B182A"/>
                </a:solidFill>
                <a:latin typeface="Arial"/>
                <a:ea typeface="Arial"/>
                <a:cs typeface="Arial"/>
              </a:defRPr>
            </a:pPr>
            <a:r>
              <a:rPr sz="1875" b="1">
                <a:solidFill>
                  <a:srgbClr val="4B182A"/>
                </a:solidFill>
                <a:latin typeface="Arial"/>
                <a:ea typeface="Arial"/>
                <a:cs typeface="Arial"/>
              </a:rPr>
              <a:t>Reklama uchun bitta havola</a:t>
            </a:r>
          </a:p>
        </p:txBody>
      </p:sp>
      <p:sp>
        <p:nvSpPr>
          <p:cNvPr id="13" name="Instagram bio, QR va reklama&#10;mijozni bir manzilga ">
            <a:extLst xmlns:a="http://schemas.openxmlformats.org/drawingml/2006/main">
              <a:ext uri="{FF2B5EF4-FFF2-40B4-BE49-F238E27FC236}">
                <a16:creationId xmlns:a16="http://schemas.microsoft.com/office/drawing/2014/main" id="{0CDC8D92-DC9C-423E-9DC9-48268EB7BB8A}"/>
              </a:ext>
            </a:extLst>
          </p:cNvPr>
          <p:cNvSpPr>
            <a:spLocks xmlns:a="http://schemas.openxmlformats.org/drawingml/2006/main" noGrp="1"/>
          </p:cNvSpPr>
          <p:nvPr/>
        </p:nvSpPr>
        <p:spPr>
          <a:xfrm xmlns:a="http://schemas.openxmlformats.org/drawingml/2006/main">
            <a:off x="1285875" y="5581650"/>
            <a:ext cx="4324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75656D"/>
                </a:solidFill>
                <a:latin typeface="Arial"/>
                <a:ea typeface="Arial"/>
                <a:cs typeface="Arial"/>
              </a:defRPr>
            </a:defPPr>
          </a:lstStyle>
          <a:p xmlns:a="http://schemas.openxmlformats.org/drawingml/2006/main">
            <a:pPr algn="l">
              <a:defRPr sz="1575" b="0">
                <a:solidFill>
                  <a:srgbClr val="75656D"/>
                </a:solidFill>
                <a:latin typeface="Arial"/>
                <a:ea typeface="Arial"/>
                <a:cs typeface="Arial"/>
              </a:defRPr>
            </a:pPr>
            <a:r>
              <a:rPr sz="1575" b="0">
                <a:solidFill>
                  <a:srgbClr val="75656D"/>
                </a:solidFill>
                <a:latin typeface="Arial"/>
                <a:ea typeface="Arial"/>
                <a:cs typeface="Arial"/>
              </a:rPr>
              <a:t>Instagram bio, QR va reklama</a:t>
            </a:r>
          </a:p>
          <a:p xmlns:a="http://schemas.openxmlformats.org/drawingml/2006/main">
            <a:pPr algn="l">
              <a:defRPr sz="1575" b="0">
                <a:solidFill>
                  <a:srgbClr val="75656D"/>
                </a:solidFill>
                <a:latin typeface="Arial"/>
                <a:ea typeface="Arial"/>
                <a:cs typeface="Arial"/>
              </a:defRPr>
            </a:pPr>
            <a:r>
              <a:rPr sz="1575" b="0">
                <a:solidFill>
                  <a:srgbClr val="75656D"/>
                </a:solidFill>
                <a:latin typeface="Arial"/>
                <a:ea typeface="Arial"/>
                <a:cs typeface="Arial"/>
              </a:rPr>
              <a:t>mijozni bir manzilga olib keladi.</a:t>
            </a:r>
          </a:p>
        </p:txBody>
      </p:sp>
      <p:pic>
        <p:nvPicPr>
          <p:cNvPr id="14" name="">
            <a:extLst xmlns:a="http://schemas.openxmlformats.org/drawingml/2006/main">
              <a:ext uri="{FF2B5EF4-FFF2-40B4-BE49-F238E27FC236}">
                <a16:creationId xmlns:a16="http://schemas.microsoft.com/office/drawing/2014/main" id="{A1B8E953-418D-4BD9-AC4B-994197D2D402}"/>
              </a:ext>
            </a:extLst>
          </p:cNvPr>
          <p:cNvPicPr>
            <a:picLocks xmlns:a="http://schemas.openxmlformats.org/drawingml/2006/main" noChangeAspect="1"/>
          </p:cNvPicPr>
          <p:nvPr/>
        </p:nvPicPr>
        <p:blipFill>
          <a:blip xmlns:r="http://schemas.openxmlformats.org/officeDocument/2006/relationships" xmlns:a="http://schemas.openxmlformats.org/drawingml/2006/main" r:embed="R4b0f7df0f21a4425"/>
          <a:stretch xmlns:a="http://schemas.openxmlformats.org/drawingml/2006/main"/>
        </p:blipFill>
        <p:spPr>
          <a:xfrm xmlns:a="http://schemas.openxmlformats.org/drawingml/2006/main">
            <a:off x="5972281" y="1609725"/>
            <a:ext cx="5800513" cy="3838575"/>
          </a:xfrm>
          <a:prstGeom xmlns:a="http://schemas.openxmlformats.org/drawingml/2006/main" prst="rect">
            <a:avLst/>
          </a:prstGeom>
        </p:spPr>
      </p:pic>
      <p:sp>
        <p:nvSpPr>
          <p:cNvPr id="15" name="Beauty Me uslubiga mos ranglar,&#10;yirik suratlar va ">
            <a:extLst xmlns:a="http://schemas.openxmlformats.org/drawingml/2006/main">
              <a:ext uri="{FF2B5EF4-FFF2-40B4-BE49-F238E27FC236}">
                <a16:creationId xmlns:a16="http://schemas.microsoft.com/office/drawing/2014/main" id="{1B8D330C-3D6A-4AE0-88F2-755842A277C8}"/>
              </a:ext>
            </a:extLst>
          </p:cNvPr>
          <p:cNvSpPr>
            <a:spLocks xmlns:a="http://schemas.openxmlformats.org/drawingml/2006/main" noGrp="1"/>
          </p:cNvSpPr>
          <p:nvPr/>
        </p:nvSpPr>
        <p:spPr>
          <a:xfrm xmlns:a="http://schemas.openxmlformats.org/drawingml/2006/main">
            <a:off x="6172200" y="5715000"/>
            <a:ext cx="5219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4B182A"/>
                </a:solidFill>
                <a:latin typeface="Arial"/>
                <a:ea typeface="Arial"/>
                <a:cs typeface="Arial"/>
              </a:defRPr>
            </a:defPPr>
          </a:lstStyle>
          <a:p xmlns:a="http://schemas.openxmlformats.org/drawingml/2006/main">
            <a:pPr algn="l">
              <a:defRPr sz="1725" b="0">
                <a:solidFill>
                  <a:srgbClr val="4B182A"/>
                </a:solidFill>
                <a:latin typeface="Arial"/>
                <a:ea typeface="Arial"/>
                <a:cs typeface="Arial"/>
              </a:defRPr>
            </a:pPr>
            <a:r>
              <a:rPr sz="1725" b="0">
                <a:solidFill>
                  <a:srgbClr val="4B182A"/>
                </a:solidFill>
                <a:latin typeface="Arial"/>
                <a:ea typeface="Arial"/>
                <a:cs typeface="Arial"/>
              </a:rPr>
              <a:t>Beauty Me uslubiga mos ranglar,</a:t>
            </a:r>
          </a:p>
          <a:p xmlns:a="http://schemas.openxmlformats.org/drawingml/2006/main">
            <a:pPr algn="l">
              <a:defRPr sz="1725" b="0">
                <a:solidFill>
                  <a:srgbClr val="4B182A"/>
                </a:solidFill>
                <a:latin typeface="Arial"/>
                <a:ea typeface="Arial"/>
                <a:cs typeface="Arial"/>
              </a:defRPr>
            </a:pPr>
            <a:r>
              <a:rPr sz="1725" b="0">
                <a:solidFill>
                  <a:srgbClr val="4B182A"/>
                </a:solidFill>
                <a:latin typeface="Arial"/>
                <a:ea typeface="Arial"/>
                <a:cs typeface="Arial"/>
              </a:rPr>
              <a:t>yirik suratlar va aniq yozilish tugmasi</a:t>
            </a:r>
          </a:p>
        </p:txBody>
      </p:sp>
    </p:spTree>
    <p:extLst>
      <p:ext uri="{BB962C8B-B14F-4D97-AF65-F5344CB8AC3E}">
        <p14:creationId xmlns:p14="http://schemas.microsoft.com/office/powerpoint/2010/main" val="1793696984"/>
      </p:ext>
    </p:extLst>
  </p:cSld>
</p:sld>
</file>

<file path=ppt/slides/slide3.xml><?xml version="1.0" encoding="utf-8"?>
<p:sld xmlns:p="http://schemas.openxmlformats.org/presentationml/2006/main">
  <p:cSld>
    <p:bg>
      <p:bgPr>
        <a:solidFill xmlns:a="http://schemas.openxmlformats.org/drawingml/2006/main">
          <a:srgbClr val="4B182A"/>
        </a:solidFill>
      </p:bgPr>
    </p:bg>
    <p:spTree>
      <p:nvGrpSpPr>
        <p:cNvPr id="1" name=""/>
        <p:cNvGrpSpPr/>
        <p:nvPr/>
      </p:nvGrpSpPr>
      <p:grpSpPr>
        <a:xfrm xmlns:a="http://schemas.openxmlformats.org/drawingml/2006/main"/>
      </p:grpSpPr>
      <p:sp>
        <p:nvSpPr>
          <p:cNvPr id="10" name="Mijoz uchun qulay ko‘rinish">
            <a:extLst xmlns:a="http://schemas.openxmlformats.org/drawingml/2006/main">
              <a:ext uri="{FF2B5EF4-FFF2-40B4-BE49-F238E27FC236}">
                <a16:creationId xmlns:a16="http://schemas.microsoft.com/office/drawing/2014/main" id="{28EBA43E-19B7-41CE-898F-00A5248AEA1C}"/>
              </a:ext>
            </a:extLst>
          </p:cNvPr>
          <p:cNvSpPr>
            <a:spLocks xmlns:a="http://schemas.openxmlformats.org/drawingml/2006/main" noGrp="1"/>
          </p:cNvSpPr>
          <p:nvPr/>
        </p:nvSpPr>
        <p:spPr>
          <a:xfrm xmlns:a="http://schemas.openxmlformats.org/drawingml/2006/main">
            <a:off x="609600" y="38100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0">
                <a:solidFill>
                  <a:srgbClr val="F4EEE6"/>
                </a:solidFill>
                <a:latin typeface="Georgia"/>
                <a:ea typeface="Georgia"/>
                <a:cs typeface="Georgia"/>
              </a:defRPr>
            </a:defPPr>
          </a:lstStyle>
          <a:p xmlns:a="http://schemas.openxmlformats.org/drawingml/2006/main">
            <a:pPr algn="l">
              <a:defRPr sz="3750" b="0">
                <a:solidFill>
                  <a:srgbClr val="F4EEE6"/>
                </a:solidFill>
                <a:latin typeface="Georgia"/>
                <a:ea typeface="Georgia"/>
                <a:cs typeface="Georgia"/>
              </a:defRPr>
            </a:pPr>
            <a:r>
              <a:rPr sz="3750" b="0">
                <a:solidFill>
                  <a:srgbClr val="F4EEE6"/>
                </a:solidFill>
                <a:latin typeface="Georgia"/>
                <a:ea typeface="Georgia"/>
                <a:cs typeface="Georgia"/>
              </a:rPr>
              <a:t>Mijoz uchun qulay ko‘rinish</a:t>
            </a:r>
          </a:p>
        </p:txBody>
      </p:sp>
      <p:pic>
        <p:nvPicPr>
          <p:cNvPr id="2" name="">
            <a:extLst xmlns:a="http://schemas.openxmlformats.org/drawingml/2006/main">
              <a:ext uri="{FF2B5EF4-FFF2-40B4-BE49-F238E27FC236}">
                <a16:creationId xmlns:a16="http://schemas.microsoft.com/office/drawing/2014/main" id="{0B6ED49E-38B1-4285-AD04-3A3A38FABE7E}"/>
              </a:ext>
            </a:extLst>
          </p:cNvPr>
          <p:cNvPicPr>
            <a:picLocks xmlns:a="http://schemas.openxmlformats.org/drawingml/2006/main" noChangeAspect="1"/>
          </p:cNvPicPr>
          <p:nvPr/>
        </p:nvPicPr>
        <p:blipFill>
          <a:blip xmlns:r="http://schemas.openxmlformats.org/officeDocument/2006/relationships" xmlns:a="http://schemas.openxmlformats.org/drawingml/2006/main" r:embed="Re2b39031b9154ff3"/>
          <a:stretch xmlns:a="http://schemas.openxmlformats.org/drawingml/2006/main"/>
        </p:blipFill>
        <p:spPr>
          <a:xfrm xmlns:a="http://schemas.openxmlformats.org/drawingml/2006/main">
            <a:off x="609600" y="1467290"/>
            <a:ext cx="2200275" cy="4761621"/>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6B2A78FF-1DD6-4F5E-B6AF-E2F28FCB9C06}"/>
              </a:ext>
            </a:extLst>
          </p:cNvPr>
          <p:cNvPicPr>
            <a:picLocks xmlns:a="http://schemas.openxmlformats.org/drawingml/2006/main" noChangeAspect="1"/>
          </p:cNvPicPr>
          <p:nvPr/>
        </p:nvPicPr>
        <p:blipFill>
          <a:blip xmlns:r="http://schemas.openxmlformats.org/officeDocument/2006/relationships" xmlns:a="http://schemas.openxmlformats.org/drawingml/2006/main" r:embed="R505cb52af2c74878"/>
          <a:stretch xmlns:a="http://schemas.openxmlformats.org/drawingml/2006/main"/>
        </p:blipFill>
        <p:spPr>
          <a:xfrm xmlns:a="http://schemas.openxmlformats.org/drawingml/2006/main">
            <a:off x="3067050" y="1467290"/>
            <a:ext cx="2200275" cy="4761621"/>
          </a:xfrm>
          <a:prstGeom xmlns:a="http://schemas.openxmlformats.org/drawingml/2006/main" prst="rect">
            <a:avLst/>
          </a:prstGeom>
        </p:spPr>
      </p:pic>
      <p:sp>
        <p:nvSpPr>
          <p:cNvPr id="4" name="6 xizmat yo‘nalishi">
            <a:extLst xmlns:a="http://schemas.openxmlformats.org/drawingml/2006/main">
              <a:ext uri="{FF2B5EF4-FFF2-40B4-BE49-F238E27FC236}">
                <a16:creationId xmlns:a16="http://schemas.microsoft.com/office/drawing/2014/main" id="{2A44D9AC-3302-42FC-819D-B2A9C798F5F0}"/>
              </a:ext>
            </a:extLst>
          </p:cNvPr>
          <p:cNvSpPr>
            <a:spLocks xmlns:a="http://schemas.openxmlformats.org/drawingml/2006/main" noGrp="1"/>
          </p:cNvSpPr>
          <p:nvPr/>
        </p:nvSpPr>
        <p:spPr>
          <a:xfrm xmlns:a="http://schemas.openxmlformats.org/drawingml/2006/main">
            <a:off x="5905500" y="1562100"/>
            <a:ext cx="5581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F4EEE6"/>
                </a:solidFill>
                <a:latin typeface="Georgia"/>
                <a:ea typeface="Georgia"/>
                <a:cs typeface="Georgia"/>
              </a:defRPr>
            </a:defPPr>
          </a:lstStyle>
          <a:p xmlns:a="http://schemas.openxmlformats.org/drawingml/2006/main">
            <a:pPr algn="l">
              <a:defRPr sz="2325" b="0">
                <a:solidFill>
                  <a:srgbClr val="F4EEE6"/>
                </a:solidFill>
                <a:latin typeface="Georgia"/>
                <a:ea typeface="Georgia"/>
                <a:cs typeface="Georgia"/>
              </a:defRPr>
            </a:pPr>
            <a:r>
              <a:rPr sz="2325" b="0">
                <a:solidFill>
                  <a:srgbClr val="F4EEE6"/>
                </a:solidFill>
                <a:latin typeface="Georgia"/>
                <a:ea typeface="Georgia"/>
                <a:cs typeface="Georgia"/>
              </a:rPr>
              <a:t>6 xizmat yo‘nalishi</a:t>
            </a:r>
          </a:p>
        </p:txBody>
      </p:sp>
      <p:sp>
        <p:nvSpPr>
          <p:cNvPr id="5" name="Soch, tirnoq, kosmetologiya, qosh va&#10;kiprik, makiy">
            <a:extLst xmlns:a="http://schemas.openxmlformats.org/drawingml/2006/main">
              <a:ext uri="{FF2B5EF4-FFF2-40B4-BE49-F238E27FC236}">
                <a16:creationId xmlns:a16="http://schemas.microsoft.com/office/drawing/2014/main" id="{6AB39127-57F0-49BC-A648-9C574E606DE1}"/>
              </a:ext>
            </a:extLst>
          </p:cNvPr>
          <p:cNvSpPr>
            <a:spLocks xmlns:a="http://schemas.openxmlformats.org/drawingml/2006/main" noGrp="1"/>
          </p:cNvSpPr>
          <p:nvPr/>
        </p:nvSpPr>
        <p:spPr>
          <a:xfrm xmlns:a="http://schemas.openxmlformats.org/drawingml/2006/main">
            <a:off x="5905500" y="2114550"/>
            <a:ext cx="5429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DDBCAF"/>
                </a:solidFill>
                <a:latin typeface="Arial"/>
                <a:ea typeface="Arial"/>
                <a:cs typeface="Arial"/>
              </a:defRPr>
            </a:defPPr>
          </a:lstStyle>
          <a:p xmlns:a="http://schemas.openxmlformats.org/drawingml/2006/main">
            <a:pPr algn="l">
              <a:defRPr sz="1875" b="0">
                <a:solidFill>
                  <a:srgbClr val="DDBCAF"/>
                </a:solidFill>
                <a:latin typeface="Arial"/>
                <a:ea typeface="Arial"/>
                <a:cs typeface="Arial"/>
              </a:defRPr>
            </a:pPr>
            <a:r>
              <a:rPr sz="1875" b="0">
                <a:solidFill>
                  <a:srgbClr val="DDBCAF"/>
                </a:solidFill>
                <a:latin typeface="Arial"/>
                <a:ea typeface="Arial"/>
                <a:cs typeface="Arial"/>
              </a:rPr>
              <a:t>Soch, tirnoq, kosmetologiya, qosh va</a:t>
            </a:r>
          </a:p>
          <a:p xmlns:a="http://schemas.openxmlformats.org/drawingml/2006/main">
            <a:pPr algn="l">
              <a:defRPr sz="1875" b="0">
                <a:solidFill>
                  <a:srgbClr val="DDBCAF"/>
                </a:solidFill>
                <a:latin typeface="Arial"/>
                <a:ea typeface="Arial"/>
                <a:cs typeface="Arial"/>
              </a:defRPr>
            </a:pPr>
            <a:r>
              <a:rPr sz="1875" b="0">
                <a:solidFill>
                  <a:srgbClr val="DDBCAF"/>
                </a:solidFill>
                <a:latin typeface="Arial"/>
                <a:ea typeface="Arial"/>
                <a:cs typeface="Arial"/>
              </a:rPr>
              <a:t>kiprik, makiyaj hamda massaj</a:t>
            </a:r>
          </a:p>
        </p:txBody>
      </p:sp>
      <p:sp>
        <p:nvSpPr>
          <p:cNvPr id="6" name="Haqiqiy ishlar galereyasi">
            <a:extLst xmlns:a="http://schemas.openxmlformats.org/drawingml/2006/main">
              <a:ext uri="{FF2B5EF4-FFF2-40B4-BE49-F238E27FC236}">
                <a16:creationId xmlns:a16="http://schemas.microsoft.com/office/drawing/2014/main" id="{5FE08B9D-89BD-43DC-9BB9-D0B0CC293518}"/>
              </a:ext>
            </a:extLst>
          </p:cNvPr>
          <p:cNvSpPr>
            <a:spLocks xmlns:a="http://schemas.openxmlformats.org/drawingml/2006/main" noGrp="1"/>
          </p:cNvSpPr>
          <p:nvPr/>
        </p:nvSpPr>
        <p:spPr>
          <a:xfrm xmlns:a="http://schemas.openxmlformats.org/drawingml/2006/main">
            <a:off x="5905500" y="3105150"/>
            <a:ext cx="5505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4EEE6"/>
                </a:solidFill>
                <a:latin typeface="Georgia"/>
                <a:ea typeface="Georgia"/>
                <a:cs typeface="Georgia"/>
              </a:defRPr>
            </a:defPPr>
          </a:lstStyle>
          <a:p xmlns:a="http://schemas.openxmlformats.org/drawingml/2006/main">
            <a:pPr algn="l">
              <a:defRPr sz="2175" b="0">
                <a:solidFill>
                  <a:srgbClr val="F4EEE6"/>
                </a:solidFill>
                <a:latin typeface="Georgia"/>
                <a:ea typeface="Georgia"/>
                <a:cs typeface="Georgia"/>
              </a:defRPr>
            </a:pPr>
            <a:r>
              <a:rPr sz="2175" b="0">
                <a:solidFill>
                  <a:srgbClr val="F4EEE6"/>
                </a:solidFill>
                <a:latin typeface="Georgia"/>
                <a:ea typeface="Georgia"/>
                <a:cs typeface="Georgia"/>
              </a:rPr>
              <a:t>Haqiqiy ishlar galereyasi</a:t>
            </a:r>
          </a:p>
        </p:txBody>
      </p:sp>
      <p:sp>
        <p:nvSpPr>
          <p:cNvPr id="7" name="Filtrlar, kattalashtirish va suratga&#10;mos xizmatga ">
            <a:extLst xmlns:a="http://schemas.openxmlformats.org/drawingml/2006/main">
              <a:ext uri="{FF2B5EF4-FFF2-40B4-BE49-F238E27FC236}">
                <a16:creationId xmlns:a16="http://schemas.microsoft.com/office/drawing/2014/main" id="{F1ADF3A9-4FE9-4443-9C56-B6E8B8D6EF62}"/>
              </a:ext>
            </a:extLst>
          </p:cNvPr>
          <p:cNvSpPr>
            <a:spLocks xmlns:a="http://schemas.openxmlformats.org/drawingml/2006/main" noGrp="1"/>
          </p:cNvSpPr>
          <p:nvPr/>
        </p:nvSpPr>
        <p:spPr>
          <a:xfrm xmlns:a="http://schemas.openxmlformats.org/drawingml/2006/main">
            <a:off x="5905500" y="3638550"/>
            <a:ext cx="5467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DDBCAF"/>
                </a:solidFill>
                <a:latin typeface="Arial"/>
                <a:ea typeface="Arial"/>
                <a:cs typeface="Arial"/>
              </a:defRPr>
            </a:defPPr>
          </a:lstStyle>
          <a:p xmlns:a="http://schemas.openxmlformats.org/drawingml/2006/main">
            <a:pPr algn="l">
              <a:defRPr sz="1875" b="0">
                <a:solidFill>
                  <a:srgbClr val="DDBCAF"/>
                </a:solidFill>
                <a:latin typeface="Arial"/>
                <a:ea typeface="Arial"/>
                <a:cs typeface="Arial"/>
              </a:defRPr>
            </a:pPr>
            <a:r>
              <a:rPr sz="1875" b="0">
                <a:solidFill>
                  <a:srgbClr val="DDBCAF"/>
                </a:solidFill>
                <a:latin typeface="Arial"/>
                <a:ea typeface="Arial"/>
                <a:cs typeface="Arial"/>
              </a:rPr>
              <a:t>Filtrlar, kattalashtirish va suratga</a:t>
            </a:r>
          </a:p>
          <a:p xmlns:a="http://schemas.openxmlformats.org/drawingml/2006/main">
            <a:pPr algn="l">
              <a:defRPr sz="1875" b="0">
                <a:solidFill>
                  <a:srgbClr val="DDBCAF"/>
                </a:solidFill>
                <a:latin typeface="Arial"/>
                <a:ea typeface="Arial"/>
                <a:cs typeface="Arial"/>
              </a:defRPr>
            </a:pPr>
            <a:r>
              <a:rPr sz="1875" b="0">
                <a:solidFill>
                  <a:srgbClr val="DDBCAF"/>
                </a:solidFill>
                <a:latin typeface="Arial"/>
                <a:ea typeface="Arial"/>
                <a:cs typeface="Arial"/>
              </a:rPr>
              <a:t>mos xizmatga darhol yozilish</a:t>
            </a:r>
          </a:p>
        </p:txBody>
      </p:sp>
      <p:sp>
        <p:nvSpPr>
          <p:cNvPr id="8" name="Telefon va kompyuter uchun">
            <a:extLst xmlns:a="http://schemas.openxmlformats.org/drawingml/2006/main">
              <a:ext uri="{FF2B5EF4-FFF2-40B4-BE49-F238E27FC236}">
                <a16:creationId xmlns:a16="http://schemas.microsoft.com/office/drawing/2014/main" id="{C2534D79-62EA-4B47-B0F1-AE267F6FD72E}"/>
              </a:ext>
            </a:extLst>
          </p:cNvPr>
          <p:cNvSpPr>
            <a:spLocks xmlns:a="http://schemas.openxmlformats.org/drawingml/2006/main" noGrp="1"/>
          </p:cNvSpPr>
          <p:nvPr/>
        </p:nvSpPr>
        <p:spPr>
          <a:xfrm xmlns:a="http://schemas.openxmlformats.org/drawingml/2006/main">
            <a:off x="5905500" y="4562475"/>
            <a:ext cx="552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4EEE6"/>
                </a:solidFill>
                <a:latin typeface="Georgia"/>
                <a:ea typeface="Georgia"/>
                <a:cs typeface="Georgia"/>
              </a:defRPr>
            </a:defPPr>
          </a:lstStyle>
          <a:p xmlns:a="http://schemas.openxmlformats.org/drawingml/2006/main">
            <a:pPr algn="l">
              <a:defRPr sz="2175" b="0">
                <a:solidFill>
                  <a:srgbClr val="F4EEE6"/>
                </a:solidFill>
                <a:latin typeface="Georgia"/>
                <a:ea typeface="Georgia"/>
                <a:cs typeface="Georgia"/>
              </a:defRPr>
            </a:pPr>
            <a:r>
              <a:rPr sz="2175" b="0">
                <a:solidFill>
                  <a:srgbClr val="F4EEE6"/>
                </a:solidFill>
                <a:latin typeface="Georgia"/>
                <a:ea typeface="Georgia"/>
                <a:cs typeface="Georgia"/>
              </a:rPr>
              <a:t>Telefon va kompyuter uchun</a:t>
            </a:r>
          </a:p>
        </p:txBody>
      </p:sp>
      <p:sp>
        <p:nvSpPr>
          <p:cNvPr id="9" name="UZ/RU tillari, ijodiy o‘tishlar,&#10;yozilish formasi ">
            <a:extLst xmlns:a="http://schemas.openxmlformats.org/drawingml/2006/main">
              <a:ext uri="{FF2B5EF4-FFF2-40B4-BE49-F238E27FC236}">
                <a16:creationId xmlns:a16="http://schemas.microsoft.com/office/drawing/2014/main" id="{AE75BE8F-BC0F-4928-9018-C707066A9C51}"/>
              </a:ext>
            </a:extLst>
          </p:cNvPr>
          <p:cNvSpPr>
            <a:spLocks xmlns:a="http://schemas.openxmlformats.org/drawingml/2006/main" noGrp="1"/>
          </p:cNvSpPr>
          <p:nvPr/>
        </p:nvSpPr>
        <p:spPr>
          <a:xfrm xmlns:a="http://schemas.openxmlformats.org/drawingml/2006/main">
            <a:off x="5905500" y="5105400"/>
            <a:ext cx="54387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DDBCAF"/>
                </a:solidFill>
                <a:latin typeface="Arial"/>
                <a:ea typeface="Arial"/>
                <a:cs typeface="Arial"/>
              </a:defRPr>
            </a:defPPr>
          </a:lstStyle>
          <a:p xmlns:a="http://schemas.openxmlformats.org/drawingml/2006/main">
            <a:pPr algn="l">
              <a:defRPr sz="1875" b="0">
                <a:solidFill>
                  <a:srgbClr val="DDBCAF"/>
                </a:solidFill>
                <a:latin typeface="Arial"/>
                <a:ea typeface="Arial"/>
                <a:cs typeface="Arial"/>
              </a:defRPr>
            </a:pPr>
            <a:r>
              <a:rPr sz="1875" b="0">
                <a:solidFill>
                  <a:srgbClr val="DDBCAF"/>
                </a:solidFill>
                <a:latin typeface="Arial"/>
                <a:ea typeface="Arial"/>
                <a:cs typeface="Arial"/>
              </a:rPr>
              <a:t>UZ/RU tillari, ijodiy o‘tishlar,</a:t>
            </a:r>
          </a:p>
          <a:p xmlns:a="http://schemas.openxmlformats.org/drawingml/2006/main">
            <a:pPr algn="l">
              <a:defRPr sz="1875" b="0">
                <a:solidFill>
                  <a:srgbClr val="DDBCAF"/>
                </a:solidFill>
                <a:latin typeface="Arial"/>
                <a:ea typeface="Arial"/>
                <a:cs typeface="Arial"/>
              </a:defRPr>
            </a:pPr>
            <a:r>
              <a:rPr sz="1875" b="0">
                <a:solidFill>
                  <a:srgbClr val="DDBCAF"/>
                </a:solidFill>
                <a:latin typeface="Arial"/>
                <a:ea typeface="Arial"/>
                <a:cs typeface="Arial"/>
              </a:rPr>
              <a:t>yozilish formasi va qulay aloqa</a:t>
            </a:r>
          </a:p>
        </p:txBody>
      </p:sp>
    </p:spTree>
    <p:extLst>
      <p:ext uri="{BB962C8B-B14F-4D97-AF65-F5344CB8AC3E}">
        <p14:creationId xmlns:p14="http://schemas.microsoft.com/office/powerpoint/2010/main" val="873331893"/>
      </p:ext>
    </p:extLst>
  </p:cSld>
</p:sld>
</file>

<file path=ppt/slides/slide4.xml><?xml version="1.0" encoding="utf-8"?>
<p:sld xmlns:p="http://schemas.openxmlformats.org/presentationml/2006/main">
  <p:cSld>
    <p:bg>
      <p:bgPr>
        <a:solidFill xmlns:a="http://schemas.openxmlformats.org/drawingml/2006/main">
          <a:srgbClr val="F4EEE6"/>
        </a:solidFill>
      </p:bgPr>
    </p:bg>
    <p:spTree>
      <p:nvGrpSpPr>
        <p:cNvPr id="1" name=""/>
        <p:cNvGrpSpPr/>
        <p:nvPr/>
      </p:nvGrpSpPr>
      <p:grpSpPr>
        <a:xfrm xmlns:a="http://schemas.openxmlformats.org/drawingml/2006/main"/>
      </p:grpSpPr>
      <p:sp>
        <p:nvSpPr>
          <p:cNvPr id="10" name="Boshqaruv o‘z qo‘lingizda">
            <a:extLst xmlns:a="http://schemas.openxmlformats.org/drawingml/2006/main">
              <a:ext uri="{FF2B5EF4-FFF2-40B4-BE49-F238E27FC236}">
                <a16:creationId xmlns:a16="http://schemas.microsoft.com/office/drawing/2014/main" id="{7E28FCF0-9440-4687-91B8-495A2613C3F8}"/>
              </a:ext>
            </a:extLst>
          </p:cNvPr>
          <p:cNvSpPr>
            <a:spLocks xmlns:a="http://schemas.openxmlformats.org/drawingml/2006/main" noGrp="1"/>
          </p:cNvSpPr>
          <p:nvPr/>
        </p:nvSpPr>
        <p:spPr>
          <a:xfrm xmlns:a="http://schemas.openxmlformats.org/drawingml/2006/main">
            <a:off x="609600" y="409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0">
                <a:solidFill>
                  <a:srgbClr val="4B182A"/>
                </a:solidFill>
                <a:latin typeface="Georgia"/>
                <a:ea typeface="Georgia"/>
                <a:cs typeface="Georgia"/>
              </a:defRPr>
            </a:defPPr>
          </a:lstStyle>
          <a:p xmlns:a="http://schemas.openxmlformats.org/drawingml/2006/main">
            <a:pPr algn="l">
              <a:defRPr sz="3750" b="0">
                <a:solidFill>
                  <a:srgbClr val="4B182A"/>
                </a:solidFill>
                <a:latin typeface="Georgia"/>
                <a:ea typeface="Georgia"/>
                <a:cs typeface="Georgia"/>
              </a:defRPr>
            </a:pPr>
            <a:r>
              <a:rPr sz="3750" b="0">
                <a:solidFill>
                  <a:srgbClr val="4B182A"/>
                </a:solidFill>
                <a:latin typeface="Georgia"/>
                <a:ea typeface="Georgia"/>
                <a:cs typeface="Georgia"/>
              </a:rPr>
              <a:t>Boshqaruv o‘z qo‘lingizda</a:t>
            </a:r>
          </a:p>
        </p:txBody>
      </p:sp>
      <p:pic>
        <p:nvPicPr>
          <p:cNvPr id="2" name="">
            <a:extLst xmlns:a="http://schemas.openxmlformats.org/drawingml/2006/main">
              <a:ext uri="{FF2B5EF4-FFF2-40B4-BE49-F238E27FC236}">
                <a16:creationId xmlns:a16="http://schemas.microsoft.com/office/drawing/2014/main" id="{9535E135-2C62-4832-A630-1A657AFCAA62}"/>
              </a:ext>
            </a:extLst>
          </p:cNvPr>
          <p:cNvPicPr>
            <a:picLocks xmlns:a="http://schemas.openxmlformats.org/drawingml/2006/main" noChangeAspect="1"/>
          </p:cNvPicPr>
          <p:nvPr/>
        </p:nvPicPr>
        <p:blipFill>
          <a:blip xmlns:r="http://schemas.openxmlformats.org/officeDocument/2006/relationships" xmlns:a="http://schemas.openxmlformats.org/drawingml/2006/main" r:embed="R7bea5cc910f340eb"/>
          <a:stretch xmlns:a="http://schemas.openxmlformats.org/drawingml/2006/main"/>
        </p:blipFill>
        <p:spPr>
          <a:xfrm xmlns:a="http://schemas.openxmlformats.org/drawingml/2006/main">
            <a:off x="592243" y="1609725"/>
            <a:ext cx="7311813" cy="4838700"/>
          </a:xfrm>
          <a:prstGeom xmlns:a="http://schemas.openxmlformats.org/drawingml/2006/main" prst="rect">
            <a:avLst/>
          </a:prstGeom>
        </p:spPr>
      </p:pic>
      <p:sp>
        <p:nvSpPr>
          <p:cNvPr id="3" name="Matn va rasmlar">
            <a:extLst xmlns:a="http://schemas.openxmlformats.org/drawingml/2006/main">
              <a:ext uri="{FF2B5EF4-FFF2-40B4-BE49-F238E27FC236}">
                <a16:creationId xmlns:a16="http://schemas.microsoft.com/office/drawing/2014/main" id="{B850CF7D-7580-43FC-93F4-470E95852D30}"/>
              </a:ext>
            </a:extLst>
          </p:cNvPr>
          <p:cNvSpPr>
            <a:spLocks xmlns:a="http://schemas.openxmlformats.org/drawingml/2006/main" noGrp="1"/>
          </p:cNvSpPr>
          <p:nvPr/>
        </p:nvSpPr>
        <p:spPr>
          <a:xfrm xmlns:a="http://schemas.openxmlformats.org/drawingml/2006/main">
            <a:off x="8286750" y="1581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4B182A"/>
                </a:solidFill>
                <a:latin typeface="Georgia"/>
                <a:ea typeface="Georgia"/>
                <a:cs typeface="Georgia"/>
              </a:defRPr>
            </a:defPPr>
          </a:lstStyle>
          <a:p xmlns:a="http://schemas.openxmlformats.org/drawingml/2006/main">
            <a:pPr algn="l">
              <a:defRPr sz="2100" b="0">
                <a:solidFill>
                  <a:srgbClr val="4B182A"/>
                </a:solidFill>
                <a:latin typeface="Georgia"/>
                <a:ea typeface="Georgia"/>
                <a:cs typeface="Georgia"/>
              </a:defRPr>
            </a:pPr>
            <a:r>
              <a:rPr sz="2100" b="0">
                <a:solidFill>
                  <a:srgbClr val="4B182A"/>
                </a:solidFill>
                <a:latin typeface="Georgia"/>
                <a:ea typeface="Georgia"/>
                <a:cs typeface="Georgia"/>
              </a:rPr>
              <a:t>Matn va rasmlar</a:t>
            </a:r>
          </a:p>
        </p:txBody>
      </p:sp>
      <p:sp>
        <p:nvSpPr>
          <p:cNvPr id="4" name="Rasm yuklash, kesimini tanlash,&#10;xizmat va ma’lumot">
            <a:extLst xmlns:a="http://schemas.openxmlformats.org/drawingml/2006/main">
              <a:ext uri="{FF2B5EF4-FFF2-40B4-BE49-F238E27FC236}">
                <a16:creationId xmlns:a16="http://schemas.microsoft.com/office/drawing/2014/main" id="{67914140-AB6B-45D3-9609-7D3B8E6C41C2}"/>
              </a:ext>
            </a:extLst>
          </p:cNvPr>
          <p:cNvSpPr>
            <a:spLocks xmlns:a="http://schemas.openxmlformats.org/drawingml/2006/main" noGrp="1"/>
          </p:cNvSpPr>
          <p:nvPr/>
        </p:nvSpPr>
        <p:spPr>
          <a:xfrm xmlns:a="http://schemas.openxmlformats.org/drawingml/2006/main">
            <a:off x="8286750" y="2095500"/>
            <a:ext cx="331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75656D"/>
                </a:solidFill>
                <a:latin typeface="Arial"/>
                <a:ea typeface="Arial"/>
                <a:cs typeface="Arial"/>
              </a:defRPr>
            </a:defPPr>
          </a:lstStyle>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Rasm yuklash, kesimini tanlash,</a:t>
            </a:r>
          </a:p>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xizmat va ma’lumotni yangilash</a:t>
            </a:r>
          </a:p>
        </p:txBody>
      </p:sp>
      <p:sp>
        <p:nvSpPr>
          <p:cNvPr id="5" name="Mijoz so‘rovlari">
            <a:extLst xmlns:a="http://schemas.openxmlformats.org/drawingml/2006/main">
              <a:ext uri="{FF2B5EF4-FFF2-40B4-BE49-F238E27FC236}">
                <a16:creationId xmlns:a16="http://schemas.microsoft.com/office/drawing/2014/main" id="{BD0F2B3C-2247-49DA-B8AB-7DDC30C53D0E}"/>
              </a:ext>
            </a:extLst>
          </p:cNvPr>
          <p:cNvSpPr>
            <a:spLocks xmlns:a="http://schemas.openxmlformats.org/drawingml/2006/main" noGrp="1"/>
          </p:cNvSpPr>
          <p:nvPr/>
        </p:nvSpPr>
        <p:spPr>
          <a:xfrm xmlns:a="http://schemas.openxmlformats.org/drawingml/2006/main">
            <a:off x="8286750" y="300037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4B182A"/>
                </a:solidFill>
                <a:latin typeface="Georgia"/>
                <a:ea typeface="Georgia"/>
                <a:cs typeface="Georgia"/>
              </a:defRPr>
            </a:defPPr>
          </a:lstStyle>
          <a:p xmlns:a="http://schemas.openxmlformats.org/drawingml/2006/main">
            <a:pPr algn="l">
              <a:defRPr sz="2100" b="0">
                <a:solidFill>
                  <a:srgbClr val="4B182A"/>
                </a:solidFill>
                <a:latin typeface="Georgia"/>
                <a:ea typeface="Georgia"/>
                <a:cs typeface="Georgia"/>
              </a:defRPr>
            </a:pPr>
            <a:r>
              <a:rPr sz="2100" b="0">
                <a:solidFill>
                  <a:srgbClr val="4B182A"/>
                </a:solidFill>
                <a:latin typeface="Georgia"/>
                <a:ea typeface="Georgia"/>
                <a:cs typeface="Georgia"/>
              </a:rPr>
              <a:t>Mijoz so‘rovlari</a:t>
            </a:r>
          </a:p>
        </p:txBody>
      </p:sp>
      <p:sp>
        <p:nvSpPr>
          <p:cNvPr id="6" name="Demo yozilish so‘rovi, holat,&#10;izoh va mas’ul xodim">
            <a:extLst xmlns:a="http://schemas.openxmlformats.org/drawingml/2006/main">
              <a:ext uri="{FF2B5EF4-FFF2-40B4-BE49-F238E27FC236}">
                <a16:creationId xmlns:a16="http://schemas.microsoft.com/office/drawing/2014/main" id="{B97F6B3B-6B35-4D64-B90B-A3545F896F9F}"/>
              </a:ext>
            </a:extLst>
          </p:cNvPr>
          <p:cNvSpPr>
            <a:spLocks xmlns:a="http://schemas.openxmlformats.org/drawingml/2006/main" noGrp="1"/>
          </p:cNvSpPr>
          <p:nvPr/>
        </p:nvSpPr>
        <p:spPr>
          <a:xfrm xmlns:a="http://schemas.openxmlformats.org/drawingml/2006/main">
            <a:off x="8286750" y="3495675"/>
            <a:ext cx="32766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75656D"/>
                </a:solidFill>
                <a:latin typeface="Arial"/>
                <a:ea typeface="Arial"/>
                <a:cs typeface="Arial"/>
              </a:defRPr>
            </a:defPPr>
          </a:lstStyle>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Demo yozilish so‘rovi, holat,</a:t>
            </a:r>
          </a:p>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izoh va mas’ul xodim</a:t>
            </a:r>
          </a:p>
        </p:txBody>
      </p:sp>
      <p:sp>
        <p:nvSpPr>
          <p:cNvPr id="7" name="Statistika va nazorat">
            <a:extLst xmlns:a="http://schemas.openxmlformats.org/drawingml/2006/main">
              <a:ext uri="{FF2B5EF4-FFF2-40B4-BE49-F238E27FC236}">
                <a16:creationId xmlns:a16="http://schemas.microsoft.com/office/drawing/2014/main" id="{7AC6C6DD-2EBB-4F06-A22F-8291F39251E9}"/>
              </a:ext>
            </a:extLst>
          </p:cNvPr>
          <p:cNvSpPr>
            <a:spLocks xmlns:a="http://schemas.openxmlformats.org/drawingml/2006/main" noGrp="1"/>
          </p:cNvSpPr>
          <p:nvPr/>
        </p:nvSpPr>
        <p:spPr>
          <a:xfrm xmlns:a="http://schemas.openxmlformats.org/drawingml/2006/main">
            <a:off x="8286750" y="433387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4B182A"/>
                </a:solidFill>
                <a:latin typeface="Georgia"/>
                <a:ea typeface="Georgia"/>
                <a:cs typeface="Georgia"/>
              </a:defRPr>
            </a:defPPr>
          </a:lstStyle>
          <a:p xmlns:a="http://schemas.openxmlformats.org/drawingml/2006/main">
            <a:pPr algn="l">
              <a:defRPr sz="2100" b="0">
                <a:solidFill>
                  <a:srgbClr val="4B182A"/>
                </a:solidFill>
                <a:latin typeface="Georgia"/>
                <a:ea typeface="Georgia"/>
                <a:cs typeface="Georgia"/>
              </a:defRPr>
            </a:pPr>
            <a:r>
              <a:rPr sz="2100" b="0">
                <a:solidFill>
                  <a:srgbClr val="4B182A"/>
                </a:solidFill>
                <a:latin typeface="Georgia"/>
                <a:ea typeface="Georgia"/>
                <a:cs typeface="Georgia"/>
              </a:rPr>
              <a:t>Statistika va nazorat</a:t>
            </a:r>
          </a:p>
        </p:txBody>
      </p:sp>
      <p:sp>
        <p:nvSpPr>
          <p:cNvPr id="8" name="Tashriflar, Telegram bosishlari,&#10;xodimlar va nashr">
            <a:extLst xmlns:a="http://schemas.openxmlformats.org/drawingml/2006/main">
              <a:ext uri="{FF2B5EF4-FFF2-40B4-BE49-F238E27FC236}">
                <a16:creationId xmlns:a16="http://schemas.microsoft.com/office/drawing/2014/main" id="{ADE0B5EB-A3DB-49F6-AA67-9257FC3E9A17}"/>
              </a:ext>
            </a:extLst>
          </p:cNvPr>
          <p:cNvSpPr>
            <a:spLocks xmlns:a="http://schemas.openxmlformats.org/drawingml/2006/main" noGrp="1"/>
          </p:cNvSpPr>
          <p:nvPr/>
        </p:nvSpPr>
        <p:spPr>
          <a:xfrm xmlns:a="http://schemas.openxmlformats.org/drawingml/2006/main">
            <a:off x="8286750" y="4848225"/>
            <a:ext cx="32956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75656D"/>
                </a:solidFill>
                <a:latin typeface="Arial"/>
                <a:ea typeface="Arial"/>
                <a:cs typeface="Arial"/>
              </a:defRPr>
            </a:defPPr>
          </a:lstStyle>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Tashriflar, Telegram bosishlari,</a:t>
            </a:r>
          </a:p>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xodimlar va nashrlar tarixi</a:t>
            </a:r>
          </a:p>
        </p:txBody>
      </p:sp>
      <p:sp>
        <p:nvSpPr>
          <p:cNvPr id="9" name="Demo: raqamlar namuna, tahrirlar brauzerda. Paket ">
            <a:extLst xmlns:a="http://schemas.openxmlformats.org/drawingml/2006/main">
              <a:ext uri="{FF2B5EF4-FFF2-40B4-BE49-F238E27FC236}">
                <a16:creationId xmlns:a16="http://schemas.microsoft.com/office/drawing/2014/main" id="{A7F461C1-6C35-4BEC-9860-08248E65655A}"/>
              </a:ext>
            </a:extLst>
          </p:cNvPr>
          <p:cNvSpPr>
            <a:spLocks xmlns:a="http://schemas.openxmlformats.org/drawingml/2006/main" noGrp="1"/>
          </p:cNvSpPr>
          <p:nvPr/>
        </p:nvSpPr>
        <p:spPr>
          <a:xfrm xmlns:a="http://schemas.openxmlformats.org/drawingml/2006/main">
            <a:off x="8248650" y="5810250"/>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4B182A"/>
                </a:solidFill>
                <a:latin typeface="Arial"/>
                <a:ea typeface="Arial"/>
                <a:cs typeface="Arial"/>
              </a:defRPr>
            </a:defPPr>
          </a:lstStyle>
          <a:p xmlns:a="http://schemas.openxmlformats.org/drawingml/2006/main">
            <a:pPr algn="l">
              <a:defRPr sz="1350" b="0">
                <a:solidFill>
                  <a:srgbClr val="4B182A"/>
                </a:solidFill>
                <a:latin typeface="Arial"/>
                <a:ea typeface="Arial"/>
                <a:cs typeface="Arial"/>
              </a:defRPr>
            </a:pPr>
            <a:r>
              <a:rPr sz="1350" b="0">
                <a:solidFill>
                  <a:srgbClr val="4B182A"/>
                </a:solidFill>
                <a:latin typeface="Arial"/>
                <a:ea typeface="Arial"/>
                <a:cs typeface="Arial"/>
              </a:rPr>
              <a:t>Demo: raqamlar namuna, tahrirlar brauzerda. Paket doirasida haqiqiy bazani ulab ishga tushiramiz.</a:t>
            </a:r>
          </a:p>
        </p:txBody>
      </p:sp>
    </p:spTree>
    <p:extLst>
      <p:ext uri="{BB962C8B-B14F-4D97-AF65-F5344CB8AC3E}">
        <p14:creationId xmlns:p14="http://schemas.microsoft.com/office/powerpoint/2010/main" val="2016494412"/>
      </p:ext>
    </p:extLst>
  </p:cSld>
</p:sld>
</file>

<file path=ppt/slides/slide5.xml><?xml version="1.0" encoding="utf-8"?>
<p:sld xmlns:p="http://schemas.openxmlformats.org/presentationml/2006/main">
  <p:cSld>
    <p:bg>
      <p:bgPr>
        <a:solidFill xmlns:a="http://schemas.openxmlformats.org/drawingml/2006/main">
          <a:srgbClr val="F4EEE6"/>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633C2294-C7B1-410E-B077-646DE59A457F}"/>
              </a:ext>
            </a:extLst>
          </p:cNvPr>
          <p:cNvCxnSpPr>
            <a:stCxn xmlns:a="http://schemas.openxmlformats.org/drawingml/2006/main" id="12" idx="3"/>
            <a:endCxn xmlns:a="http://schemas.openxmlformats.org/drawingml/2006/main" id="16" idx="1"/>
          </p:cNvCxnSpPr>
          <p:nvPr/>
        </p:nvCxnSpPr>
        <p:spPr>
          <a:xfrm xmlns:a="http://schemas.openxmlformats.org/drawingml/2006/main">
            <a:off x="8763000" y="2990850"/>
            <a:ext cx="361950" cy="0"/>
          </a:xfrm>
          <a:prstGeom xmlns:a="http://schemas.openxmlformats.org/drawingml/2006/main" prst="straightConnector1">
            <a:avLst/>
          </a:prstGeom>
          <a:ln xmlns:a="http://schemas.openxmlformats.org/drawingml/2006/main" w="19050">
            <a:solidFill>
              <a:srgbClr val="4B182A"/>
            </a:solidFill>
            <a:tailEnd type="arrow" w="med" len="med"/>
          </a:ln>
        </p:spPr>
      </p:cxnSp>
      <p:cxnSp>
        <p:nvCxnSpPr>
          <p:cNvPr id="20" name="">
            <a:extLst xmlns:a="http://schemas.openxmlformats.org/drawingml/2006/main">
              <a:ext uri="{FF2B5EF4-FFF2-40B4-BE49-F238E27FC236}">
                <a16:creationId xmlns:a16="http://schemas.microsoft.com/office/drawing/2014/main" id="{1DC0CF3B-EEA6-4D56-9DE1-1072F83FF027}"/>
              </a:ext>
            </a:extLst>
          </p:cNvPr>
          <p:cNvCxnSpPr>
            <a:stCxn xmlns:a="http://schemas.openxmlformats.org/drawingml/2006/main" id="8" idx="3"/>
            <a:endCxn xmlns:a="http://schemas.openxmlformats.org/drawingml/2006/main" id="12" idx="1"/>
          </p:cNvCxnSpPr>
          <p:nvPr/>
        </p:nvCxnSpPr>
        <p:spPr>
          <a:xfrm xmlns:a="http://schemas.openxmlformats.org/drawingml/2006/main">
            <a:off x="5924550" y="2990850"/>
            <a:ext cx="361950" cy="0"/>
          </a:xfrm>
          <a:prstGeom xmlns:a="http://schemas.openxmlformats.org/drawingml/2006/main" prst="straightConnector1">
            <a:avLst/>
          </a:prstGeom>
          <a:ln xmlns:a="http://schemas.openxmlformats.org/drawingml/2006/main" w="19050">
            <a:solidFill>
              <a:srgbClr val="4B182A"/>
            </a:solidFill>
            <a:tailEnd type="arrow" w="med" len="med"/>
          </a:ln>
        </p:spPr>
      </p:cxnSp>
      <p:cxnSp>
        <p:nvCxnSpPr>
          <p:cNvPr id="19" name="">
            <a:extLst xmlns:a="http://schemas.openxmlformats.org/drawingml/2006/main">
              <a:ext uri="{FF2B5EF4-FFF2-40B4-BE49-F238E27FC236}">
                <a16:creationId xmlns:a16="http://schemas.microsoft.com/office/drawing/2014/main" id="{724F276D-9556-4DE2-B065-0E269037E3EF}"/>
              </a:ext>
            </a:extLst>
          </p:cNvPr>
          <p:cNvCxnSpPr>
            <a:stCxn xmlns:a="http://schemas.openxmlformats.org/drawingml/2006/main" id="4" idx="3"/>
            <a:endCxn xmlns:a="http://schemas.openxmlformats.org/drawingml/2006/main" id="8" idx="1"/>
          </p:cNvCxnSpPr>
          <p:nvPr/>
        </p:nvCxnSpPr>
        <p:spPr>
          <a:xfrm xmlns:a="http://schemas.openxmlformats.org/drawingml/2006/main">
            <a:off x="3086100" y="2990850"/>
            <a:ext cx="361950" cy="0"/>
          </a:xfrm>
          <a:prstGeom xmlns:a="http://schemas.openxmlformats.org/drawingml/2006/main" prst="straightConnector1">
            <a:avLst/>
          </a:prstGeom>
          <a:ln xmlns:a="http://schemas.openxmlformats.org/drawingml/2006/main" w="19050">
            <a:solidFill>
              <a:srgbClr val="4B182A"/>
            </a:solidFill>
            <a:tailEnd type="arrow" w="med" len="med"/>
          </a:ln>
        </p:spPr>
      </p:cxnSp>
      <p:sp>
        <p:nvSpPr>
          <p:cNvPr id="27" name="CRM va Telegram bot">
            <a:extLst xmlns:a="http://schemas.openxmlformats.org/drawingml/2006/main">
              <a:ext uri="{FF2B5EF4-FFF2-40B4-BE49-F238E27FC236}">
                <a16:creationId xmlns:a16="http://schemas.microsoft.com/office/drawing/2014/main" id="{8071642D-2373-4832-BCCA-CE5886BCD9E7}"/>
              </a:ext>
            </a:extLst>
          </p:cNvPr>
          <p:cNvSpPr>
            <a:spLocks xmlns:a="http://schemas.openxmlformats.org/drawingml/2006/main" noGrp="1"/>
          </p:cNvSpPr>
          <p:nvPr/>
        </p:nvSpPr>
        <p:spPr>
          <a:xfrm xmlns:a="http://schemas.openxmlformats.org/drawingml/2006/main">
            <a:off x="609600" y="40957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0">
                <a:solidFill>
                  <a:srgbClr val="4B182A"/>
                </a:solidFill>
                <a:latin typeface="Georgia"/>
                <a:ea typeface="Georgia"/>
                <a:cs typeface="Georgia"/>
              </a:defRPr>
            </a:defPPr>
          </a:lstStyle>
          <a:p xmlns:a="http://schemas.openxmlformats.org/drawingml/2006/main">
            <a:pPr algn="l">
              <a:defRPr sz="3900" b="0">
                <a:solidFill>
                  <a:srgbClr val="4B182A"/>
                </a:solidFill>
                <a:latin typeface="Georgia"/>
                <a:ea typeface="Georgia"/>
                <a:cs typeface="Georgia"/>
              </a:defRPr>
            </a:pPr>
            <a:r>
              <a:rPr sz="3900" b="0">
                <a:solidFill>
                  <a:srgbClr val="4B182A"/>
                </a:solidFill>
                <a:latin typeface="Georgia"/>
                <a:ea typeface="Georgia"/>
                <a:cs typeface="Georgia"/>
              </a:rPr>
              <a:t>CRM va Telegram bot</a:t>
            </a:r>
          </a:p>
        </p:txBody>
      </p:sp>
      <p:sp>
        <p:nvSpPr>
          <p:cNvPr id="2" name="Saytdagi barcha zayavkalar tanlangan mas’ul xodiml">
            <a:extLst xmlns:a="http://schemas.openxmlformats.org/drawingml/2006/main">
              <a:ext uri="{FF2B5EF4-FFF2-40B4-BE49-F238E27FC236}">
                <a16:creationId xmlns:a16="http://schemas.microsoft.com/office/drawing/2014/main" id="{99EA2999-240A-4DDA-ACCA-ADA916E501EE}"/>
              </a:ext>
            </a:extLst>
          </p:cNvPr>
          <p:cNvSpPr>
            <a:spLocks xmlns:a="http://schemas.openxmlformats.org/drawingml/2006/main" noGrp="1"/>
          </p:cNvSpPr>
          <p:nvPr/>
        </p:nvSpPr>
        <p:spPr>
          <a:xfrm xmlns:a="http://schemas.openxmlformats.org/drawingml/2006/main">
            <a:off x="647700" y="121920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75656D"/>
                </a:solidFill>
                <a:latin typeface="Arial"/>
                <a:ea typeface="Arial"/>
                <a:cs typeface="Arial"/>
              </a:defRPr>
            </a:defPPr>
          </a:lstStyle>
          <a:p xmlns:a="http://schemas.openxmlformats.org/drawingml/2006/main">
            <a:pPr algn="l">
              <a:defRPr sz="1875" b="0">
                <a:solidFill>
                  <a:srgbClr val="75656D"/>
                </a:solidFill>
                <a:latin typeface="Arial"/>
                <a:ea typeface="Arial"/>
                <a:cs typeface="Arial"/>
              </a:defRPr>
            </a:pPr>
            <a:r>
              <a:rPr sz="1875" b="0">
                <a:solidFill>
                  <a:srgbClr val="75656D"/>
                </a:solidFill>
                <a:latin typeface="Arial"/>
                <a:ea typeface="Arial"/>
                <a:cs typeface="Arial"/>
              </a:rPr>
              <a:t>Saytdagi barcha zayavkalar tanlangan mas’ul xodimlarga keladi</a:t>
            </a:r>
          </a:p>
        </p:txBody>
      </p:sp>
      <p:sp>
        <p:nvSpPr>
          <p:cNvPr id="3" name="01">
            <a:extLst xmlns:a="http://schemas.openxmlformats.org/drawingml/2006/main">
              <a:ext uri="{FF2B5EF4-FFF2-40B4-BE49-F238E27FC236}">
                <a16:creationId xmlns:a16="http://schemas.microsoft.com/office/drawing/2014/main" id="{8CBA1216-65CA-4A3B-94FC-5DCA110B1816}"/>
              </a:ext>
            </a:extLst>
          </p:cNvPr>
          <p:cNvSpPr>
            <a:spLocks xmlns:a="http://schemas.openxmlformats.org/drawingml/2006/main" noGrp="1"/>
          </p:cNvSpPr>
          <p:nvPr/>
        </p:nvSpPr>
        <p:spPr>
          <a:xfrm xmlns:a="http://schemas.openxmlformats.org/drawingml/2006/main">
            <a:off x="609600" y="1704975"/>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4B182A"/>
                </a:solidFill>
                <a:latin typeface="Georgia"/>
                <a:ea typeface="Georgia"/>
                <a:cs typeface="Georgia"/>
              </a:defRPr>
            </a:defPPr>
          </a:lstStyle>
          <a:p xmlns:a="http://schemas.openxmlformats.org/drawingml/2006/main">
            <a:pPr algn="l">
              <a:defRPr sz="1950" b="0">
                <a:solidFill>
                  <a:srgbClr val="4B182A"/>
                </a:solidFill>
                <a:latin typeface="Georgia"/>
                <a:ea typeface="Georgia"/>
                <a:cs typeface="Georgia"/>
              </a:defRPr>
            </a:pPr>
            <a:r>
              <a:rPr sz="1950" b="0">
                <a:solidFill>
                  <a:srgbClr val="4B182A"/>
                </a:solidFill>
                <a:latin typeface="Georgia"/>
                <a:ea typeface="Georgia"/>
                <a:cs typeface="Georgia"/>
              </a:rPr>
              <a:t>01</a:t>
            </a:r>
          </a:p>
        </p:txBody>
      </p:sp>
      <p:sp>
        <p:nvSpPr>
          <p:cNvPr id="4" name="CRM workflow 1">
            <a:extLst xmlns:a="http://schemas.openxmlformats.org/drawingml/2006/main">
              <a:ext uri="{FF2B5EF4-FFF2-40B4-BE49-F238E27FC236}">
                <a16:creationId xmlns:a16="http://schemas.microsoft.com/office/drawing/2014/main" id="{E5C83D58-73C8-46F7-8566-C8B4D0035CCE}"/>
              </a:ext>
            </a:extLst>
          </p:cNvPr>
          <p:cNvSpPr>
            <a:spLocks xmlns:a="http://schemas.openxmlformats.org/drawingml/2006/main" noGrp="1"/>
          </p:cNvSpPr>
          <p:nvPr/>
        </p:nvSpPr>
        <p:spPr>
          <a:xfrm xmlns:a="http://schemas.openxmlformats.org/drawingml/2006/main">
            <a:off x="609600" y="2181225"/>
            <a:ext cx="2476500" cy="1619250"/>
          </a:xfrm>
          <a:prstGeom xmlns:a="http://schemas.openxmlformats.org/drawingml/2006/main" prst="rect">
            <a:avLst/>
          </a:prstGeom>
          <a:solidFill xmlns:a="http://schemas.openxmlformats.org/drawingml/2006/main">
            <a:srgbClr val="F4EEE6"/>
          </a:solidFill>
          <a:ln xmlns:a="http://schemas.openxmlformats.org/drawingml/2006/main" w="9525">
            <a:solidFill>
              <a:srgbClr val="4B182A"/>
            </a:solidFill>
          </a:ln>
        </p:spPr>
      </p:sp>
      <p:sp>
        <p:nvSpPr>
          <p:cNvPr id="5" name="Saytdagi zayavka">
            <a:extLst xmlns:a="http://schemas.openxmlformats.org/drawingml/2006/main">
              <a:ext uri="{FF2B5EF4-FFF2-40B4-BE49-F238E27FC236}">
                <a16:creationId xmlns:a16="http://schemas.microsoft.com/office/drawing/2014/main" id="{A1101BCF-F04F-42C1-8ECF-C0126B5BB135}"/>
              </a:ext>
            </a:extLst>
          </p:cNvPr>
          <p:cNvSpPr>
            <a:spLocks xmlns:a="http://schemas.openxmlformats.org/drawingml/2006/main" noGrp="1"/>
          </p:cNvSpPr>
          <p:nvPr/>
        </p:nvSpPr>
        <p:spPr>
          <a:xfrm xmlns:a="http://schemas.openxmlformats.org/drawingml/2006/main">
            <a:off x="762000" y="2362200"/>
            <a:ext cx="2171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B182A"/>
                </a:solidFill>
                <a:latin typeface="Georgia"/>
                <a:ea typeface="Georgia"/>
                <a:cs typeface="Georgia"/>
              </a:defRPr>
            </a:defPPr>
          </a:lstStyle>
          <a:p xmlns:a="http://schemas.openxmlformats.org/drawingml/2006/main">
            <a:pPr algn="l">
              <a:defRPr sz="1875" b="0">
                <a:solidFill>
                  <a:srgbClr val="4B182A"/>
                </a:solidFill>
                <a:latin typeface="Georgia"/>
                <a:ea typeface="Georgia"/>
                <a:cs typeface="Georgia"/>
              </a:defRPr>
            </a:pPr>
            <a:r>
              <a:rPr sz="1875" b="0">
                <a:solidFill>
                  <a:srgbClr val="4B182A"/>
                </a:solidFill>
                <a:latin typeface="Georgia"/>
                <a:ea typeface="Georgia"/>
                <a:cs typeface="Georgia"/>
              </a:rPr>
              <a:t>Saytdagi zayavka</a:t>
            </a:r>
          </a:p>
        </p:txBody>
      </p:sp>
      <p:sp>
        <p:nvSpPr>
          <p:cNvPr id="6" name="Ism, telefon,&#10;xizmat va vaqt">
            <a:extLst xmlns:a="http://schemas.openxmlformats.org/drawingml/2006/main">
              <a:ext uri="{FF2B5EF4-FFF2-40B4-BE49-F238E27FC236}">
                <a16:creationId xmlns:a16="http://schemas.microsoft.com/office/drawing/2014/main" id="{F50FF8BD-BCA0-43CD-8366-3DAFCB55973A}"/>
              </a:ext>
            </a:extLst>
          </p:cNvPr>
          <p:cNvSpPr>
            <a:spLocks xmlns:a="http://schemas.openxmlformats.org/drawingml/2006/main" noGrp="1"/>
          </p:cNvSpPr>
          <p:nvPr/>
        </p:nvSpPr>
        <p:spPr>
          <a:xfrm xmlns:a="http://schemas.openxmlformats.org/drawingml/2006/main">
            <a:off x="762000" y="3067050"/>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75656D"/>
                </a:solidFill>
                <a:latin typeface="Arial"/>
                <a:ea typeface="Arial"/>
                <a:cs typeface="Arial"/>
              </a:defRPr>
            </a:defPPr>
          </a:lstStyle>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Ism, telefon,</a:t>
            </a:r>
          </a:p>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xizmat va vaqt</a:t>
            </a:r>
          </a:p>
        </p:txBody>
      </p:sp>
      <p:sp>
        <p:nvSpPr>
          <p:cNvPr id="7" name="02">
            <a:extLst xmlns:a="http://schemas.openxmlformats.org/drawingml/2006/main">
              <a:ext uri="{FF2B5EF4-FFF2-40B4-BE49-F238E27FC236}">
                <a16:creationId xmlns:a16="http://schemas.microsoft.com/office/drawing/2014/main" id="{AD6CA97C-EC2A-4024-8692-CDE705A25539}"/>
              </a:ext>
            </a:extLst>
          </p:cNvPr>
          <p:cNvSpPr>
            <a:spLocks xmlns:a="http://schemas.openxmlformats.org/drawingml/2006/main" noGrp="1"/>
          </p:cNvSpPr>
          <p:nvPr/>
        </p:nvSpPr>
        <p:spPr>
          <a:xfrm xmlns:a="http://schemas.openxmlformats.org/drawingml/2006/main">
            <a:off x="3448050" y="1704975"/>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4B182A"/>
                </a:solidFill>
                <a:latin typeface="Georgia"/>
                <a:ea typeface="Georgia"/>
                <a:cs typeface="Georgia"/>
              </a:defRPr>
            </a:defPPr>
          </a:lstStyle>
          <a:p xmlns:a="http://schemas.openxmlformats.org/drawingml/2006/main">
            <a:pPr algn="l">
              <a:defRPr sz="1950" b="0">
                <a:solidFill>
                  <a:srgbClr val="4B182A"/>
                </a:solidFill>
                <a:latin typeface="Georgia"/>
                <a:ea typeface="Georgia"/>
                <a:cs typeface="Georgia"/>
              </a:defRPr>
            </a:pPr>
            <a:r>
              <a:rPr sz="1950" b="0">
                <a:solidFill>
                  <a:srgbClr val="4B182A"/>
                </a:solidFill>
                <a:latin typeface="Georgia"/>
                <a:ea typeface="Georgia"/>
                <a:cs typeface="Georgia"/>
              </a:rPr>
              <a:t>02</a:t>
            </a:r>
          </a:p>
        </p:txBody>
      </p:sp>
      <p:sp>
        <p:nvSpPr>
          <p:cNvPr id="8" name="CRM workflow 2">
            <a:extLst xmlns:a="http://schemas.openxmlformats.org/drawingml/2006/main">
              <a:ext uri="{FF2B5EF4-FFF2-40B4-BE49-F238E27FC236}">
                <a16:creationId xmlns:a16="http://schemas.microsoft.com/office/drawing/2014/main" id="{19579516-BB6B-4F80-A716-A9FAA88EEE39}"/>
              </a:ext>
            </a:extLst>
          </p:cNvPr>
          <p:cNvSpPr>
            <a:spLocks xmlns:a="http://schemas.openxmlformats.org/drawingml/2006/main" noGrp="1"/>
          </p:cNvSpPr>
          <p:nvPr/>
        </p:nvSpPr>
        <p:spPr>
          <a:xfrm xmlns:a="http://schemas.openxmlformats.org/drawingml/2006/main">
            <a:off x="3448050" y="2181225"/>
            <a:ext cx="2476500" cy="1619250"/>
          </a:xfrm>
          <a:prstGeom xmlns:a="http://schemas.openxmlformats.org/drawingml/2006/main" prst="rect">
            <a:avLst/>
          </a:prstGeom>
          <a:solidFill xmlns:a="http://schemas.openxmlformats.org/drawingml/2006/main">
            <a:srgbClr val="F4EEE6"/>
          </a:solidFill>
          <a:ln xmlns:a="http://schemas.openxmlformats.org/drawingml/2006/main" w="9525">
            <a:solidFill>
              <a:srgbClr val="4B182A"/>
            </a:solidFill>
          </a:ln>
        </p:spPr>
      </p:sp>
      <p:sp>
        <p:nvSpPr>
          <p:cNvPr id="9" name="CRM’da saqlash">
            <a:extLst xmlns:a="http://schemas.openxmlformats.org/drawingml/2006/main">
              <a:ext uri="{FF2B5EF4-FFF2-40B4-BE49-F238E27FC236}">
                <a16:creationId xmlns:a16="http://schemas.microsoft.com/office/drawing/2014/main" id="{5E714D1B-823D-45FE-9248-0CD951E73D47}"/>
              </a:ext>
            </a:extLst>
          </p:cNvPr>
          <p:cNvSpPr>
            <a:spLocks xmlns:a="http://schemas.openxmlformats.org/drawingml/2006/main" noGrp="1"/>
          </p:cNvSpPr>
          <p:nvPr/>
        </p:nvSpPr>
        <p:spPr>
          <a:xfrm xmlns:a="http://schemas.openxmlformats.org/drawingml/2006/main">
            <a:off x="3600450" y="2362200"/>
            <a:ext cx="2171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B182A"/>
                </a:solidFill>
                <a:latin typeface="Georgia"/>
                <a:ea typeface="Georgia"/>
                <a:cs typeface="Georgia"/>
              </a:defRPr>
            </a:defPPr>
          </a:lstStyle>
          <a:p xmlns:a="http://schemas.openxmlformats.org/drawingml/2006/main">
            <a:pPr algn="l">
              <a:defRPr sz="1875" b="0">
                <a:solidFill>
                  <a:srgbClr val="4B182A"/>
                </a:solidFill>
                <a:latin typeface="Georgia"/>
                <a:ea typeface="Georgia"/>
                <a:cs typeface="Georgia"/>
              </a:defRPr>
            </a:pPr>
            <a:r>
              <a:rPr sz="1875" b="0">
                <a:solidFill>
                  <a:srgbClr val="4B182A"/>
                </a:solidFill>
                <a:latin typeface="Georgia"/>
                <a:ea typeface="Georgia"/>
                <a:cs typeface="Georgia"/>
              </a:rPr>
              <a:t>CRM’da saqlash</a:t>
            </a:r>
          </a:p>
        </p:txBody>
      </p:sp>
      <p:sp>
        <p:nvSpPr>
          <p:cNvPr id="10" name="So‘rov va holat&#10;bir joyda ko‘rinadi">
            <a:extLst xmlns:a="http://schemas.openxmlformats.org/drawingml/2006/main">
              <a:ext uri="{FF2B5EF4-FFF2-40B4-BE49-F238E27FC236}">
                <a16:creationId xmlns:a16="http://schemas.microsoft.com/office/drawing/2014/main" id="{6C9F270C-51DF-402E-AB7A-7E135B84168C}"/>
              </a:ext>
            </a:extLst>
          </p:cNvPr>
          <p:cNvSpPr>
            <a:spLocks xmlns:a="http://schemas.openxmlformats.org/drawingml/2006/main" noGrp="1"/>
          </p:cNvSpPr>
          <p:nvPr/>
        </p:nvSpPr>
        <p:spPr>
          <a:xfrm xmlns:a="http://schemas.openxmlformats.org/drawingml/2006/main">
            <a:off x="3600450" y="3067050"/>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75656D"/>
                </a:solidFill>
                <a:latin typeface="Arial"/>
                <a:ea typeface="Arial"/>
                <a:cs typeface="Arial"/>
              </a:defRPr>
            </a:defPPr>
          </a:lstStyle>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So‘rov va holat</a:t>
            </a:r>
          </a:p>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bir joyda ko‘rinadi</a:t>
            </a:r>
          </a:p>
        </p:txBody>
      </p:sp>
      <p:sp>
        <p:nvSpPr>
          <p:cNvPr id="11" name="03">
            <a:extLst xmlns:a="http://schemas.openxmlformats.org/drawingml/2006/main">
              <a:ext uri="{FF2B5EF4-FFF2-40B4-BE49-F238E27FC236}">
                <a16:creationId xmlns:a16="http://schemas.microsoft.com/office/drawing/2014/main" id="{D4BA2126-928D-47B3-AF92-517850E2D4E6}"/>
              </a:ext>
            </a:extLst>
          </p:cNvPr>
          <p:cNvSpPr>
            <a:spLocks xmlns:a="http://schemas.openxmlformats.org/drawingml/2006/main" noGrp="1"/>
          </p:cNvSpPr>
          <p:nvPr/>
        </p:nvSpPr>
        <p:spPr>
          <a:xfrm xmlns:a="http://schemas.openxmlformats.org/drawingml/2006/main">
            <a:off x="6286500" y="1704975"/>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4B182A"/>
                </a:solidFill>
                <a:latin typeface="Georgia"/>
                <a:ea typeface="Georgia"/>
                <a:cs typeface="Georgia"/>
              </a:defRPr>
            </a:defPPr>
          </a:lstStyle>
          <a:p xmlns:a="http://schemas.openxmlformats.org/drawingml/2006/main">
            <a:pPr algn="l">
              <a:defRPr sz="1950" b="0">
                <a:solidFill>
                  <a:srgbClr val="4B182A"/>
                </a:solidFill>
                <a:latin typeface="Georgia"/>
                <a:ea typeface="Georgia"/>
                <a:cs typeface="Georgia"/>
              </a:defRPr>
            </a:pPr>
            <a:r>
              <a:rPr sz="1950" b="0">
                <a:solidFill>
                  <a:srgbClr val="4B182A"/>
                </a:solidFill>
                <a:latin typeface="Georgia"/>
                <a:ea typeface="Georgia"/>
                <a:cs typeface="Georgia"/>
              </a:rPr>
              <a:t>03</a:t>
            </a:r>
          </a:p>
        </p:txBody>
      </p:sp>
      <p:sp>
        <p:nvSpPr>
          <p:cNvPr id="12" name="CRM workflow 3">
            <a:extLst xmlns:a="http://schemas.openxmlformats.org/drawingml/2006/main">
              <a:ext uri="{FF2B5EF4-FFF2-40B4-BE49-F238E27FC236}">
                <a16:creationId xmlns:a16="http://schemas.microsoft.com/office/drawing/2014/main" id="{11AB0CBA-8A59-41E1-8322-E2980C04A19C}"/>
              </a:ext>
            </a:extLst>
          </p:cNvPr>
          <p:cNvSpPr>
            <a:spLocks xmlns:a="http://schemas.openxmlformats.org/drawingml/2006/main" noGrp="1"/>
          </p:cNvSpPr>
          <p:nvPr/>
        </p:nvSpPr>
        <p:spPr>
          <a:xfrm xmlns:a="http://schemas.openxmlformats.org/drawingml/2006/main">
            <a:off x="6286500" y="2181225"/>
            <a:ext cx="2476500" cy="1619250"/>
          </a:xfrm>
          <a:prstGeom xmlns:a="http://schemas.openxmlformats.org/drawingml/2006/main" prst="rect">
            <a:avLst/>
          </a:prstGeom>
          <a:solidFill xmlns:a="http://schemas.openxmlformats.org/drawingml/2006/main">
            <a:srgbClr val="F4EEE6"/>
          </a:solidFill>
          <a:ln xmlns:a="http://schemas.openxmlformats.org/drawingml/2006/main" w="9525">
            <a:solidFill>
              <a:srgbClr val="4B182A"/>
            </a:solidFill>
          </a:ln>
        </p:spPr>
      </p:sp>
      <p:sp>
        <p:nvSpPr>
          <p:cNvPr id="13" name="Telegram xabari">
            <a:extLst xmlns:a="http://schemas.openxmlformats.org/drawingml/2006/main">
              <a:ext uri="{FF2B5EF4-FFF2-40B4-BE49-F238E27FC236}">
                <a16:creationId xmlns:a16="http://schemas.microsoft.com/office/drawing/2014/main" id="{262024FF-175D-4F6A-839D-76B031050703}"/>
              </a:ext>
            </a:extLst>
          </p:cNvPr>
          <p:cNvSpPr>
            <a:spLocks xmlns:a="http://schemas.openxmlformats.org/drawingml/2006/main" noGrp="1"/>
          </p:cNvSpPr>
          <p:nvPr/>
        </p:nvSpPr>
        <p:spPr>
          <a:xfrm xmlns:a="http://schemas.openxmlformats.org/drawingml/2006/main">
            <a:off x="6438900" y="2362200"/>
            <a:ext cx="2171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B182A"/>
                </a:solidFill>
                <a:latin typeface="Georgia"/>
                <a:ea typeface="Georgia"/>
                <a:cs typeface="Georgia"/>
              </a:defRPr>
            </a:defPPr>
          </a:lstStyle>
          <a:p xmlns:a="http://schemas.openxmlformats.org/drawingml/2006/main">
            <a:pPr algn="l">
              <a:defRPr sz="1875" b="0">
                <a:solidFill>
                  <a:srgbClr val="4B182A"/>
                </a:solidFill>
                <a:latin typeface="Georgia"/>
                <a:ea typeface="Georgia"/>
                <a:cs typeface="Georgia"/>
              </a:defRPr>
            </a:pPr>
            <a:r>
              <a:rPr sz="1875" b="0">
                <a:solidFill>
                  <a:srgbClr val="4B182A"/>
                </a:solidFill>
                <a:latin typeface="Georgia"/>
                <a:ea typeface="Georgia"/>
                <a:cs typeface="Georgia"/>
              </a:rPr>
              <a:t>Telegram xabari</a:t>
            </a:r>
          </a:p>
        </p:txBody>
      </p:sp>
      <p:sp>
        <p:nvSpPr>
          <p:cNvPr id="14" name="Barcha zayavkalar&#10;mas’ul xodimlarga">
            <a:extLst xmlns:a="http://schemas.openxmlformats.org/drawingml/2006/main">
              <a:ext uri="{FF2B5EF4-FFF2-40B4-BE49-F238E27FC236}">
                <a16:creationId xmlns:a16="http://schemas.microsoft.com/office/drawing/2014/main" id="{9477E377-9F1F-40D2-A8A1-2FD1F0B805C4}"/>
              </a:ext>
            </a:extLst>
          </p:cNvPr>
          <p:cNvSpPr>
            <a:spLocks xmlns:a="http://schemas.openxmlformats.org/drawingml/2006/main" noGrp="1"/>
          </p:cNvSpPr>
          <p:nvPr/>
        </p:nvSpPr>
        <p:spPr>
          <a:xfrm xmlns:a="http://schemas.openxmlformats.org/drawingml/2006/main">
            <a:off x="6438900" y="3067050"/>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75656D"/>
                </a:solidFill>
                <a:latin typeface="Arial"/>
                <a:ea typeface="Arial"/>
                <a:cs typeface="Arial"/>
              </a:defRPr>
            </a:defPPr>
          </a:lstStyle>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Barcha zayavkalar</a:t>
            </a:r>
          </a:p>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mas’ul xodimlarga</a:t>
            </a:r>
          </a:p>
        </p:txBody>
      </p:sp>
      <p:sp>
        <p:nvSpPr>
          <p:cNvPr id="15" name="04">
            <a:extLst xmlns:a="http://schemas.openxmlformats.org/drawingml/2006/main">
              <a:ext uri="{FF2B5EF4-FFF2-40B4-BE49-F238E27FC236}">
                <a16:creationId xmlns:a16="http://schemas.microsoft.com/office/drawing/2014/main" id="{6368DF1D-15C5-4188-BEB7-8BF46E42878D}"/>
              </a:ext>
            </a:extLst>
          </p:cNvPr>
          <p:cNvSpPr>
            <a:spLocks xmlns:a="http://schemas.openxmlformats.org/drawingml/2006/main" noGrp="1"/>
          </p:cNvSpPr>
          <p:nvPr/>
        </p:nvSpPr>
        <p:spPr>
          <a:xfrm xmlns:a="http://schemas.openxmlformats.org/drawingml/2006/main">
            <a:off x="9124950" y="1704975"/>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4B182A"/>
                </a:solidFill>
                <a:latin typeface="Georgia"/>
                <a:ea typeface="Georgia"/>
                <a:cs typeface="Georgia"/>
              </a:defRPr>
            </a:defPPr>
          </a:lstStyle>
          <a:p xmlns:a="http://schemas.openxmlformats.org/drawingml/2006/main">
            <a:pPr algn="l">
              <a:defRPr sz="1950" b="0">
                <a:solidFill>
                  <a:srgbClr val="4B182A"/>
                </a:solidFill>
                <a:latin typeface="Georgia"/>
                <a:ea typeface="Georgia"/>
                <a:cs typeface="Georgia"/>
              </a:defRPr>
            </a:pPr>
            <a:r>
              <a:rPr sz="1950" b="0">
                <a:solidFill>
                  <a:srgbClr val="4B182A"/>
                </a:solidFill>
                <a:latin typeface="Georgia"/>
                <a:ea typeface="Georgia"/>
                <a:cs typeface="Georgia"/>
              </a:rPr>
              <a:t>04</a:t>
            </a:r>
          </a:p>
        </p:txBody>
      </p:sp>
      <p:sp>
        <p:nvSpPr>
          <p:cNvPr id="16" name="CRM workflow 4">
            <a:extLst xmlns:a="http://schemas.openxmlformats.org/drawingml/2006/main">
              <a:ext uri="{FF2B5EF4-FFF2-40B4-BE49-F238E27FC236}">
                <a16:creationId xmlns:a16="http://schemas.microsoft.com/office/drawing/2014/main" id="{FF74DED4-E904-40DC-A852-0DC13384645E}"/>
              </a:ext>
            </a:extLst>
          </p:cNvPr>
          <p:cNvSpPr>
            <a:spLocks xmlns:a="http://schemas.openxmlformats.org/drawingml/2006/main" noGrp="1"/>
          </p:cNvSpPr>
          <p:nvPr/>
        </p:nvSpPr>
        <p:spPr>
          <a:xfrm xmlns:a="http://schemas.openxmlformats.org/drawingml/2006/main">
            <a:off x="9124950" y="2181225"/>
            <a:ext cx="2476500" cy="1619250"/>
          </a:xfrm>
          <a:prstGeom xmlns:a="http://schemas.openxmlformats.org/drawingml/2006/main" prst="rect">
            <a:avLst/>
          </a:prstGeom>
          <a:solidFill xmlns:a="http://schemas.openxmlformats.org/drawingml/2006/main">
            <a:srgbClr val="F4EEE6"/>
          </a:solidFill>
          <a:ln xmlns:a="http://schemas.openxmlformats.org/drawingml/2006/main" w="9525">
            <a:solidFill>
              <a:srgbClr val="4B182A"/>
            </a:solidFill>
          </a:ln>
        </p:spPr>
      </p:sp>
      <p:sp>
        <p:nvSpPr>
          <p:cNvPr id="17" name="Administrator amali">
            <a:extLst xmlns:a="http://schemas.openxmlformats.org/drawingml/2006/main">
              <a:ext uri="{FF2B5EF4-FFF2-40B4-BE49-F238E27FC236}">
                <a16:creationId xmlns:a16="http://schemas.microsoft.com/office/drawing/2014/main" id="{1F5F6541-C8D9-48B3-8869-C0BD8B187CB4}"/>
              </a:ext>
            </a:extLst>
          </p:cNvPr>
          <p:cNvSpPr>
            <a:spLocks xmlns:a="http://schemas.openxmlformats.org/drawingml/2006/main" noGrp="1"/>
          </p:cNvSpPr>
          <p:nvPr/>
        </p:nvSpPr>
        <p:spPr>
          <a:xfrm xmlns:a="http://schemas.openxmlformats.org/drawingml/2006/main">
            <a:off x="9277350" y="2362200"/>
            <a:ext cx="2171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B182A"/>
                </a:solidFill>
                <a:latin typeface="Georgia"/>
                <a:ea typeface="Georgia"/>
                <a:cs typeface="Georgia"/>
              </a:defRPr>
            </a:defPPr>
          </a:lstStyle>
          <a:p xmlns:a="http://schemas.openxmlformats.org/drawingml/2006/main">
            <a:pPr algn="l">
              <a:defRPr sz="1875" b="0">
                <a:solidFill>
                  <a:srgbClr val="4B182A"/>
                </a:solidFill>
                <a:latin typeface="Georgia"/>
                <a:ea typeface="Georgia"/>
                <a:cs typeface="Georgia"/>
              </a:defRPr>
            </a:pPr>
            <a:r>
              <a:rPr sz="1875" b="0">
                <a:solidFill>
                  <a:srgbClr val="4B182A"/>
                </a:solidFill>
                <a:latin typeface="Georgia"/>
                <a:ea typeface="Georgia"/>
                <a:cs typeface="Georgia"/>
              </a:rPr>
              <a:t>Administrator amali</a:t>
            </a:r>
          </a:p>
        </p:txBody>
      </p:sp>
      <p:sp>
        <p:nvSpPr>
          <p:cNvPr id="18" name="Tasdiqlash yoki&#10;mijozga qo‘ng‘iroq">
            <a:extLst xmlns:a="http://schemas.openxmlformats.org/drawingml/2006/main">
              <a:ext uri="{FF2B5EF4-FFF2-40B4-BE49-F238E27FC236}">
                <a16:creationId xmlns:a16="http://schemas.microsoft.com/office/drawing/2014/main" id="{4197154F-B55F-4555-99F1-A5D988B38864}"/>
              </a:ext>
            </a:extLst>
          </p:cNvPr>
          <p:cNvSpPr>
            <a:spLocks xmlns:a="http://schemas.openxmlformats.org/drawingml/2006/main" noGrp="1"/>
          </p:cNvSpPr>
          <p:nvPr/>
        </p:nvSpPr>
        <p:spPr>
          <a:xfrm xmlns:a="http://schemas.openxmlformats.org/drawingml/2006/main">
            <a:off x="9277350" y="3067050"/>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75656D"/>
                </a:solidFill>
                <a:latin typeface="Arial"/>
                <a:ea typeface="Arial"/>
                <a:cs typeface="Arial"/>
              </a:defRPr>
            </a:defPPr>
          </a:lstStyle>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Tasdiqlash yoki</a:t>
            </a:r>
          </a:p>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mijozga qo‘ng‘iroq</a:t>
            </a:r>
          </a:p>
        </p:txBody>
      </p:sp>
      <p:sp>
        <p:nvSpPr>
          <p:cNvPr id="22" name="Bot ichida boshqarish">
            <a:extLst xmlns:a="http://schemas.openxmlformats.org/drawingml/2006/main">
              <a:ext uri="{FF2B5EF4-FFF2-40B4-BE49-F238E27FC236}">
                <a16:creationId xmlns:a16="http://schemas.microsoft.com/office/drawing/2014/main" id="{16597B52-076C-4958-8FD5-0A6558CCB5A7}"/>
              </a:ext>
            </a:extLst>
          </p:cNvPr>
          <p:cNvSpPr>
            <a:spLocks xmlns:a="http://schemas.openxmlformats.org/drawingml/2006/main" noGrp="1"/>
          </p:cNvSpPr>
          <p:nvPr/>
        </p:nvSpPr>
        <p:spPr>
          <a:xfrm xmlns:a="http://schemas.openxmlformats.org/drawingml/2006/main">
            <a:off x="609600" y="4352925"/>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B182A"/>
                </a:solidFill>
                <a:latin typeface="Georgia"/>
                <a:ea typeface="Georgia"/>
                <a:cs typeface="Georgia"/>
              </a:defRPr>
            </a:defPPr>
          </a:lstStyle>
          <a:p xmlns:a="http://schemas.openxmlformats.org/drawingml/2006/main">
            <a:pPr algn="l">
              <a:defRPr sz="2175" b="0">
                <a:solidFill>
                  <a:srgbClr val="4B182A"/>
                </a:solidFill>
                <a:latin typeface="Georgia"/>
                <a:ea typeface="Georgia"/>
                <a:cs typeface="Georgia"/>
              </a:defRPr>
            </a:pPr>
            <a:r>
              <a:rPr sz="2175" b="0">
                <a:solidFill>
                  <a:srgbClr val="4B182A"/>
                </a:solidFill>
                <a:latin typeface="Georgia"/>
                <a:ea typeface="Georgia"/>
                <a:cs typeface="Georgia"/>
              </a:rPr>
              <a:t>Bot ichida boshqarish</a:t>
            </a:r>
          </a:p>
        </p:txBody>
      </p:sp>
      <p:sp>
        <p:nvSpPr>
          <p:cNvPr id="23" name="«Tasdiqlash» va «Bog‘lanildi» amallari.&#10;Telefon or">
            <a:extLst xmlns:a="http://schemas.openxmlformats.org/drawingml/2006/main">
              <a:ext uri="{FF2B5EF4-FFF2-40B4-BE49-F238E27FC236}">
                <a16:creationId xmlns:a16="http://schemas.microsoft.com/office/drawing/2014/main" id="{C1E717CD-5498-4108-ACCA-EC652B0DD89B}"/>
              </a:ext>
            </a:extLst>
          </p:cNvPr>
          <p:cNvSpPr>
            <a:spLocks xmlns:a="http://schemas.openxmlformats.org/drawingml/2006/main" noGrp="1"/>
          </p:cNvSpPr>
          <p:nvPr/>
        </p:nvSpPr>
        <p:spPr>
          <a:xfrm xmlns:a="http://schemas.openxmlformats.org/drawingml/2006/main">
            <a:off x="609600" y="4867275"/>
            <a:ext cx="5429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75656D"/>
                </a:solidFill>
                <a:latin typeface="Arial"/>
                <a:ea typeface="Arial"/>
                <a:cs typeface="Arial"/>
              </a:defRPr>
            </a:defPPr>
          </a:lstStyle>
          <a:p xmlns:a="http://schemas.openxmlformats.org/drawingml/2006/main">
            <a:pPr algn="l">
              <a:defRPr sz="1800" b="0">
                <a:solidFill>
                  <a:srgbClr val="75656D"/>
                </a:solidFill>
                <a:latin typeface="Arial"/>
                <a:ea typeface="Arial"/>
                <a:cs typeface="Arial"/>
              </a:defRPr>
            </a:pPr>
            <a:r>
              <a:rPr sz="1800" b="0">
                <a:solidFill>
                  <a:srgbClr val="75656D"/>
                </a:solidFill>
                <a:latin typeface="Arial"/>
                <a:ea typeface="Arial"/>
                <a:cs typeface="Arial"/>
              </a:rPr>
              <a:t>«Tasdiqlash» va «Bog‘lanildi» amallari.</a:t>
            </a:r>
          </a:p>
          <a:p xmlns:a="http://schemas.openxmlformats.org/drawingml/2006/main">
            <a:pPr algn="l">
              <a:defRPr sz="1800" b="0">
                <a:solidFill>
                  <a:srgbClr val="75656D"/>
                </a:solidFill>
                <a:latin typeface="Arial"/>
                <a:ea typeface="Arial"/>
                <a:cs typeface="Arial"/>
              </a:defRPr>
            </a:pPr>
            <a:r>
              <a:rPr sz="1800" b="0">
                <a:solidFill>
                  <a:srgbClr val="75656D"/>
                </a:solidFill>
                <a:latin typeface="Arial"/>
                <a:ea typeface="Arial"/>
                <a:cs typeface="Arial"/>
              </a:rPr>
              <a:t>Telefon orqali mijoz bilan aloqa.</a:t>
            </a:r>
          </a:p>
          <a:p xmlns:a="http://schemas.openxmlformats.org/drawingml/2006/main">
            <a:pPr algn="l">
              <a:defRPr sz="1800" b="0">
                <a:solidFill>
                  <a:srgbClr val="75656D"/>
                </a:solidFill>
                <a:latin typeface="Arial"/>
                <a:ea typeface="Arial"/>
                <a:cs typeface="Arial"/>
              </a:defRPr>
            </a:pPr>
            <a:r>
              <a:rPr sz="1800" b="0">
                <a:solidFill>
                  <a:srgbClr val="75656D"/>
                </a:solidFill>
                <a:latin typeface="Arial"/>
                <a:ea typeface="Arial"/>
                <a:cs typeface="Arial"/>
              </a:rPr>
              <a:t>Guruh yoki shaxsiy chatlarga xabar.</a:t>
            </a:r>
          </a:p>
        </p:txBody>
      </p:sp>
      <p:sp>
        <p:nvSpPr>
          <p:cNvPr id="24" name="Holat CRM’da yangilanadi">
            <a:extLst xmlns:a="http://schemas.openxmlformats.org/drawingml/2006/main">
              <a:ext uri="{FF2B5EF4-FFF2-40B4-BE49-F238E27FC236}">
                <a16:creationId xmlns:a16="http://schemas.microsoft.com/office/drawing/2014/main" id="{A6147ABB-F99D-4F0A-9DF1-DEBD5818F2FC}"/>
              </a:ext>
            </a:extLst>
          </p:cNvPr>
          <p:cNvSpPr>
            <a:spLocks xmlns:a="http://schemas.openxmlformats.org/drawingml/2006/main" noGrp="1"/>
          </p:cNvSpPr>
          <p:nvPr/>
        </p:nvSpPr>
        <p:spPr>
          <a:xfrm xmlns:a="http://schemas.openxmlformats.org/drawingml/2006/main">
            <a:off x="6572250" y="43529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B182A"/>
                </a:solidFill>
                <a:latin typeface="Georgia"/>
                <a:ea typeface="Georgia"/>
                <a:cs typeface="Georgia"/>
              </a:defRPr>
            </a:defPPr>
          </a:lstStyle>
          <a:p xmlns:a="http://schemas.openxmlformats.org/drawingml/2006/main">
            <a:pPr algn="l">
              <a:defRPr sz="2175" b="0">
                <a:solidFill>
                  <a:srgbClr val="4B182A"/>
                </a:solidFill>
                <a:latin typeface="Georgia"/>
                <a:ea typeface="Georgia"/>
                <a:cs typeface="Georgia"/>
              </a:defRPr>
            </a:pPr>
            <a:r>
              <a:rPr sz="2175" b="0">
                <a:solidFill>
                  <a:srgbClr val="4B182A"/>
                </a:solidFill>
                <a:latin typeface="Georgia"/>
                <a:ea typeface="Georgia"/>
                <a:cs typeface="Georgia"/>
              </a:rPr>
              <a:t>Holat CRM’da yangilanadi</a:t>
            </a:r>
          </a:p>
        </p:txBody>
      </p:sp>
      <p:sp>
        <p:nvSpPr>
          <p:cNvPr id="25" name="Botdagi amal admin panelda ham ko‘rinadi.&#10;Holat, i">
            <a:extLst xmlns:a="http://schemas.openxmlformats.org/drawingml/2006/main">
              <a:ext uri="{FF2B5EF4-FFF2-40B4-BE49-F238E27FC236}">
                <a16:creationId xmlns:a16="http://schemas.microsoft.com/office/drawing/2014/main" id="{9D3AA230-58EC-4556-BDCB-25AACB8FBD53}"/>
              </a:ext>
            </a:extLst>
          </p:cNvPr>
          <p:cNvSpPr>
            <a:spLocks xmlns:a="http://schemas.openxmlformats.org/drawingml/2006/main" noGrp="1"/>
          </p:cNvSpPr>
          <p:nvPr/>
        </p:nvSpPr>
        <p:spPr>
          <a:xfrm xmlns:a="http://schemas.openxmlformats.org/drawingml/2006/main">
            <a:off x="6572250" y="4867275"/>
            <a:ext cx="5048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75656D"/>
                </a:solidFill>
                <a:latin typeface="Arial"/>
                <a:ea typeface="Arial"/>
                <a:cs typeface="Arial"/>
              </a:defRPr>
            </a:defPPr>
          </a:lstStyle>
          <a:p xmlns:a="http://schemas.openxmlformats.org/drawingml/2006/main">
            <a:pPr algn="l">
              <a:defRPr sz="1800" b="0">
                <a:solidFill>
                  <a:srgbClr val="75656D"/>
                </a:solidFill>
                <a:latin typeface="Arial"/>
                <a:ea typeface="Arial"/>
                <a:cs typeface="Arial"/>
              </a:defRPr>
            </a:pPr>
            <a:r>
              <a:rPr sz="1800" b="0">
                <a:solidFill>
                  <a:srgbClr val="75656D"/>
                </a:solidFill>
                <a:latin typeface="Arial"/>
                <a:ea typeface="Arial"/>
                <a:cs typeface="Arial"/>
              </a:rPr>
              <a:t>Botdagi amal admin panelda ham ko‘rinadi.</a:t>
            </a:r>
          </a:p>
          <a:p xmlns:a="http://schemas.openxmlformats.org/drawingml/2006/main">
            <a:pPr algn="l">
              <a:defRPr sz="1800" b="0">
                <a:solidFill>
                  <a:srgbClr val="75656D"/>
                </a:solidFill>
                <a:latin typeface="Arial"/>
                <a:ea typeface="Arial"/>
                <a:cs typeface="Arial"/>
              </a:defRPr>
            </a:pPr>
            <a:r>
              <a:rPr sz="1800" b="0">
                <a:solidFill>
                  <a:srgbClr val="75656D"/>
                </a:solidFill>
                <a:latin typeface="Arial"/>
                <a:ea typeface="Arial"/>
                <a:cs typeface="Arial"/>
              </a:rPr>
              <a:t>Holat, izoh va mas’ul xodimni</a:t>
            </a:r>
          </a:p>
          <a:p xmlns:a="http://schemas.openxmlformats.org/drawingml/2006/main">
            <a:pPr algn="l">
              <a:defRPr sz="1800" b="0">
                <a:solidFill>
                  <a:srgbClr val="75656D"/>
                </a:solidFill>
                <a:latin typeface="Arial"/>
                <a:ea typeface="Arial"/>
                <a:cs typeface="Arial"/>
              </a:defRPr>
            </a:pPr>
            <a:r>
              <a:rPr sz="1800" b="0">
                <a:solidFill>
                  <a:srgbClr val="75656D"/>
                </a:solidFill>
                <a:latin typeface="Arial"/>
                <a:ea typeface="Arial"/>
                <a:cs typeface="Arial"/>
              </a:rPr>
              <a:t>kuzatish mumkin.</a:t>
            </a:r>
          </a:p>
        </p:txBody>
      </p:sp>
      <p:sp>
        <p:nvSpPr>
          <p:cNvPr id="26" name="Paket doirasida ishlab beriladi. Hozirgi demo botg">
            <a:extLst xmlns:a="http://schemas.openxmlformats.org/drawingml/2006/main">
              <a:ext uri="{FF2B5EF4-FFF2-40B4-BE49-F238E27FC236}">
                <a16:creationId xmlns:a16="http://schemas.microsoft.com/office/drawing/2014/main" id="{700B8F54-7067-4B13-B810-3CDB803BBFE9}"/>
              </a:ext>
            </a:extLst>
          </p:cNvPr>
          <p:cNvSpPr>
            <a:spLocks xmlns:a="http://schemas.openxmlformats.org/drawingml/2006/main" noGrp="1"/>
          </p:cNvSpPr>
          <p:nvPr/>
        </p:nvSpPr>
        <p:spPr>
          <a:xfrm xmlns:a="http://schemas.openxmlformats.org/drawingml/2006/main">
            <a:off x="647700" y="62484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4B182A"/>
                </a:solidFill>
                <a:latin typeface="Arial"/>
                <a:ea typeface="Arial"/>
                <a:cs typeface="Arial"/>
              </a:defRPr>
            </a:defPPr>
          </a:lstStyle>
          <a:p xmlns:a="http://schemas.openxmlformats.org/drawingml/2006/main">
            <a:pPr algn="l">
              <a:defRPr sz="1500" b="0">
                <a:solidFill>
                  <a:srgbClr val="4B182A"/>
                </a:solidFill>
                <a:latin typeface="Arial"/>
                <a:ea typeface="Arial"/>
                <a:cs typeface="Arial"/>
              </a:defRPr>
            </a:pPr>
            <a:r>
              <a:rPr sz="1500" b="0">
                <a:solidFill>
                  <a:srgbClr val="4B182A"/>
                </a:solidFill>
                <a:latin typeface="Arial"/>
                <a:ea typeface="Arial"/>
                <a:cs typeface="Arial"/>
              </a:rPr>
              <a:t>Paket doirasida ishlab beriladi. Hozirgi demo botga ulanmagan va statistikasi namuna.</a:t>
            </a:r>
          </a:p>
        </p:txBody>
      </p:sp>
    </p:spTree>
    <p:extLst>
      <p:ext uri="{BB962C8B-B14F-4D97-AF65-F5344CB8AC3E}">
        <p14:creationId xmlns:p14="http://schemas.microsoft.com/office/powerpoint/2010/main" val="2122874724"/>
      </p:ext>
    </p:extLst>
  </p:cSld>
</p:sld>
</file>

<file path=ppt/slides/slide6.xml><?xml version="1.0" encoding="utf-8"?>
<p:sld xmlns:p="http://schemas.openxmlformats.org/presentationml/2006/main">
  <p:cSld>
    <p:bg>
      <p:bgPr>
        <a:solidFill xmlns:a="http://schemas.openxmlformats.org/drawingml/2006/main">
          <a:srgbClr val="4B182A"/>
        </a:solidFill>
      </p:bgPr>
    </p:bg>
    <p:spTree>
      <p:nvGrpSpPr>
        <p:cNvPr id="1" name=""/>
        <p:cNvGrpSpPr/>
        <p:nvPr/>
      </p:nvGrpSpPr>
      <p:grpSpPr>
        <a:xfrm xmlns:a="http://schemas.openxmlformats.org/drawingml/2006/main"/>
      </p:grpSpPr>
      <p:sp>
        <p:nvSpPr>
          <p:cNvPr id="17" name="Taklif va ishga tushirish">
            <a:extLst xmlns:a="http://schemas.openxmlformats.org/drawingml/2006/main">
              <a:ext uri="{FF2B5EF4-FFF2-40B4-BE49-F238E27FC236}">
                <a16:creationId xmlns:a16="http://schemas.microsoft.com/office/drawing/2014/main" id="{7A9B3B0F-96D1-4402-B214-F0CA810F926B}"/>
              </a:ext>
            </a:extLst>
          </p:cNvPr>
          <p:cNvSpPr>
            <a:spLocks xmlns:a="http://schemas.openxmlformats.org/drawingml/2006/main" noGrp="1"/>
          </p:cNvSpPr>
          <p:nvPr/>
        </p:nvSpPr>
        <p:spPr>
          <a:xfrm xmlns:a="http://schemas.openxmlformats.org/drawingml/2006/main">
            <a:off x="609600" y="41910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25" b="0">
                <a:solidFill>
                  <a:srgbClr val="F4EEE6"/>
                </a:solidFill>
                <a:latin typeface="Georgia"/>
                <a:ea typeface="Georgia"/>
                <a:cs typeface="Georgia"/>
              </a:defRPr>
            </a:defPPr>
          </a:lstStyle>
          <a:p xmlns:a="http://schemas.openxmlformats.org/drawingml/2006/main">
            <a:pPr algn="l">
              <a:defRPr sz="3825" b="0">
                <a:solidFill>
                  <a:srgbClr val="F4EEE6"/>
                </a:solidFill>
                <a:latin typeface="Georgia"/>
                <a:ea typeface="Georgia"/>
                <a:cs typeface="Georgia"/>
              </a:defRPr>
            </a:pPr>
            <a:r>
              <a:rPr sz="3825" b="0">
                <a:solidFill>
                  <a:srgbClr val="F4EEE6"/>
                </a:solidFill>
                <a:latin typeface="Georgia"/>
                <a:ea typeface="Georgia"/>
                <a:cs typeface="Georgia"/>
              </a:rPr>
              <a:t>Taklif va ishga tushirish</a:t>
            </a:r>
          </a:p>
        </p:txBody>
      </p:sp>
      <p:sp>
        <p:nvSpPr>
          <p:cNvPr id="2" name="$250">
            <a:extLst xmlns:a="http://schemas.openxmlformats.org/drawingml/2006/main">
              <a:ext uri="{FF2B5EF4-FFF2-40B4-BE49-F238E27FC236}">
                <a16:creationId xmlns:a16="http://schemas.microsoft.com/office/drawing/2014/main" id="{02A0DD29-8B03-4D07-AD7D-E73497D7FCFD}"/>
              </a:ext>
            </a:extLst>
          </p:cNvPr>
          <p:cNvSpPr>
            <a:spLocks xmlns:a="http://schemas.openxmlformats.org/drawingml/2006/main" noGrp="1"/>
          </p:cNvSpPr>
          <p:nvPr/>
        </p:nvSpPr>
        <p:spPr>
          <a:xfrm xmlns:a="http://schemas.openxmlformats.org/drawingml/2006/main">
            <a:off x="609600" y="1266825"/>
            <a:ext cx="5762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950" b="0">
                <a:solidFill>
                  <a:srgbClr val="F4EEE6"/>
                </a:solidFill>
                <a:latin typeface="Georgia"/>
                <a:ea typeface="Georgia"/>
                <a:cs typeface="Georgia"/>
              </a:defRPr>
            </a:defPPr>
          </a:lstStyle>
          <a:p xmlns:a="http://schemas.openxmlformats.org/drawingml/2006/main">
            <a:pPr algn="l">
              <a:defRPr sz="7950" b="0">
                <a:solidFill>
                  <a:srgbClr val="F4EEE6"/>
                </a:solidFill>
                <a:latin typeface="Georgia"/>
                <a:ea typeface="Georgia"/>
                <a:cs typeface="Georgia"/>
              </a:defRPr>
            </a:pPr>
            <a:r>
              <a:rPr sz="7950" b="0">
                <a:solidFill>
                  <a:srgbClr val="F4EEE6"/>
                </a:solidFill>
                <a:latin typeface="Georgia"/>
                <a:ea typeface="Georgia"/>
                <a:cs typeface="Georgia"/>
              </a:rPr>
              <a:t>$250</a:t>
            </a:r>
          </a:p>
        </p:txBody>
      </p:sp>
      <p:sp>
        <p:nvSpPr>
          <p:cNvPr id="3" name="Bir martalik ishlab chiqish narxi">
            <a:extLst xmlns:a="http://schemas.openxmlformats.org/drawingml/2006/main">
              <a:ext uri="{FF2B5EF4-FFF2-40B4-BE49-F238E27FC236}">
                <a16:creationId xmlns:a16="http://schemas.microsoft.com/office/drawing/2014/main" id="{0623B3A8-AE52-499E-B947-6C01FE0009B0}"/>
              </a:ext>
            </a:extLst>
          </p:cNvPr>
          <p:cNvSpPr>
            <a:spLocks xmlns:a="http://schemas.openxmlformats.org/drawingml/2006/main" noGrp="1"/>
          </p:cNvSpPr>
          <p:nvPr/>
        </p:nvSpPr>
        <p:spPr>
          <a:xfrm xmlns:a="http://schemas.openxmlformats.org/drawingml/2006/main">
            <a:off x="647700" y="2657475"/>
            <a:ext cx="6429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DDBCAF"/>
                </a:solidFill>
                <a:latin typeface="Arial"/>
                <a:ea typeface="Arial"/>
                <a:cs typeface="Arial"/>
              </a:defRPr>
            </a:defPPr>
          </a:lstStyle>
          <a:p xmlns:a="http://schemas.openxmlformats.org/drawingml/2006/main">
            <a:pPr algn="l">
              <a:defRPr sz="1950" b="0">
                <a:solidFill>
                  <a:srgbClr val="DDBCAF"/>
                </a:solidFill>
                <a:latin typeface="Arial"/>
                <a:ea typeface="Arial"/>
                <a:cs typeface="Arial"/>
              </a:defRPr>
            </a:pPr>
            <a:r>
              <a:rPr sz="1950" b="0">
                <a:solidFill>
                  <a:srgbClr val="DDBCAF"/>
                </a:solidFill>
                <a:latin typeface="Arial"/>
                <a:ea typeface="Arial"/>
                <a:cs typeface="Arial"/>
              </a:rPr>
              <a:t>Bir martalik ishlab chiqish narxi</a:t>
            </a:r>
          </a:p>
        </p:txBody>
      </p:sp>
      <p:sp>
        <p:nvSpPr>
          <p:cNvPr id="4" name="Sayt, admin panel, CRM va Telegram bot">
            <a:extLst xmlns:a="http://schemas.openxmlformats.org/drawingml/2006/main">
              <a:ext uri="{FF2B5EF4-FFF2-40B4-BE49-F238E27FC236}">
                <a16:creationId xmlns:a16="http://schemas.microsoft.com/office/drawing/2014/main" id="{F56CE5C9-5408-4E80-99C7-24FB4FBEB1F5}"/>
              </a:ext>
            </a:extLst>
          </p:cNvPr>
          <p:cNvSpPr>
            <a:spLocks xmlns:a="http://schemas.openxmlformats.org/drawingml/2006/main" noGrp="1"/>
          </p:cNvSpPr>
          <p:nvPr/>
        </p:nvSpPr>
        <p:spPr>
          <a:xfrm xmlns:a="http://schemas.openxmlformats.org/drawingml/2006/main">
            <a:off x="647700" y="3133725"/>
            <a:ext cx="647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4EEE6"/>
                </a:solidFill>
                <a:latin typeface="Arial"/>
                <a:ea typeface="Arial"/>
                <a:cs typeface="Arial"/>
              </a:defRPr>
            </a:defPPr>
          </a:lstStyle>
          <a:p xmlns:a="http://schemas.openxmlformats.org/drawingml/2006/main">
            <a:pPr algn="l">
              <a:defRPr sz="2025" b="0">
                <a:solidFill>
                  <a:srgbClr val="F4EEE6"/>
                </a:solidFill>
                <a:latin typeface="Arial"/>
                <a:ea typeface="Arial"/>
                <a:cs typeface="Arial"/>
              </a:defRPr>
            </a:pPr>
            <a:r>
              <a:rPr sz="2025" b="0">
                <a:solidFill>
                  <a:srgbClr val="F4EEE6"/>
                </a:solidFill>
                <a:latin typeface="Arial"/>
                <a:ea typeface="Arial"/>
                <a:cs typeface="Arial"/>
              </a:rPr>
              <a:t>Sayt, admin panel, CRM va Telegram bot</a:t>
            </a:r>
          </a:p>
        </p:txBody>
      </p:sp>
      <p:sp>
        <p:nvSpPr>
          <p:cNvPr id="5" name="Ishga tushgach 1 oy bepul">
            <a:extLst xmlns:a="http://schemas.openxmlformats.org/drawingml/2006/main">
              <a:ext uri="{FF2B5EF4-FFF2-40B4-BE49-F238E27FC236}">
                <a16:creationId xmlns:a16="http://schemas.microsoft.com/office/drawing/2014/main" id="{87EA258A-BDF1-44AB-9403-D555CB3B46B5}"/>
              </a:ext>
            </a:extLst>
          </p:cNvPr>
          <p:cNvSpPr>
            <a:spLocks xmlns:a="http://schemas.openxmlformats.org/drawingml/2006/main" noGrp="1"/>
          </p:cNvSpPr>
          <p:nvPr/>
        </p:nvSpPr>
        <p:spPr>
          <a:xfrm xmlns:a="http://schemas.openxmlformats.org/drawingml/2006/main">
            <a:off x="647700" y="3933825"/>
            <a:ext cx="647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F4EEE6"/>
                </a:solidFill>
                <a:latin typeface="Georgia"/>
                <a:ea typeface="Georgia"/>
                <a:cs typeface="Georgia"/>
              </a:defRPr>
            </a:defPPr>
          </a:lstStyle>
          <a:p xmlns:a="http://schemas.openxmlformats.org/drawingml/2006/main">
            <a:pPr algn="l">
              <a:defRPr sz="2325" b="0">
                <a:solidFill>
                  <a:srgbClr val="F4EEE6"/>
                </a:solidFill>
                <a:latin typeface="Georgia"/>
                <a:ea typeface="Georgia"/>
                <a:cs typeface="Georgia"/>
              </a:defRPr>
            </a:pPr>
            <a:r>
              <a:rPr sz="2325" b="0">
                <a:solidFill>
                  <a:srgbClr val="F4EEE6"/>
                </a:solidFill>
                <a:latin typeface="Georgia"/>
                <a:ea typeface="Georgia"/>
                <a:cs typeface="Georgia"/>
              </a:rPr>
              <a:t>Ishga tushgach 1 oy bepul</a:t>
            </a:r>
          </a:p>
        </p:txBody>
      </p:sp>
      <p:sp>
        <p:nvSpPr>
          <p:cNvPr id="6" name="Servis, yordam va mas’ul xodimga saytni hamda&#10;admi">
            <a:extLst xmlns:a="http://schemas.openxmlformats.org/drawingml/2006/main">
              <a:ext uri="{FF2B5EF4-FFF2-40B4-BE49-F238E27FC236}">
                <a16:creationId xmlns:a16="http://schemas.microsoft.com/office/drawing/2014/main" id="{21C699D9-1537-41F8-8A2B-B1F4522C145F}"/>
              </a:ext>
            </a:extLst>
          </p:cNvPr>
          <p:cNvSpPr>
            <a:spLocks xmlns:a="http://schemas.openxmlformats.org/drawingml/2006/main" noGrp="1"/>
          </p:cNvSpPr>
          <p:nvPr/>
        </p:nvSpPr>
        <p:spPr>
          <a:xfrm xmlns:a="http://schemas.openxmlformats.org/drawingml/2006/main">
            <a:off x="647700" y="4448175"/>
            <a:ext cx="657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DDBCAF"/>
                </a:solidFill>
                <a:latin typeface="Arial"/>
                <a:ea typeface="Arial"/>
                <a:cs typeface="Arial"/>
              </a:defRPr>
            </a:defPPr>
          </a:lstStyle>
          <a:p xmlns:a="http://schemas.openxmlformats.org/drawingml/2006/main">
            <a:pPr algn="l">
              <a:defRPr sz="1725" b="0">
                <a:solidFill>
                  <a:srgbClr val="DDBCAF"/>
                </a:solidFill>
                <a:latin typeface="Arial"/>
                <a:ea typeface="Arial"/>
                <a:cs typeface="Arial"/>
              </a:defRPr>
            </a:pPr>
            <a:r>
              <a:rPr sz="1725" b="0">
                <a:solidFill>
                  <a:srgbClr val="DDBCAF"/>
                </a:solidFill>
                <a:latin typeface="Arial"/>
                <a:ea typeface="Arial"/>
                <a:cs typeface="Arial"/>
              </a:rPr>
              <a:t>Servis, yordam va mas’ul xodimga saytni hamda</a:t>
            </a:r>
          </a:p>
          <a:p xmlns:a="http://schemas.openxmlformats.org/drawingml/2006/main">
            <a:pPr algn="l">
              <a:defRPr sz="1725" b="0">
                <a:solidFill>
                  <a:srgbClr val="DDBCAF"/>
                </a:solidFill>
                <a:latin typeface="Arial"/>
                <a:ea typeface="Arial"/>
                <a:cs typeface="Arial"/>
              </a:defRPr>
            </a:pPr>
            <a:r>
              <a:rPr sz="1725" b="0">
                <a:solidFill>
                  <a:srgbClr val="DDBCAF"/>
                </a:solidFill>
                <a:latin typeface="Arial"/>
                <a:ea typeface="Arial"/>
                <a:cs typeface="Arial"/>
              </a:rPr>
              <a:t>admin panelni yuritishni 1 oy davomida o‘rgatish.</a:t>
            </a:r>
          </a:p>
        </p:txBody>
      </p:sp>
      <p:sp>
        <p:nvSpPr>
          <p:cNvPr id="7" name="Domen va server / hosting">
            <a:extLst xmlns:a="http://schemas.openxmlformats.org/drawingml/2006/main">
              <a:ext uri="{FF2B5EF4-FFF2-40B4-BE49-F238E27FC236}">
                <a16:creationId xmlns:a16="http://schemas.microsoft.com/office/drawing/2014/main" id="{F56D4C92-11C6-4FD7-9036-837819505DCA}"/>
              </a:ext>
            </a:extLst>
          </p:cNvPr>
          <p:cNvSpPr>
            <a:spLocks xmlns:a="http://schemas.openxmlformats.org/drawingml/2006/main" noGrp="1"/>
          </p:cNvSpPr>
          <p:nvPr/>
        </p:nvSpPr>
        <p:spPr>
          <a:xfrm xmlns:a="http://schemas.openxmlformats.org/drawingml/2006/main">
            <a:off x="647700" y="535305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4EEE6"/>
                </a:solidFill>
                <a:latin typeface="Georgia"/>
                <a:ea typeface="Georgia"/>
                <a:cs typeface="Georgia"/>
              </a:defRPr>
            </a:defPPr>
          </a:lstStyle>
          <a:p xmlns:a="http://schemas.openxmlformats.org/drawingml/2006/main">
            <a:pPr algn="l">
              <a:defRPr sz="2100" b="0">
                <a:solidFill>
                  <a:srgbClr val="F4EEE6"/>
                </a:solidFill>
                <a:latin typeface="Georgia"/>
                <a:ea typeface="Georgia"/>
                <a:cs typeface="Georgia"/>
              </a:defRPr>
            </a:pPr>
            <a:r>
              <a:rPr sz="2100" b="0">
                <a:solidFill>
                  <a:srgbClr val="F4EEE6"/>
                </a:solidFill>
                <a:latin typeface="Georgia"/>
                <a:ea typeface="Georgia"/>
                <a:cs typeface="Georgia"/>
              </a:rPr>
              <a:t>Domen va server / hosting</a:t>
            </a:r>
          </a:p>
        </p:txBody>
      </p:sp>
      <p:sp>
        <p:nvSpPr>
          <p:cNvPr id="8" name="To‘lov mijoz hisobidan. Hisoblar biznes egasi nomi">
            <a:extLst xmlns:a="http://schemas.openxmlformats.org/drawingml/2006/main">
              <a:ext uri="{FF2B5EF4-FFF2-40B4-BE49-F238E27FC236}">
                <a16:creationId xmlns:a16="http://schemas.microsoft.com/office/drawing/2014/main" id="{C547467E-1BD7-4657-B475-BF0FA955006A}"/>
              </a:ext>
            </a:extLst>
          </p:cNvPr>
          <p:cNvSpPr>
            <a:spLocks xmlns:a="http://schemas.openxmlformats.org/drawingml/2006/main" noGrp="1"/>
          </p:cNvSpPr>
          <p:nvPr/>
        </p:nvSpPr>
        <p:spPr>
          <a:xfrm xmlns:a="http://schemas.openxmlformats.org/drawingml/2006/main">
            <a:off x="647700" y="582930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DDBCAF"/>
                </a:solidFill>
                <a:latin typeface="Arial"/>
                <a:ea typeface="Arial"/>
                <a:cs typeface="Arial"/>
              </a:defRPr>
            </a:defPPr>
          </a:lstStyle>
          <a:p xmlns:a="http://schemas.openxmlformats.org/drawingml/2006/main">
            <a:pPr algn="l">
              <a:defRPr sz="1650" b="0">
                <a:solidFill>
                  <a:srgbClr val="DDBCAF"/>
                </a:solidFill>
                <a:latin typeface="Arial"/>
                <a:ea typeface="Arial"/>
                <a:cs typeface="Arial"/>
              </a:defRPr>
            </a:pPr>
            <a:r>
              <a:rPr sz="1650" b="0">
                <a:solidFill>
                  <a:srgbClr val="DDBCAF"/>
                </a:solidFill>
                <a:latin typeface="Arial"/>
                <a:ea typeface="Arial"/>
                <a:cs typeface="Arial"/>
              </a:rPr>
              <a:t>To‘lov mijoz hisobidan. Hisoblar biznes egasi nomiga</a:t>
            </a:r>
          </a:p>
          <a:p xmlns:a="http://schemas.openxmlformats.org/drawingml/2006/main">
            <a:pPr algn="l">
              <a:defRPr sz="1650" b="0">
                <a:solidFill>
                  <a:srgbClr val="DDBCAF"/>
                </a:solidFill>
                <a:latin typeface="Arial"/>
                <a:ea typeface="Arial"/>
                <a:cs typeface="Arial"/>
              </a:defRPr>
            </a:pPr>
            <a:r>
              <a:rPr sz="1650" b="0">
                <a:solidFill>
                  <a:srgbClr val="DDBCAF"/>
                </a:solidFill>
                <a:latin typeface="Arial"/>
                <a:ea typeface="Arial"/>
                <a:cs typeface="Arial"/>
              </a:rPr>
              <a:t>ochiladi. Tanlash, ulash va to‘liq sozlashni biz bajaramiz.</a:t>
            </a:r>
          </a:p>
        </p:txBody>
      </p:sp>
      <p:sp>
        <p:nvSpPr>
          <p:cNvPr id="9" name="Demo havolalari">
            <a:extLst xmlns:a="http://schemas.openxmlformats.org/drawingml/2006/main">
              <a:ext uri="{FF2B5EF4-FFF2-40B4-BE49-F238E27FC236}">
                <a16:creationId xmlns:a16="http://schemas.microsoft.com/office/drawing/2014/main" id="{6EC2BFB6-10B3-43E5-85A0-7978A5D06154}"/>
              </a:ext>
            </a:extLst>
          </p:cNvPr>
          <p:cNvSpPr>
            <a:spLocks xmlns:a="http://schemas.openxmlformats.org/drawingml/2006/main" noGrp="1"/>
          </p:cNvSpPr>
          <p:nvPr/>
        </p:nvSpPr>
        <p:spPr>
          <a:xfrm xmlns:a="http://schemas.openxmlformats.org/drawingml/2006/main">
            <a:off x="7686675" y="1685925"/>
            <a:ext cx="3905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4EEE6"/>
                </a:solidFill>
                <a:latin typeface="Georgia"/>
                <a:ea typeface="Georgia"/>
                <a:cs typeface="Georgia"/>
              </a:defRPr>
            </a:defPPr>
          </a:lstStyle>
          <a:p xmlns:a="http://schemas.openxmlformats.org/drawingml/2006/main">
            <a:pPr algn="l">
              <a:defRPr sz="2175" b="0">
                <a:solidFill>
                  <a:srgbClr val="F4EEE6"/>
                </a:solidFill>
                <a:latin typeface="Georgia"/>
                <a:ea typeface="Georgia"/>
                <a:cs typeface="Georgia"/>
              </a:defRPr>
            </a:pPr>
            <a:r>
              <a:rPr sz="2175" b="0">
                <a:solidFill>
                  <a:srgbClr val="F4EEE6"/>
                </a:solidFill>
                <a:latin typeface="Georgia"/>
                <a:ea typeface="Georgia"/>
                <a:cs typeface="Georgia"/>
              </a:rPr>
              <a:t>Demo havolalari</a:t>
            </a:r>
          </a:p>
        </p:txBody>
      </p:sp>
      <p:pic>
        <p:nvPicPr>
          <p:cNvPr id="10" name="">
            <a:extLst xmlns:a="http://schemas.openxmlformats.org/drawingml/2006/main">
              <a:ext uri="{FF2B5EF4-FFF2-40B4-BE49-F238E27FC236}">
                <a16:creationId xmlns:a16="http://schemas.microsoft.com/office/drawing/2014/main" id="{6A65FB1D-168D-4250-9DDA-284D92D639EF}"/>
              </a:ext>
            </a:extLst>
          </p:cNvPr>
          <p:cNvPicPr>
            <a:picLocks xmlns:a="http://schemas.openxmlformats.org/drawingml/2006/main" noChangeAspect="1"/>
          </p:cNvPicPr>
          <p:nvPr/>
        </p:nvPicPr>
        <p:blipFill>
          <a:blip xmlns:r="http://schemas.openxmlformats.org/officeDocument/2006/relationships" xmlns:a="http://schemas.openxmlformats.org/drawingml/2006/main" r:embed="Rbcdd72b0aa9b4c27"/>
          <a:stretch xmlns:a="http://schemas.openxmlformats.org/drawingml/2006/main"/>
        </p:blipFill>
        <p:spPr>
          <a:xfrm xmlns:a="http://schemas.openxmlformats.org/drawingml/2006/main">
            <a:off x="7639050" y="2324100"/>
            <a:ext cx="1762125" cy="17621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A5550FA1-E119-42E7-9DD1-C2CEA6439FE1}"/>
              </a:ext>
            </a:extLst>
          </p:cNvPr>
          <p:cNvPicPr>
            <a:picLocks xmlns:a="http://schemas.openxmlformats.org/drawingml/2006/main" noChangeAspect="1"/>
          </p:cNvPicPr>
          <p:nvPr/>
        </p:nvPicPr>
        <p:blipFill>
          <a:blip xmlns:r="http://schemas.openxmlformats.org/officeDocument/2006/relationships" xmlns:a="http://schemas.openxmlformats.org/drawingml/2006/main" r:embed="Rb4373b3210f34444"/>
          <a:stretch xmlns:a="http://schemas.openxmlformats.org/drawingml/2006/main"/>
        </p:blipFill>
        <p:spPr>
          <a:xfrm xmlns:a="http://schemas.openxmlformats.org/drawingml/2006/main">
            <a:off x="9801225" y="2324100"/>
            <a:ext cx="1762125" cy="1762125"/>
          </a:xfrm>
          <a:prstGeom xmlns:a="http://schemas.openxmlformats.org/drawingml/2006/main" prst="rect">
            <a:avLst/>
          </a:prstGeom>
        </p:spPr>
      </p:pic>
      <p:sp>
        <p:nvSpPr>
          <p:cNvPr id="12" name="Mijoz sayti">
            <a:extLst xmlns:a="http://schemas.openxmlformats.org/drawingml/2006/main">
              <a:ext uri="{FF2B5EF4-FFF2-40B4-BE49-F238E27FC236}">
                <a16:creationId xmlns:a16="http://schemas.microsoft.com/office/drawing/2014/main" id="{233E07B1-0583-4378-B114-D2A5A5A134C0}"/>
              </a:ext>
            </a:extLst>
          </p:cNvPr>
          <p:cNvSpPr>
            <a:spLocks xmlns:a="http://schemas.openxmlformats.org/drawingml/2006/main" noGrp="1"/>
          </p:cNvSpPr>
          <p:nvPr/>
        </p:nvSpPr>
        <p:spPr>
          <a:xfrm xmlns:a="http://schemas.openxmlformats.org/drawingml/2006/main">
            <a:off x="7524750" y="4324350"/>
            <a:ext cx="1971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0">
                <a:solidFill>
                  <a:srgbClr val="F4EEE6"/>
                </a:solidFill>
                <a:latin typeface="Georgia"/>
                <a:ea typeface="Georgia"/>
                <a:cs typeface="Georgia"/>
              </a:defRPr>
            </a:defPPr>
          </a:lstStyle>
          <a:p xmlns:a="http://schemas.openxmlformats.org/drawingml/2006/main">
            <a:pPr algn="ctr">
              <a:defRPr sz="1875" b="0">
                <a:solidFill>
                  <a:srgbClr val="F4EEE6"/>
                </a:solidFill>
                <a:latin typeface="Georgia"/>
                <a:ea typeface="Georgia"/>
                <a:cs typeface="Georgia"/>
              </a:defRPr>
            </a:pPr>
            <a:r>
              <a:rPr sz="1875" b="0">
                <a:solidFill>
                  <a:srgbClr val="F4EEE6"/>
                </a:solidFill>
                <a:latin typeface="Georgia"/>
                <a:ea typeface="Georgia"/>
                <a:cs typeface="Georgia"/>
              </a:rPr>
              <a:t>Mijoz sayti</a:t>
            </a:r>
          </a:p>
        </p:txBody>
      </p:sp>
      <p:sp>
        <p:nvSpPr>
          <p:cNvPr id="13" name="Admin demo">
            <a:extLst xmlns:a="http://schemas.openxmlformats.org/drawingml/2006/main">
              <a:ext uri="{FF2B5EF4-FFF2-40B4-BE49-F238E27FC236}">
                <a16:creationId xmlns:a16="http://schemas.microsoft.com/office/drawing/2014/main" id="{025EF69C-BE96-40E1-BF5C-6C50D6EBEC7C}"/>
              </a:ext>
            </a:extLst>
          </p:cNvPr>
          <p:cNvSpPr>
            <a:spLocks xmlns:a="http://schemas.openxmlformats.org/drawingml/2006/main" noGrp="1"/>
          </p:cNvSpPr>
          <p:nvPr/>
        </p:nvSpPr>
        <p:spPr>
          <a:xfrm xmlns:a="http://schemas.openxmlformats.org/drawingml/2006/main">
            <a:off x="9686925" y="4324350"/>
            <a:ext cx="1971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0">
                <a:solidFill>
                  <a:srgbClr val="F4EEE6"/>
                </a:solidFill>
                <a:latin typeface="Georgia"/>
                <a:ea typeface="Georgia"/>
                <a:cs typeface="Georgia"/>
              </a:defRPr>
            </a:defPPr>
          </a:lstStyle>
          <a:p xmlns:a="http://schemas.openxmlformats.org/drawingml/2006/main">
            <a:pPr algn="ctr">
              <a:defRPr sz="1875" b="0">
                <a:solidFill>
                  <a:srgbClr val="F4EEE6"/>
                </a:solidFill>
                <a:latin typeface="Georgia"/>
                <a:ea typeface="Georgia"/>
                <a:cs typeface="Georgia"/>
              </a:defRPr>
            </a:pPr>
            <a:r>
              <a:rPr sz="1875" b="0">
                <a:solidFill>
                  <a:srgbClr val="F4EEE6"/>
                </a:solidFill>
                <a:latin typeface="Georgia"/>
                <a:ea typeface="Georgia"/>
                <a:cs typeface="Georgia"/>
              </a:rPr>
              <a:t>Admin demo</a:t>
            </a:r>
          </a:p>
        </p:txBody>
      </p:sp>
      <p:sp>
        <p:nvSpPr>
          <p:cNvPr id="14" name="Saytni ochish">
            <a:extLst xmlns:a="http://schemas.openxmlformats.org/drawingml/2006/main">
              <a:ext uri="{FF2B5EF4-FFF2-40B4-BE49-F238E27FC236}">
                <a16:creationId xmlns:a16="http://schemas.microsoft.com/office/drawing/2014/main" id="{5F5E166B-81CE-468A-BC73-F96F8828DD95}"/>
              </a:ext>
            </a:extLst>
          </p:cNvPr>
          <p:cNvSpPr>
            <a:spLocks xmlns:a="http://schemas.openxmlformats.org/drawingml/2006/main" noGrp="1"/>
          </p:cNvSpPr>
          <p:nvPr/>
        </p:nvSpPr>
        <p:spPr>
          <a:xfrm xmlns:a="http://schemas.openxmlformats.org/drawingml/2006/main">
            <a:off x="7810500" y="484822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F4EEE6"/>
                </a:solidFill>
                <a:latin typeface="Arial"/>
                <a:ea typeface="Arial"/>
                <a:cs typeface="Arial"/>
              </a:defRPr>
            </a:defPPr>
          </a:lstStyle>
          <a:p xmlns:a="http://schemas.openxmlformats.org/drawingml/2006/main">
            <a:pPr algn="l">
              <a:defRPr sz="1575" b="1">
                <a:solidFill>
                  <a:srgbClr val="4B182A"/>
                </a:solidFill>
                <a:latin typeface="Arial"/>
                <a:ea typeface="Arial"/>
                <a:cs typeface="Arial"/>
              </a:defRPr>
            </a:pPr>
            <a:r>
              <a:rPr sz="1575" b="1">
                <a:solidFill>
                  <a:srgbClr val="F4EEE6"/>
                </a:solidFill>
                <a:latin typeface="Arial"/>
                <a:ea typeface="Arial"/>
                <a:cs typeface="Arial"/>
                <a:hlinkClick xmlns:r="http://schemas.openxmlformats.org/officeDocument/2006/relationships" r:id="R992ac7b355df4851"/>
              </a:rPr>
              <a:t>Saytni ochish</a:t>
            </a:r>
          </a:p>
        </p:txBody>
      </p:sp>
      <p:sp>
        <p:nvSpPr>
          <p:cNvPr id="15" name="Panelni ochish">
            <a:extLst xmlns:a="http://schemas.openxmlformats.org/drawingml/2006/main">
              <a:ext uri="{FF2B5EF4-FFF2-40B4-BE49-F238E27FC236}">
                <a16:creationId xmlns:a16="http://schemas.microsoft.com/office/drawing/2014/main" id="{E1B29D99-14F4-46C8-9911-B7194032AC65}"/>
              </a:ext>
            </a:extLst>
          </p:cNvPr>
          <p:cNvSpPr>
            <a:spLocks xmlns:a="http://schemas.openxmlformats.org/drawingml/2006/main" noGrp="1"/>
          </p:cNvSpPr>
          <p:nvPr/>
        </p:nvSpPr>
        <p:spPr>
          <a:xfrm xmlns:a="http://schemas.openxmlformats.org/drawingml/2006/main">
            <a:off x="9944100" y="484822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F4EEE6"/>
                </a:solidFill>
                <a:latin typeface="Arial"/>
                <a:ea typeface="Arial"/>
                <a:cs typeface="Arial"/>
              </a:defRPr>
            </a:defPPr>
          </a:lstStyle>
          <a:p xmlns:a="http://schemas.openxmlformats.org/drawingml/2006/main">
            <a:pPr algn="l">
              <a:defRPr sz="1575" b="1">
                <a:solidFill>
                  <a:srgbClr val="4B182A"/>
                </a:solidFill>
                <a:latin typeface="Arial"/>
                <a:ea typeface="Arial"/>
                <a:cs typeface="Arial"/>
              </a:defRPr>
            </a:pPr>
            <a:r>
              <a:rPr sz="1575" b="1">
                <a:solidFill>
                  <a:srgbClr val="F4EEE6"/>
                </a:solidFill>
                <a:latin typeface="Arial"/>
                <a:ea typeface="Arial"/>
                <a:cs typeface="Arial"/>
                <a:hlinkClick xmlns:r="http://schemas.openxmlformats.org/officeDocument/2006/relationships" r:id="R7fce9b1631874183"/>
              </a:rPr>
              <a:t>Panelni ochish</a:t>
            </a:r>
          </a:p>
        </p:txBody>
      </p:sp>
      <p:sp>
        <p:nvSpPr>
          <p:cNvPr id="16" name="QR yoki havolani bosing.&#10;Admin demo parolsiz ochil">
            <a:extLst xmlns:a="http://schemas.openxmlformats.org/drawingml/2006/main">
              <a:ext uri="{FF2B5EF4-FFF2-40B4-BE49-F238E27FC236}">
                <a16:creationId xmlns:a16="http://schemas.microsoft.com/office/drawing/2014/main" id="{6BF25FBE-EDEF-4171-A6E8-1C587978635C}"/>
              </a:ext>
            </a:extLst>
          </p:cNvPr>
          <p:cNvSpPr>
            <a:spLocks xmlns:a="http://schemas.openxmlformats.org/drawingml/2006/main" noGrp="1"/>
          </p:cNvSpPr>
          <p:nvPr/>
        </p:nvSpPr>
        <p:spPr>
          <a:xfrm xmlns:a="http://schemas.openxmlformats.org/drawingml/2006/main">
            <a:off x="7648575" y="5495925"/>
            <a:ext cx="3990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DDBCAF"/>
                </a:solidFill>
                <a:latin typeface="Arial"/>
                <a:ea typeface="Arial"/>
                <a:cs typeface="Arial"/>
              </a:defRPr>
            </a:defPPr>
          </a:lstStyle>
          <a:p xmlns:a="http://schemas.openxmlformats.org/drawingml/2006/main">
            <a:pPr algn="l">
              <a:defRPr sz="1650" b="0">
                <a:solidFill>
                  <a:srgbClr val="DDBCAF"/>
                </a:solidFill>
                <a:latin typeface="Arial"/>
                <a:ea typeface="Arial"/>
                <a:cs typeface="Arial"/>
              </a:defRPr>
            </a:pPr>
            <a:r>
              <a:rPr sz="1650" b="0">
                <a:solidFill>
                  <a:srgbClr val="DDBCAF"/>
                </a:solidFill>
                <a:latin typeface="Arial"/>
                <a:ea typeface="Arial"/>
                <a:cs typeface="Arial"/>
              </a:rPr>
              <a:t>QR yoki havolani bosing.</a:t>
            </a:r>
          </a:p>
          <a:p xmlns:a="http://schemas.openxmlformats.org/drawingml/2006/main">
            <a:pPr algn="l">
              <a:defRPr sz="1650" b="0">
                <a:solidFill>
                  <a:srgbClr val="DDBCAF"/>
                </a:solidFill>
                <a:latin typeface="Arial"/>
                <a:ea typeface="Arial"/>
                <a:cs typeface="Arial"/>
              </a:defRPr>
            </a:pPr>
            <a:r>
              <a:rPr sz="1650" b="0">
                <a:solidFill>
                  <a:srgbClr val="DDBCAF"/>
                </a:solidFill>
                <a:latin typeface="Arial"/>
                <a:ea typeface="Arial"/>
                <a:cs typeface="Arial"/>
              </a:rPr>
              <a:t>Admin demo parolsiz ochiladi.</a:t>
            </a:r>
          </a:p>
        </p:txBody>
      </p:sp>
    </p:spTree>
    <p:extLst>
      <p:ext uri="{BB962C8B-B14F-4D97-AF65-F5344CB8AC3E}">
        <p14:creationId xmlns:p14="http://schemas.microsoft.com/office/powerpoint/2010/main" val="15316154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2026-10-09T16:24:56.9010000Z</dcterms:created>
  <dcterms:modified xsi:type="dcterms:W3CDTF">2026-10-09T16:24:56.9010000Z</dcterms:modified>
</coreProperties>
</file>