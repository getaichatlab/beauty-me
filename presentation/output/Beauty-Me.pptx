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8dd1b9de8f4bc9" /><Relationship Type="http://schemas.openxmlformats.org/officeDocument/2006/relationships/extended-properties" Target="/docProps/app.xml" Id="R0f4ae78a077d46c5" /><Relationship Type="http://schemas.openxmlformats.org/officeDocument/2006/relationships/officeDocument" Target="/ppt/presentation.xml" Id="R709a49764d9244b5" /></Relationships>
</file>

<file path=ppt/presentation.xml><?xml version="1.0" encoding="utf-8"?>
<p:presentation xmlns:p="http://schemas.openxmlformats.org/presentationml/2006/main">
  <p:sldMasterIdLst>
    <p:sldMasterId xmlns:r="http://schemas.openxmlformats.org/officeDocument/2006/relationships" id="2147483648" r:id="R2e50d2de868b4c7a"/>
  </p:sldMasterIdLst>
  <p:notesMasterIdLst>
    <p:notesMasterId xmlns:r="http://schemas.openxmlformats.org/officeDocument/2006/relationships" r:id="R80fdbaa316e84647"/>
  </p:notesMasterIdLst>
  <p:sldIdLst>
    <p:sldId xmlns:r="http://schemas.openxmlformats.org/officeDocument/2006/relationships" id="256" r:id="R810c5fc12ef14d82"/>
    <p:sldId xmlns:r="http://schemas.openxmlformats.org/officeDocument/2006/relationships" id="257" r:id="Re09405e3bc704e1c"/>
    <p:sldId xmlns:r="http://schemas.openxmlformats.org/officeDocument/2006/relationships" id="258" r:id="R64752ed9fea245e3"/>
    <p:sldId xmlns:r="http://schemas.openxmlformats.org/officeDocument/2006/relationships" id="259" r:id="Rf792891022fd44a5"/>
    <p:sldId xmlns:r="http://schemas.openxmlformats.org/officeDocument/2006/relationships" id="260" r:id="R03aeafe3dd9a4ca3"/>
    <p:sldId xmlns:r="http://schemas.openxmlformats.org/officeDocument/2006/relationships" id="261" r:id="R5eb3dfd23c68407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74ada7937048dd" /><Relationship Type="http://schemas.openxmlformats.org/officeDocument/2006/relationships/slideMaster" Target="/ppt/slideMasters/slideMaster1.xml" Id="R2e50d2de868b4c7a" /><Relationship Type="http://schemas.openxmlformats.org/officeDocument/2006/relationships/notesMaster" Target="/ppt/notesMasters/notesMaster1.xml" Id="R80fdbaa316e84647" /><Relationship Type="http://schemas.openxmlformats.org/officeDocument/2006/relationships/presProps" Target="/ppt/presProps.xml" Id="Rdb525a7b67024c3f" /><Relationship Type="http://schemas.openxmlformats.org/officeDocument/2006/relationships/tableStyles" Target="/ppt/tableStyles.xml" Id="R6983dadf74a84172" /><Relationship Type="http://schemas.openxmlformats.org/officeDocument/2006/relationships/slide" Target="/ppt/slides/slide1.xml" Id="R810c5fc12ef14d82" /><Relationship Type="http://schemas.openxmlformats.org/officeDocument/2006/relationships/slide" Target="/ppt/slides/slide2.xml" Id="Re09405e3bc704e1c" /><Relationship Type="http://schemas.openxmlformats.org/officeDocument/2006/relationships/slide" Target="/ppt/slides/slide3.xml" Id="R64752ed9fea245e3" /><Relationship Type="http://schemas.openxmlformats.org/officeDocument/2006/relationships/slide" Target="/ppt/slides/slide4.xml" Id="Rf792891022fd44a5" /><Relationship Type="http://schemas.openxmlformats.org/officeDocument/2006/relationships/slide" Target="/ppt/slides/slide5.xml" Id="R03aeafe3dd9a4ca3" /><Relationship Type="http://schemas.openxmlformats.org/officeDocument/2006/relationships/slide" Target="/ppt/slides/slide6.xml" Id="R5eb3dfd23c6840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458d99b9bd40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Beauty Me Premium">
      <a:dk1>
        <a:srgbClr val="1B0710"/>
      </a:dk1>
      <a:lt1>
        <a:srgbClr val="FFFFFF"/>
      </a:lt1>
      <a:dk2>
        <a:srgbClr val="471528"/>
      </a:dk2>
      <a:lt2>
        <a:srgbClr val="FBF9FA"/>
      </a:lt2>
      <a:accent1>
        <a:srgbClr val="471528"/>
      </a:accent1>
      <a:accent2>
        <a:srgbClr val="A97287"/>
      </a:accent2>
      <a:accent3>
        <a:srgbClr val="E5C9AC"/>
      </a:accent3>
      <a:accent4>
        <a:srgbClr val="7A314E"/>
      </a:accent4>
      <a:accent5>
        <a:srgbClr val="D9B6C3"/>
      </a:accent5>
      <a:accent6>
        <a:srgbClr val="895D70"/>
      </a:accent6>
      <a:hlink>
        <a:srgbClr val="471528"/>
      </a:hlink>
      <a:folHlink>
        <a:srgbClr val="A97287"/>
      </a:folHlink>
    </a:clrScheme>
    <a:fontScheme name="">
      <a:majorFont>
        <a:latin typeface="Segoe UI"/>
        <a:ea typeface=""/>
        <a:cs typeface=""/>
      </a:majorFont>
      <a:minorFont>
        <a:latin typeface="Segoe UI"/>
        <a:ea typeface=""/>
        <a:cs typeface=""/>
      </a:minorFont>
    </a:fontScheme>
    <a:fmtScheme name="Beauty Me Premium">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207e44e8d44935" /><Relationship Type="http://schemas.openxmlformats.org/officeDocument/2006/relationships/notesMaster" Target="/ppt/notesMasters/notesMaster1.xml" Id="R7f6d052fd80f43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63ba8d34144a08" /><Relationship Type="http://schemas.openxmlformats.org/officeDocument/2006/relationships/notesMaster" Target="/ppt/notesMasters/notesMaster1.xml" Id="Rc08b919e7ed942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c249cffce64c38" /><Relationship Type="http://schemas.openxmlformats.org/officeDocument/2006/relationships/notesMaster" Target="/ppt/notesMasters/notesMaster1.xml" Id="R17545f68a85b43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5e12f9b94d4e4a" /><Relationship Type="http://schemas.openxmlformats.org/officeDocument/2006/relationships/notesMaster" Target="/ppt/notesMasters/notesMaster1.xml" Id="R73b7743d3c5749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7c0459c45d4364" /><Relationship Type="http://schemas.openxmlformats.org/officeDocument/2006/relationships/notesMaster" Target="/ppt/notesMasters/notesMaster1.xml" Id="Rfcd2955f141c4d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ff2fc5b563400a" /><Relationship Type="http://schemas.openxmlformats.org/officeDocument/2006/relationships/notesMaster" Target="/ppt/notesMasters/notesMaster1.xml" Id="Rd60edc9ed80e4f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Beauty Me uchun tayyorlangan mustaqil demo konsepti. Haqiqiy surat salonning Instagram postidan: https://www.instagram.com/beautyme_uz/p/CZya3dgt4T8/ . Sayt: https://beauty-me-tashkent-demo.netlify.app/uz/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Skrinshot: https://beauty-me-tashkent-demo.netlify.app/uz/ . Ko‘rsatilgan foydalar interfeys vazifalaridan kelib chiqadigan imkoniyatlar, savdo yoki konversiya natijasiga kafolat berilmaydi. Hozirgi yozilish forma rejimi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Haqiqiy mobil skrinshotlar: https://beauty-me-tashkent-demo.netlify.app/uz/ va https://beauty-me-tashkent-demo.netlify.app/uz/gallery/ . Funksiyalar loyiha src/data/content.ts, Gallery va Booking komponentlari orqali tekshirilgan. Yozilish faqat xizmat, sana va vaqt tanlovini shu tabdagi admin namunasiga o‘tkazadi. Ism, telefon va izoh saqlanmaydi; salonga hech narsa yuborilmaydi.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Admin screenshot and link: https://beauty-me-tashkent-demo.netlify.app/admin/demo/ . Dashboard statistics and leads are synthetic demo data, not salon performance. Demo transport stores only per-tab sessionStorage. Real publishing, customer requests and visit collection require Supabase deployment per ADMIN_SETUP.md. Source: ADMIN_DEMO_QA.md and src/admin/demo.ts.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Commercial scope supplied by the user: develop a CRM-connected Telegram bot, notify all selected responsible administrators about every website request, support confirmation/contact actions, and synchronize status with the admin panel. This is included implementation work, not an existing live feature. Contact means using the submitted phone number; no claim of automatic bot messaging to customers who have not started the bot. Current live admin is a sandbox.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User-specified fixed development price: USD 250, including the website, real admin/CRM integration, Telegram bot development, setup and go-live. The client pays domain and server/hosting provider charges separately, accounts and domain are registered under the business owner. Our work covers provider selection, registration assistance, connections and complete setup. First month after go-live includes free service/help and training of the designated person to maintain the website and use admin features. No subsequent monthly service price or provider fee was supplied, so none is invented here. QR payloads: https://beauty-me-tashkent-demo.netlify.app/uz/ and https://beauty-me-tashkent-demo.netlify.app/admin/demo/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c6e8e7849c46c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2afa297200b423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c7a39a4f79f4bb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75266a4e5b340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fa4e8f1b0544dc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926d666c0d346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22F5FB-7D00-4177-9DBC-C1C11E3AC34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8A64FFB-6E93-4E59-A9A3-6EE6BD92527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EEDF522-BA3E-43A4-AA1C-F3EF5E0981F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B5DF86-803C-4DEB-84B8-8CFFF70A44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677EE29-940E-4F54-8B66-2B2A8446D23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2CB161E-6CCC-4604-B2D6-73904D773F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1519E7-21B2-4A71-9267-3B7E8097CE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103AB87-B155-400C-A615-DEB034D9AA0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C8E319-3CDD-4955-B7AA-307112B195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992270-F5DD-400B-8155-E6B5E5B865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56a0cb6dc94096" /><Relationship Type="http://schemas.openxmlformats.org/officeDocument/2006/relationships/slideLayout" Target="/ppt/slideLayouts/slideLayout1.xml" Id="R359fb18b64054052" /><Relationship Type="http://schemas.openxmlformats.org/officeDocument/2006/relationships/slideLayout" Target="/ppt/slideLayouts/slideLayout2.xml" Id="Rf095de755ea94dfe" /><Relationship Type="http://schemas.openxmlformats.org/officeDocument/2006/relationships/slideLayout" Target="/ppt/slideLayouts/slideLayout3.xml" Id="Rba930eb532e54eed" /><Relationship Type="http://schemas.openxmlformats.org/officeDocument/2006/relationships/slideLayout" Target="/ppt/slideLayouts/slideLayout4.xml" Id="R83a3be9e7335455f" /><Relationship Type="http://schemas.openxmlformats.org/officeDocument/2006/relationships/slideLayout" Target="/ppt/slideLayouts/slideLayout5.xml" Id="R316cfefca18741dd" /><Relationship Type="http://schemas.openxmlformats.org/officeDocument/2006/relationships/slideLayout" Target="/ppt/slideLayouts/slideLayout6.xml" Id="R3506dc4537bb46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9fb18b64054052"/>
    <p:sldLayoutId xmlns:r="http://schemas.openxmlformats.org/officeDocument/2006/relationships" id="2147483650" r:id="Rf095de755ea94dfe"/>
    <p:sldLayoutId xmlns:r="http://schemas.openxmlformats.org/officeDocument/2006/relationships" id="2147483651" r:id="Rba930eb532e54eed"/>
    <p:sldLayoutId xmlns:r="http://schemas.openxmlformats.org/officeDocument/2006/relationships" id="2147483652" r:id="R83a3be9e7335455f"/>
    <p:sldLayoutId xmlns:r="http://schemas.openxmlformats.org/officeDocument/2006/relationships" id="2147483653" r:id="R316cfefca18741dd"/>
    <p:sldLayoutId xmlns:r="http://schemas.openxmlformats.org/officeDocument/2006/relationships" id="2147483654" r:id="R3506dc4537bb46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Beauty Me Premium">
      <a:dk1>
        <a:srgbClr val="1B0710"/>
      </a:dk1>
      <a:lt1>
        <a:srgbClr val="FFFFFF"/>
      </a:lt1>
      <a:dk2>
        <a:srgbClr val="471528"/>
      </a:dk2>
      <a:lt2>
        <a:srgbClr val="FBF9FA"/>
      </a:lt2>
      <a:accent1>
        <a:srgbClr val="471528"/>
      </a:accent1>
      <a:accent2>
        <a:srgbClr val="A97287"/>
      </a:accent2>
      <a:accent3>
        <a:srgbClr val="E5C9AC"/>
      </a:accent3>
      <a:accent4>
        <a:srgbClr val="7A314E"/>
      </a:accent4>
      <a:accent5>
        <a:srgbClr val="D9B6C3"/>
      </a:accent5>
      <a:accent6>
        <a:srgbClr val="895D70"/>
      </a:accent6>
      <a:hlink>
        <a:srgbClr val="471528"/>
      </a:hlink>
      <a:folHlink>
        <a:srgbClr val="A97287"/>
      </a:folHlink>
    </a:clrScheme>
    <a:fontScheme name="">
      <a:majorFont>
        <a:latin typeface="Segoe UI"/>
        <a:ea typeface=""/>
        <a:cs typeface=""/>
      </a:majorFont>
      <a:minorFont>
        <a:latin typeface="Segoe UI"/>
        <a:ea typeface=""/>
        <a:cs typeface=""/>
      </a:minorFont>
    </a:fontScheme>
    <a:fmtScheme name="Beauty Me Premium">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450f7ffc40049de" /><Relationship Type="http://schemas.openxmlformats.org/officeDocument/2006/relationships/image" Target="/ppt/media/image.png" Id="R41f531237ca34242" /><Relationship Type="http://schemas.openxmlformats.org/officeDocument/2006/relationships/image" Target="/ppt/media/image2.png" Id="Rbdb192b55adc401e" /><Relationship Type="http://schemas.openxmlformats.org/officeDocument/2006/relationships/notesSlide" Target="/ppt/notesSlides/notesSlide1.xml" Id="R046956edef4f41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36c994635e846c9" /><Relationship Type="http://schemas.openxmlformats.org/officeDocument/2006/relationships/image" Target="/ppt/media/image3.png" Id="R1456ca8a8e164297" /><Relationship Type="http://schemas.openxmlformats.org/officeDocument/2006/relationships/notesSlide" Target="/ppt/notesSlides/notesSlide2.xml" Id="R603728c436f84f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407216c0e8149ff" /><Relationship Type="http://schemas.openxmlformats.org/officeDocument/2006/relationships/image" Target="/ppt/media/image4.png" Id="Rc81984b29acb4e4f" /><Relationship Type="http://schemas.openxmlformats.org/officeDocument/2006/relationships/image" Target="/ppt/media/image5.png" Id="Ra3e867ad53044974" /><Relationship Type="http://schemas.openxmlformats.org/officeDocument/2006/relationships/notesSlide" Target="/ppt/notesSlides/notesSlide3.xml" Id="R3fc221329aaf4d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07e97d8aa1643c6" /><Relationship Type="http://schemas.openxmlformats.org/officeDocument/2006/relationships/image" Target="/ppt/media/image6.png" Id="Rcb4e4f2b46264206" /><Relationship Type="http://schemas.openxmlformats.org/officeDocument/2006/relationships/notesSlide" Target="/ppt/notesSlides/notesSlide4.xml" Id="R3b50f796281b4d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dee104e100f403c" /><Relationship Type="http://schemas.openxmlformats.org/officeDocument/2006/relationships/image" Target="/ppt/media/image7.png" Id="Rec51bc51a56f489b" /><Relationship Type="http://schemas.openxmlformats.org/officeDocument/2006/relationships/notesSlide" Target="/ppt/notesSlides/notesSlide5.xml" Id="Rdd01b76049a44d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7ef8072e81f4b0f" /><Relationship Type="http://schemas.openxmlformats.org/officeDocument/2006/relationships/image" Target="/ppt/media/image8.png" Id="R4eb9c9452d544b51" /><Relationship Type="http://schemas.openxmlformats.org/officeDocument/2006/relationships/image" Target="/ppt/media/image9.png" Id="R3eb26a8933b243fa" /><Relationship Type="http://schemas.openxmlformats.org/officeDocument/2006/relationships/image" Target="/ppt/media/image10.png" Id="Rec76b70918ca4b6c" /><Relationship Type="http://schemas.openxmlformats.org/officeDocument/2006/relationships/hyperlink" Target="https://beauty-me-tashkent-demo.netlify.app/uz/" TargetMode="External" Id="Rf97fbb9b19e047a9" /><Relationship Type="http://schemas.openxmlformats.org/officeDocument/2006/relationships/hyperlink" Target="https://beauty-me-tashkent-demo.netlify.app/admin/demo/" TargetMode="External" Id="Rf5b8f333e47543b3" /><Relationship Type="http://schemas.openxmlformats.org/officeDocument/2006/relationships/notesSlide" Target="/ppt/notesSlides/notesSlide6.xml" Id="Reaae895b7fc848b6" /></Relationships>
</file>

<file path=ppt/slides/slide1.xml><?xml version="1.0" encoding="utf-8"?>
<p:sld xmlns:p="http://schemas.openxmlformats.org/presentationml/2006/main">
  <p:cSld>
    <p:bg>
      <p:bgPr>
        <a:solidFill xmlns:a="http://schemas.openxmlformats.org/drawingml/2006/main">
          <a:srgbClr val="2B0D1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6691ACE-34D1-49B2-9B8C-61BF2E34E588}"/>
              </a:ext>
            </a:extLst>
          </p:cNvPr>
          <p:cNvPicPr>
            <a:picLocks xmlns:a="http://schemas.openxmlformats.org/drawingml/2006/main" noChangeAspect="1"/>
          </p:cNvPicPr>
          <p:nvPr/>
        </p:nvPicPr>
        <p:blipFill>
          <a:blip xmlns:r="http://schemas.openxmlformats.org/officeDocument/2006/relationships" xmlns:a="http://schemas.openxmlformats.org/drawingml/2006/main" r:embed="R41f531237ca3424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1F13B485-2714-4DFD-9142-13B5B1340AFE}"/>
              </a:ext>
            </a:extLst>
          </p:cNvPr>
          <p:cNvPicPr>
            <a:picLocks xmlns:a="http://schemas.openxmlformats.org/drawingml/2006/main" noChangeAspect="1"/>
          </p:cNvPicPr>
          <p:nvPr/>
        </p:nvPicPr>
        <p:blipFill>
          <a:blip xmlns:r="http://schemas.openxmlformats.org/officeDocument/2006/relationships" xmlns:a="http://schemas.openxmlformats.org/drawingml/2006/main" r:embed="Rbdb192b55adc401e"/>
          <a:stretch xmlns:a="http://schemas.openxmlformats.org/drawingml/2006/main"/>
        </p:blipFill>
        <p:spPr>
          <a:xfrm xmlns:a="http://schemas.openxmlformats.org/drawingml/2006/main">
            <a:off x="7239000" y="742950"/>
            <a:ext cx="4343400" cy="5429250"/>
          </a:xfrm>
          <a:prstGeom xmlns:a="http://schemas.openxmlformats.org/drawingml/2006/main" prst="rect">
            <a:avLst/>
          </a:prstGeom>
        </p:spPr>
      </p:pic>
      <p:sp>
        <p:nvSpPr>
          <p:cNvPr id="3" name="Beauty Me">
            <a:extLst xmlns:a="http://schemas.openxmlformats.org/drawingml/2006/main">
              <a:ext uri="{FF2B5EF4-FFF2-40B4-BE49-F238E27FC236}">
                <a16:creationId xmlns:a16="http://schemas.microsoft.com/office/drawing/2014/main" id="{E9CD9F2F-296C-4862-94BB-59435A513CF0}"/>
              </a:ext>
            </a:extLst>
          </p:cNvPr>
          <p:cNvSpPr>
            <a:spLocks xmlns:a="http://schemas.openxmlformats.org/drawingml/2006/main" noGrp="1"/>
          </p:cNvSpPr>
          <p:nvPr/>
        </p:nvSpPr>
        <p:spPr>
          <a:xfrm xmlns:a="http://schemas.openxmlformats.org/drawingml/2006/main">
            <a:off x="609600" y="371475"/>
            <a:ext cx="66675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75" b="0" i="0">
                <a:solidFill>
                  <a:srgbClr val="FFFFFF"/>
                </a:solidFill>
                <a:latin typeface="Georgia"/>
                <a:ea typeface="Georgia"/>
                <a:cs typeface="Georgia"/>
              </a:defRPr>
            </a:defPPr>
          </a:lstStyle>
          <a:p xmlns:a="http://schemas.openxmlformats.org/drawingml/2006/main">
            <a:pPr algn="l">
              <a:defRPr sz="7875" b="0" i="0">
                <a:solidFill>
                  <a:srgbClr val="FFFFFF"/>
                </a:solidFill>
                <a:latin typeface="Georgia"/>
                <a:ea typeface="Georgia"/>
                <a:cs typeface="Georgia"/>
              </a:defRPr>
            </a:pPr>
            <a:r>
              <a:rPr sz="7875" b="0" i="0">
                <a:solidFill>
                  <a:srgbClr val="FFFFFF"/>
                </a:solidFill>
                <a:latin typeface="Georgia"/>
                <a:ea typeface="Georgia"/>
                <a:cs typeface="Georgia"/>
              </a:rPr>
              <a:t>Beauty Me</a:t>
            </a:r>
          </a:p>
        </p:txBody>
      </p:sp>
      <p:sp>
        <p:nvSpPr>
          <p:cNvPr id="4" name="Salonning onlayn manzili">
            <a:extLst xmlns:a="http://schemas.openxmlformats.org/drawingml/2006/main">
              <a:ext uri="{FF2B5EF4-FFF2-40B4-BE49-F238E27FC236}">
                <a16:creationId xmlns:a16="http://schemas.microsoft.com/office/drawing/2014/main" id="{EDC2AA43-AFF2-4F64-B336-A537D444E9D6}"/>
              </a:ext>
            </a:extLst>
          </p:cNvPr>
          <p:cNvSpPr>
            <a:spLocks xmlns:a="http://schemas.openxmlformats.org/drawingml/2006/main" noGrp="1"/>
          </p:cNvSpPr>
          <p:nvPr/>
        </p:nvSpPr>
        <p:spPr>
          <a:xfrm xmlns:a="http://schemas.openxmlformats.org/drawingml/2006/main">
            <a:off x="609600" y="2152650"/>
            <a:ext cx="626745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025" b="0" i="0">
                <a:solidFill>
                  <a:srgbClr val="FFFFFF"/>
                </a:solidFill>
                <a:latin typeface="Georgia"/>
                <a:ea typeface="Georgia"/>
                <a:cs typeface="Georgia"/>
              </a:defRPr>
            </a:defPPr>
          </a:lstStyle>
          <a:p xmlns:a="http://schemas.openxmlformats.org/drawingml/2006/main">
            <a:pPr algn="l">
              <a:defRPr sz="5025" b="0" i="0">
                <a:solidFill>
                  <a:srgbClr val="FFFFFF"/>
                </a:solidFill>
                <a:latin typeface="Georgia"/>
                <a:ea typeface="Georgia"/>
                <a:cs typeface="Georgia"/>
              </a:defRPr>
            </a:pPr>
            <a:r>
              <a:rPr sz="5025" b="0" i="0">
                <a:solidFill>
                  <a:srgbClr val="FFFFFF"/>
                </a:solidFill>
                <a:latin typeface="Georgia"/>
                <a:ea typeface="Georgia"/>
                <a:cs typeface="Georgia"/>
              </a:rPr>
              <a:t>Salonning</a:t>
            </a:r>
          </a:p>
          <a:p xmlns:a="http://schemas.openxmlformats.org/drawingml/2006/main">
            <a:pPr algn="l">
              <a:defRPr sz="5025" b="0" i="0">
                <a:solidFill>
                  <a:srgbClr val="FFFFFF"/>
                </a:solidFill>
                <a:latin typeface="Georgia"/>
                <a:ea typeface="Georgia"/>
                <a:cs typeface="Georgia"/>
              </a:defRPr>
            </a:pPr>
            <a:r>
              <a:rPr sz="5025" b="0" i="0">
                <a:solidFill>
                  <a:srgbClr val="FFFFFF"/>
                </a:solidFill>
                <a:latin typeface="Georgia"/>
                <a:ea typeface="Georgia"/>
                <a:cs typeface="Georgia"/>
              </a:rPr>
              <a:t>onlayn manzili</a:t>
            </a:r>
          </a:p>
        </p:txBody>
      </p:sp>
      <p:sp>
        <p:nvSpPr>
          <p:cNvPr id="5" name="Xizmatlarni ko‘rsatish va mijozga bog‘lanishni osonlashtirish">
            <a:extLst xmlns:a="http://schemas.openxmlformats.org/drawingml/2006/main">
              <a:ext uri="{FF2B5EF4-FFF2-40B4-BE49-F238E27FC236}">
                <a16:creationId xmlns:a16="http://schemas.microsoft.com/office/drawing/2014/main" id="{1C14A3DF-4CD2-423A-AF0B-09783B722487}"/>
              </a:ext>
            </a:extLst>
          </p:cNvPr>
          <p:cNvSpPr>
            <a:spLocks xmlns:a="http://schemas.openxmlformats.org/drawingml/2006/main" noGrp="1"/>
          </p:cNvSpPr>
          <p:nvPr/>
        </p:nvSpPr>
        <p:spPr>
          <a:xfrm xmlns:a="http://schemas.openxmlformats.org/drawingml/2006/main">
            <a:off x="638175" y="4533900"/>
            <a:ext cx="62293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i="0">
                <a:solidFill>
                  <a:srgbClr val="E6D3D8"/>
                </a:solidFill>
                <a:latin typeface="Segoe UI"/>
                <a:ea typeface="Segoe UI"/>
                <a:cs typeface="Segoe UI"/>
              </a:defRPr>
            </a:defPPr>
          </a:lstStyle>
          <a:p xmlns:a="http://schemas.openxmlformats.org/drawingml/2006/main">
            <a:pPr algn="l">
              <a:defRPr sz="2025" b="0" i="0">
                <a:solidFill>
                  <a:srgbClr val="E6D3D8"/>
                </a:solidFill>
                <a:latin typeface="Segoe UI"/>
                <a:ea typeface="Segoe UI"/>
                <a:cs typeface="Segoe UI"/>
              </a:defRPr>
            </a:pPr>
            <a:r>
              <a:rPr sz="2025" b="0" i="0">
                <a:solidFill>
                  <a:srgbClr val="E6D3D8"/>
                </a:solidFill>
                <a:latin typeface="Segoe UI"/>
                <a:ea typeface="Segoe UI"/>
                <a:cs typeface="Segoe UI"/>
              </a:rPr>
              <a:t>Xizmatlarni ko‘rsatish va</a:t>
            </a:r>
          </a:p>
          <a:p xmlns:a="http://schemas.openxmlformats.org/drawingml/2006/main">
            <a:pPr algn="l">
              <a:defRPr sz="2025" b="0" i="0">
                <a:solidFill>
                  <a:srgbClr val="E6D3D8"/>
                </a:solidFill>
                <a:latin typeface="Segoe UI"/>
                <a:ea typeface="Segoe UI"/>
                <a:cs typeface="Segoe UI"/>
              </a:defRPr>
            </a:pPr>
            <a:r>
              <a:rPr sz="2025" b="0" i="0">
                <a:solidFill>
                  <a:srgbClr val="E6D3D8"/>
                </a:solidFill>
                <a:latin typeface="Segoe UI"/>
                <a:ea typeface="Segoe UI"/>
                <a:cs typeface="Segoe UI"/>
              </a:rPr>
              <a:t>mijozga bog‘lanishni osonlashtirish</a:t>
            </a:r>
          </a:p>
        </p:txBody>
      </p:sp>
      <p:sp>
        <p:nvSpPr>
          <p:cNvPr id="6" name="Veb sayt, CRM va Telegram bot taklifi">
            <a:extLst xmlns:a="http://schemas.openxmlformats.org/drawingml/2006/main">
              <a:ext uri="{FF2B5EF4-FFF2-40B4-BE49-F238E27FC236}">
                <a16:creationId xmlns:a16="http://schemas.microsoft.com/office/drawing/2014/main" id="{2D2E7A5C-F203-4B8F-AF61-1F432E30510C}"/>
              </a:ext>
            </a:extLst>
          </p:cNvPr>
          <p:cNvSpPr>
            <a:spLocks xmlns:a="http://schemas.openxmlformats.org/drawingml/2006/main" noGrp="1"/>
          </p:cNvSpPr>
          <p:nvPr/>
        </p:nvSpPr>
        <p:spPr>
          <a:xfrm xmlns:a="http://schemas.openxmlformats.org/drawingml/2006/main">
            <a:off x="638175" y="6096000"/>
            <a:ext cx="63531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i="0">
                <a:solidFill>
                  <a:srgbClr val="E5C9AC"/>
                </a:solidFill>
                <a:latin typeface="Segoe UI"/>
                <a:ea typeface="Segoe UI"/>
                <a:cs typeface="Segoe UI"/>
              </a:defRPr>
            </a:defPPr>
          </a:lstStyle>
          <a:p xmlns:a="http://schemas.openxmlformats.org/drawingml/2006/main">
            <a:pPr algn="l">
              <a:defRPr sz="1575" b="0" i="0">
                <a:solidFill>
                  <a:srgbClr val="E5C9AC"/>
                </a:solidFill>
                <a:latin typeface="Segoe UI"/>
                <a:ea typeface="Segoe UI"/>
                <a:cs typeface="Segoe UI"/>
              </a:defRPr>
            </a:pPr>
            <a:r>
              <a:rPr sz="1575" b="0" i="0">
                <a:solidFill>
                  <a:srgbClr val="E5C9AC"/>
                </a:solidFill>
                <a:latin typeface="Segoe UI"/>
                <a:ea typeface="Segoe UI"/>
                <a:cs typeface="Segoe UI"/>
              </a:rPr>
              <a:t>Veb sayt, CRM va Telegram bot taklifi</a:t>
            </a:r>
          </a:p>
        </p:txBody>
      </p:sp>
    </p:spTree>
    <p:extLst>
      <p:ext uri="{BB962C8B-B14F-4D97-AF65-F5344CB8AC3E}">
        <p14:creationId xmlns:p14="http://schemas.microsoft.com/office/powerpoint/2010/main" val="1579180764"/>
      </p:ext>
    </p:extLst>
  </p:cSld>
</p:sld>
</file>

<file path=ppt/slides/slide2.xml><?xml version="1.0" encoding="utf-8"?>
<p:sld xmlns:p="http://schemas.openxmlformats.org/presentationml/2006/main">
  <p:cSld>
    <p:bg>
      <p:bgPr>
        <a:solidFill xmlns:a="http://schemas.openxmlformats.org/drawingml/2006/main">
          <a:srgbClr val="FBF9FA"/>
        </a:solidFill>
      </p:bgPr>
    </p:bg>
    <p:spTree>
      <p:nvGrpSpPr>
        <p:cNvPr id="1" name=""/>
        <p:cNvGrpSpPr/>
        <p:nvPr/>
      </p:nvGrpSpPr>
      <p:grpSpPr>
        <a:xfrm xmlns:a="http://schemas.openxmlformats.org/drawingml/2006/main"/>
      </p:grpSpPr>
      <p:sp>
        <p:nvSpPr>
          <p:cNvPr id="16" name="Biznesga foydasi">
            <a:extLst xmlns:a="http://schemas.openxmlformats.org/drawingml/2006/main">
              <a:ext uri="{FF2B5EF4-FFF2-40B4-BE49-F238E27FC236}">
                <a16:creationId xmlns:a16="http://schemas.microsoft.com/office/drawing/2014/main" id="{756C5F43-7FEB-475D-9F2B-5BD57685A4FC}"/>
              </a:ext>
            </a:extLst>
          </p:cNvPr>
          <p:cNvSpPr>
            <a:spLocks xmlns:a="http://schemas.openxmlformats.org/drawingml/2006/main" noGrp="1"/>
          </p:cNvSpPr>
          <p:nvPr/>
        </p:nvSpPr>
        <p:spPr>
          <a:xfrm xmlns:a="http://schemas.openxmlformats.org/drawingml/2006/main">
            <a:off x="609600" y="4572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0" i="0">
                <a:solidFill>
                  <a:srgbClr val="471528"/>
                </a:solidFill>
                <a:latin typeface="Georgia"/>
                <a:ea typeface="Georgia"/>
                <a:cs typeface="Georgia"/>
              </a:defRPr>
            </a:defPPr>
          </a:lstStyle>
          <a:p xmlns:a="http://schemas.openxmlformats.org/drawingml/2006/main">
            <a:pPr algn="l">
              <a:defRPr sz="3750" b="0" i="0">
                <a:solidFill>
                  <a:srgbClr val="471528"/>
                </a:solidFill>
                <a:latin typeface="Georgia"/>
                <a:ea typeface="Georgia"/>
                <a:cs typeface="Georgia"/>
              </a:defRPr>
            </a:pPr>
            <a:r>
              <a:rPr sz="3750" b="0" i="0">
                <a:solidFill>
                  <a:srgbClr val="471528"/>
                </a:solidFill>
                <a:latin typeface="Georgia"/>
                <a:ea typeface="Georgia"/>
                <a:cs typeface="Georgia"/>
              </a:rPr>
              <a:t>Biznesga foydasi</a:t>
            </a:r>
          </a:p>
        </p:txBody>
      </p:sp>
      <p:sp>
        <p:nvSpPr>
          <p:cNvPr id="2" name="01">
            <a:extLst xmlns:a="http://schemas.openxmlformats.org/drawingml/2006/main">
              <a:ext uri="{FF2B5EF4-FFF2-40B4-BE49-F238E27FC236}">
                <a16:creationId xmlns:a16="http://schemas.microsoft.com/office/drawing/2014/main" id="{F9A4F813-FCAE-49B3-B1E8-5FC5DBADC1BB}"/>
              </a:ext>
            </a:extLst>
          </p:cNvPr>
          <p:cNvSpPr>
            <a:spLocks xmlns:a="http://schemas.openxmlformats.org/drawingml/2006/main" noGrp="1"/>
          </p:cNvSpPr>
          <p:nvPr/>
        </p:nvSpPr>
        <p:spPr>
          <a:xfrm xmlns:a="http://schemas.openxmlformats.org/drawingml/2006/main">
            <a:off x="609600" y="1504950"/>
            <a:ext cx="5715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0" i="0">
                <a:solidFill>
                  <a:srgbClr val="A97287"/>
                </a:solidFill>
                <a:latin typeface="Georgia"/>
                <a:ea typeface="Georgia"/>
                <a:cs typeface="Georgia"/>
              </a:defRPr>
            </a:defPPr>
          </a:lstStyle>
          <a:p xmlns:a="http://schemas.openxmlformats.org/drawingml/2006/main">
            <a:pPr algn="l">
              <a:defRPr sz="3150" b="0" i="0">
                <a:solidFill>
                  <a:srgbClr val="A97287"/>
                </a:solidFill>
                <a:latin typeface="Georgia"/>
                <a:ea typeface="Georgia"/>
                <a:cs typeface="Georgia"/>
              </a:defRPr>
            </a:pPr>
            <a:r>
              <a:rPr sz="3150" b="0" i="0">
                <a:solidFill>
                  <a:srgbClr val="A97287"/>
                </a:solidFill>
                <a:latin typeface="Georgia"/>
                <a:ea typeface="Georgia"/>
                <a:cs typeface="Georgia"/>
              </a:rPr>
              <a:t>01</a:t>
            </a:r>
          </a:p>
        </p:txBody>
      </p:sp>
      <p:sp>
        <p:nvSpPr>
          <p:cNvPr id="3" name="Ko‘proq ishonch">
            <a:extLst xmlns:a="http://schemas.openxmlformats.org/drawingml/2006/main">
              <a:ext uri="{FF2B5EF4-FFF2-40B4-BE49-F238E27FC236}">
                <a16:creationId xmlns:a16="http://schemas.microsoft.com/office/drawing/2014/main" id="{5DE7A138-298E-4695-8F02-F66044E94D04}"/>
              </a:ext>
            </a:extLst>
          </p:cNvPr>
          <p:cNvSpPr>
            <a:spLocks xmlns:a="http://schemas.openxmlformats.org/drawingml/2006/main" noGrp="1"/>
          </p:cNvSpPr>
          <p:nvPr/>
        </p:nvSpPr>
        <p:spPr>
          <a:xfrm xmlns:a="http://schemas.openxmlformats.org/drawingml/2006/main">
            <a:off x="1304925" y="1552575"/>
            <a:ext cx="41243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i="0">
                <a:solidFill>
                  <a:srgbClr val="471528"/>
                </a:solidFill>
                <a:latin typeface="Segoe UI"/>
                <a:ea typeface="Segoe UI"/>
                <a:cs typeface="Segoe UI"/>
              </a:defRPr>
            </a:defPPr>
          </a:lstStyle>
          <a:p xmlns:a="http://schemas.openxmlformats.org/drawingml/2006/main">
            <a:pPr algn="l">
              <a:defRPr sz="1800" b="1" i="0">
                <a:solidFill>
                  <a:srgbClr val="471528"/>
                </a:solidFill>
                <a:latin typeface="Segoe UI"/>
                <a:ea typeface="Segoe UI"/>
                <a:cs typeface="Segoe UI"/>
              </a:defRPr>
            </a:pPr>
            <a:r>
              <a:rPr sz="1800" b="1" i="0">
                <a:solidFill>
                  <a:srgbClr val="471528"/>
                </a:solidFill>
                <a:latin typeface="Segoe UI"/>
                <a:ea typeface="Segoe UI"/>
                <a:cs typeface="Segoe UI"/>
              </a:rPr>
              <a:t>Ko‘proq ishonch</a:t>
            </a:r>
          </a:p>
        </p:txBody>
      </p:sp>
      <p:sp>
        <p:nvSpPr>
          <p:cNvPr id="4" name="Salonning haqiqiy ishlari va xizmatlari mijozga tanlashda yordam beradi.">
            <a:extLst xmlns:a="http://schemas.openxmlformats.org/drawingml/2006/main">
              <a:ext uri="{FF2B5EF4-FFF2-40B4-BE49-F238E27FC236}">
                <a16:creationId xmlns:a16="http://schemas.microsoft.com/office/drawing/2014/main" id="{2D2F364D-CB45-4FFB-8B80-85ADDC52C7F2}"/>
              </a:ext>
            </a:extLst>
          </p:cNvPr>
          <p:cNvSpPr>
            <a:spLocks xmlns:a="http://schemas.openxmlformats.org/drawingml/2006/main" noGrp="1"/>
          </p:cNvSpPr>
          <p:nvPr/>
        </p:nvSpPr>
        <p:spPr>
          <a:xfrm xmlns:a="http://schemas.openxmlformats.org/drawingml/2006/main">
            <a:off x="1304925" y="1981200"/>
            <a:ext cx="412432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i="0">
                <a:solidFill>
                  <a:srgbClr val="62545D"/>
                </a:solidFill>
                <a:latin typeface="Segoe UI"/>
                <a:ea typeface="Segoe UI"/>
                <a:cs typeface="Segoe UI"/>
              </a:defRPr>
            </a:defPPr>
          </a:lstStyle>
          <a:p xmlns:a="http://schemas.openxmlformats.org/drawingml/2006/main">
            <a:pPr algn="l">
              <a:defRPr sz="1575" b="0" i="0">
                <a:solidFill>
                  <a:srgbClr val="62545D"/>
                </a:solidFill>
                <a:latin typeface="Segoe UI"/>
                <a:ea typeface="Segoe UI"/>
                <a:cs typeface="Segoe UI"/>
              </a:defRPr>
            </a:pPr>
            <a:r>
              <a:rPr sz="1575" b="0" i="0">
                <a:solidFill>
                  <a:srgbClr val="62545D"/>
                </a:solidFill>
                <a:latin typeface="Segoe UI"/>
                <a:ea typeface="Segoe UI"/>
                <a:cs typeface="Segoe UI"/>
              </a:rPr>
              <a:t>Salonning haqiqiy ishlari va xizmatlari</a:t>
            </a:r>
          </a:p>
          <a:p xmlns:a="http://schemas.openxmlformats.org/drawingml/2006/main">
            <a:pPr algn="l">
              <a:defRPr sz="1575" b="0" i="0">
                <a:solidFill>
                  <a:srgbClr val="62545D"/>
                </a:solidFill>
                <a:latin typeface="Segoe UI"/>
                <a:ea typeface="Segoe UI"/>
                <a:cs typeface="Segoe UI"/>
              </a:defRPr>
            </a:pPr>
            <a:r>
              <a:rPr sz="1575" b="0" i="0">
                <a:solidFill>
                  <a:srgbClr val="62545D"/>
                </a:solidFill>
                <a:latin typeface="Segoe UI"/>
                <a:ea typeface="Segoe UI"/>
                <a:cs typeface="Segoe UI"/>
              </a:rPr>
              <a:t>mijozga tanlashda yordam beradi.</a:t>
            </a:r>
          </a:p>
        </p:txBody>
      </p:sp>
      <p:sp>
        <p:nvSpPr>
          <p:cNvPr id="5" name="02">
            <a:extLst xmlns:a="http://schemas.openxmlformats.org/drawingml/2006/main">
              <a:ext uri="{FF2B5EF4-FFF2-40B4-BE49-F238E27FC236}">
                <a16:creationId xmlns:a16="http://schemas.microsoft.com/office/drawing/2014/main" id="{9562D151-013E-4425-8F60-CD3FEC8886C1}"/>
              </a:ext>
            </a:extLst>
          </p:cNvPr>
          <p:cNvSpPr>
            <a:spLocks xmlns:a="http://schemas.openxmlformats.org/drawingml/2006/main" noGrp="1"/>
          </p:cNvSpPr>
          <p:nvPr/>
        </p:nvSpPr>
        <p:spPr>
          <a:xfrm xmlns:a="http://schemas.openxmlformats.org/drawingml/2006/main">
            <a:off x="609600" y="2638425"/>
            <a:ext cx="5715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0" i="0">
                <a:solidFill>
                  <a:srgbClr val="A97287"/>
                </a:solidFill>
                <a:latin typeface="Georgia"/>
                <a:ea typeface="Georgia"/>
                <a:cs typeface="Georgia"/>
              </a:defRPr>
            </a:defPPr>
          </a:lstStyle>
          <a:p xmlns:a="http://schemas.openxmlformats.org/drawingml/2006/main">
            <a:pPr algn="l">
              <a:defRPr sz="3150" b="0" i="0">
                <a:solidFill>
                  <a:srgbClr val="A97287"/>
                </a:solidFill>
                <a:latin typeface="Georgia"/>
                <a:ea typeface="Georgia"/>
                <a:cs typeface="Georgia"/>
              </a:defRPr>
            </a:pPr>
            <a:r>
              <a:rPr sz="3150" b="0" i="0">
                <a:solidFill>
                  <a:srgbClr val="A97287"/>
                </a:solidFill>
                <a:latin typeface="Georgia"/>
                <a:ea typeface="Georgia"/>
                <a:cs typeface="Georgia"/>
              </a:rPr>
              <a:t>02</a:t>
            </a:r>
          </a:p>
        </p:txBody>
      </p:sp>
      <p:sp>
        <p:nvSpPr>
          <p:cNvPr id="6" name="Yozilish osonroq">
            <a:extLst xmlns:a="http://schemas.openxmlformats.org/drawingml/2006/main">
              <a:ext uri="{FF2B5EF4-FFF2-40B4-BE49-F238E27FC236}">
                <a16:creationId xmlns:a16="http://schemas.microsoft.com/office/drawing/2014/main" id="{DEBB8F02-2324-4344-8217-6D4B0515E425}"/>
              </a:ext>
            </a:extLst>
          </p:cNvPr>
          <p:cNvSpPr>
            <a:spLocks xmlns:a="http://schemas.openxmlformats.org/drawingml/2006/main" noGrp="1"/>
          </p:cNvSpPr>
          <p:nvPr/>
        </p:nvSpPr>
        <p:spPr>
          <a:xfrm xmlns:a="http://schemas.openxmlformats.org/drawingml/2006/main">
            <a:off x="1304925" y="2686050"/>
            <a:ext cx="41243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i="0">
                <a:solidFill>
                  <a:srgbClr val="471528"/>
                </a:solidFill>
                <a:latin typeface="Segoe UI"/>
                <a:ea typeface="Segoe UI"/>
                <a:cs typeface="Segoe UI"/>
              </a:defRPr>
            </a:defPPr>
          </a:lstStyle>
          <a:p xmlns:a="http://schemas.openxmlformats.org/drawingml/2006/main">
            <a:pPr algn="l">
              <a:defRPr sz="1800" b="1" i="0">
                <a:solidFill>
                  <a:srgbClr val="471528"/>
                </a:solidFill>
                <a:latin typeface="Segoe UI"/>
                <a:ea typeface="Segoe UI"/>
                <a:cs typeface="Segoe UI"/>
              </a:defRPr>
            </a:pPr>
            <a:r>
              <a:rPr sz="1800" b="1" i="0">
                <a:solidFill>
                  <a:srgbClr val="471528"/>
                </a:solidFill>
                <a:latin typeface="Segoe UI"/>
                <a:ea typeface="Segoe UI"/>
                <a:cs typeface="Segoe UI"/>
              </a:rPr>
              <a:t>Yozilish osonroq</a:t>
            </a:r>
          </a:p>
        </p:txBody>
      </p:sp>
      <p:sp>
        <p:nvSpPr>
          <p:cNvPr id="7" name="Xizmatni tanlash, yozilish va telefon orqali aloqa bir joyda.">
            <a:extLst xmlns:a="http://schemas.openxmlformats.org/drawingml/2006/main">
              <a:ext uri="{FF2B5EF4-FFF2-40B4-BE49-F238E27FC236}">
                <a16:creationId xmlns:a16="http://schemas.microsoft.com/office/drawing/2014/main" id="{7B2871D7-F703-45A5-A4F2-6D458B1D103B}"/>
              </a:ext>
            </a:extLst>
          </p:cNvPr>
          <p:cNvSpPr>
            <a:spLocks xmlns:a="http://schemas.openxmlformats.org/drawingml/2006/main" noGrp="1"/>
          </p:cNvSpPr>
          <p:nvPr/>
        </p:nvSpPr>
        <p:spPr>
          <a:xfrm xmlns:a="http://schemas.openxmlformats.org/drawingml/2006/main">
            <a:off x="1304925" y="3114675"/>
            <a:ext cx="412432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i="0">
                <a:solidFill>
                  <a:srgbClr val="62545D"/>
                </a:solidFill>
                <a:latin typeface="Segoe UI"/>
                <a:ea typeface="Segoe UI"/>
                <a:cs typeface="Segoe UI"/>
              </a:defRPr>
            </a:defPPr>
          </a:lstStyle>
          <a:p xmlns:a="http://schemas.openxmlformats.org/drawingml/2006/main">
            <a:pPr algn="l">
              <a:defRPr sz="1575" b="0" i="0">
                <a:solidFill>
                  <a:srgbClr val="62545D"/>
                </a:solidFill>
                <a:latin typeface="Segoe UI"/>
                <a:ea typeface="Segoe UI"/>
                <a:cs typeface="Segoe UI"/>
              </a:defRPr>
            </a:pPr>
            <a:r>
              <a:rPr sz="1575" b="0" i="0">
                <a:solidFill>
                  <a:srgbClr val="62545D"/>
                </a:solidFill>
                <a:latin typeface="Segoe UI"/>
                <a:ea typeface="Segoe UI"/>
                <a:cs typeface="Segoe UI"/>
              </a:rPr>
              <a:t>Xizmatni tanlash, yozilish va</a:t>
            </a:r>
          </a:p>
          <a:p xmlns:a="http://schemas.openxmlformats.org/drawingml/2006/main">
            <a:pPr algn="l">
              <a:defRPr sz="1575" b="0" i="0">
                <a:solidFill>
                  <a:srgbClr val="62545D"/>
                </a:solidFill>
                <a:latin typeface="Segoe UI"/>
                <a:ea typeface="Segoe UI"/>
                <a:cs typeface="Segoe UI"/>
              </a:defRPr>
            </a:pPr>
            <a:r>
              <a:rPr sz="1575" b="0" i="0">
                <a:solidFill>
                  <a:srgbClr val="62545D"/>
                </a:solidFill>
                <a:latin typeface="Segoe UI"/>
                <a:ea typeface="Segoe UI"/>
                <a:cs typeface="Segoe UI"/>
              </a:rPr>
              <a:t>telefon orqali aloqa bir joyda.</a:t>
            </a:r>
          </a:p>
        </p:txBody>
      </p:sp>
      <p:sp>
        <p:nvSpPr>
          <p:cNvPr id="8" name="03">
            <a:extLst xmlns:a="http://schemas.openxmlformats.org/drawingml/2006/main">
              <a:ext uri="{FF2B5EF4-FFF2-40B4-BE49-F238E27FC236}">
                <a16:creationId xmlns:a16="http://schemas.microsoft.com/office/drawing/2014/main" id="{D47C06DF-C0A8-4452-A095-3641679C4726}"/>
              </a:ext>
            </a:extLst>
          </p:cNvPr>
          <p:cNvSpPr>
            <a:spLocks xmlns:a="http://schemas.openxmlformats.org/drawingml/2006/main" noGrp="1"/>
          </p:cNvSpPr>
          <p:nvPr/>
        </p:nvSpPr>
        <p:spPr>
          <a:xfrm xmlns:a="http://schemas.openxmlformats.org/drawingml/2006/main">
            <a:off x="609600" y="3771900"/>
            <a:ext cx="5715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0" i="0">
                <a:solidFill>
                  <a:srgbClr val="A97287"/>
                </a:solidFill>
                <a:latin typeface="Georgia"/>
                <a:ea typeface="Georgia"/>
                <a:cs typeface="Georgia"/>
              </a:defRPr>
            </a:defPPr>
          </a:lstStyle>
          <a:p xmlns:a="http://schemas.openxmlformats.org/drawingml/2006/main">
            <a:pPr algn="l">
              <a:defRPr sz="3150" b="0" i="0">
                <a:solidFill>
                  <a:srgbClr val="A97287"/>
                </a:solidFill>
                <a:latin typeface="Georgia"/>
                <a:ea typeface="Georgia"/>
                <a:cs typeface="Georgia"/>
              </a:defRPr>
            </a:pPr>
            <a:r>
              <a:rPr sz="3150" b="0" i="0">
                <a:solidFill>
                  <a:srgbClr val="A97287"/>
                </a:solidFill>
                <a:latin typeface="Georgia"/>
                <a:ea typeface="Georgia"/>
                <a:cs typeface="Georgia"/>
              </a:rPr>
              <a:t>03</a:t>
            </a:r>
          </a:p>
        </p:txBody>
      </p:sp>
      <p:sp>
        <p:nvSpPr>
          <p:cNvPr id="9" name="Kamroq takroriy savol">
            <a:extLst xmlns:a="http://schemas.openxmlformats.org/drawingml/2006/main">
              <a:ext uri="{FF2B5EF4-FFF2-40B4-BE49-F238E27FC236}">
                <a16:creationId xmlns:a16="http://schemas.microsoft.com/office/drawing/2014/main" id="{BB61988F-3C06-4CCB-A462-D2C97DA7E63F}"/>
              </a:ext>
            </a:extLst>
          </p:cNvPr>
          <p:cNvSpPr>
            <a:spLocks xmlns:a="http://schemas.openxmlformats.org/drawingml/2006/main" noGrp="1"/>
          </p:cNvSpPr>
          <p:nvPr/>
        </p:nvSpPr>
        <p:spPr>
          <a:xfrm xmlns:a="http://schemas.openxmlformats.org/drawingml/2006/main">
            <a:off x="1304925" y="3819525"/>
            <a:ext cx="41243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i="0">
                <a:solidFill>
                  <a:srgbClr val="471528"/>
                </a:solidFill>
                <a:latin typeface="Segoe UI"/>
                <a:ea typeface="Segoe UI"/>
                <a:cs typeface="Segoe UI"/>
              </a:defRPr>
            </a:defPPr>
          </a:lstStyle>
          <a:p xmlns:a="http://schemas.openxmlformats.org/drawingml/2006/main">
            <a:pPr algn="l">
              <a:defRPr sz="1800" b="1" i="0">
                <a:solidFill>
                  <a:srgbClr val="471528"/>
                </a:solidFill>
                <a:latin typeface="Segoe UI"/>
                <a:ea typeface="Segoe UI"/>
                <a:cs typeface="Segoe UI"/>
              </a:defRPr>
            </a:pPr>
            <a:r>
              <a:rPr sz="1800" b="1" i="0">
                <a:solidFill>
                  <a:srgbClr val="471528"/>
                </a:solidFill>
                <a:latin typeface="Segoe UI"/>
                <a:ea typeface="Segoe UI"/>
                <a:cs typeface="Segoe UI"/>
              </a:rPr>
              <a:t>Kamroq takroriy savol</a:t>
            </a:r>
          </a:p>
        </p:txBody>
      </p:sp>
      <p:sp>
        <p:nvSpPr>
          <p:cNvPr id="10" name="Xizmatlar, manzil va aloqa ma’lumotini mijoz saytning o‘zida ko‘radi.">
            <a:extLst xmlns:a="http://schemas.openxmlformats.org/drawingml/2006/main">
              <a:ext uri="{FF2B5EF4-FFF2-40B4-BE49-F238E27FC236}">
                <a16:creationId xmlns:a16="http://schemas.microsoft.com/office/drawing/2014/main" id="{F58C4A25-A24E-4B61-872A-81A92707598C}"/>
              </a:ext>
            </a:extLst>
          </p:cNvPr>
          <p:cNvSpPr>
            <a:spLocks xmlns:a="http://schemas.openxmlformats.org/drawingml/2006/main" noGrp="1"/>
          </p:cNvSpPr>
          <p:nvPr/>
        </p:nvSpPr>
        <p:spPr>
          <a:xfrm xmlns:a="http://schemas.openxmlformats.org/drawingml/2006/main">
            <a:off x="1304925" y="4248150"/>
            <a:ext cx="412432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i="0">
                <a:solidFill>
                  <a:srgbClr val="62545D"/>
                </a:solidFill>
                <a:latin typeface="Segoe UI"/>
                <a:ea typeface="Segoe UI"/>
                <a:cs typeface="Segoe UI"/>
              </a:defRPr>
            </a:defPPr>
          </a:lstStyle>
          <a:p xmlns:a="http://schemas.openxmlformats.org/drawingml/2006/main">
            <a:pPr algn="l">
              <a:defRPr sz="1575" b="0" i="0">
                <a:solidFill>
                  <a:srgbClr val="62545D"/>
                </a:solidFill>
                <a:latin typeface="Segoe UI"/>
                <a:ea typeface="Segoe UI"/>
                <a:cs typeface="Segoe UI"/>
              </a:defRPr>
            </a:pPr>
            <a:r>
              <a:rPr sz="1575" b="0" i="0">
                <a:solidFill>
                  <a:srgbClr val="62545D"/>
                </a:solidFill>
                <a:latin typeface="Segoe UI"/>
                <a:ea typeface="Segoe UI"/>
                <a:cs typeface="Segoe UI"/>
              </a:rPr>
              <a:t>Xizmatlar, manzil va aloqa ma’lumotini</a:t>
            </a:r>
          </a:p>
          <a:p xmlns:a="http://schemas.openxmlformats.org/drawingml/2006/main">
            <a:pPr algn="l">
              <a:defRPr sz="1575" b="0" i="0">
                <a:solidFill>
                  <a:srgbClr val="62545D"/>
                </a:solidFill>
                <a:latin typeface="Segoe UI"/>
                <a:ea typeface="Segoe UI"/>
                <a:cs typeface="Segoe UI"/>
              </a:defRPr>
            </a:pPr>
            <a:r>
              <a:rPr sz="1575" b="0" i="0">
                <a:solidFill>
                  <a:srgbClr val="62545D"/>
                </a:solidFill>
                <a:latin typeface="Segoe UI"/>
                <a:ea typeface="Segoe UI"/>
                <a:cs typeface="Segoe UI"/>
              </a:rPr>
              <a:t>mijoz saytning o‘zida ko‘radi.</a:t>
            </a:r>
          </a:p>
        </p:txBody>
      </p:sp>
      <p:sp>
        <p:nvSpPr>
          <p:cNvPr id="11" name="04">
            <a:extLst xmlns:a="http://schemas.openxmlformats.org/drawingml/2006/main">
              <a:ext uri="{FF2B5EF4-FFF2-40B4-BE49-F238E27FC236}">
                <a16:creationId xmlns:a16="http://schemas.microsoft.com/office/drawing/2014/main" id="{669EE72D-8432-4750-837C-7CF0215D30F9}"/>
              </a:ext>
            </a:extLst>
          </p:cNvPr>
          <p:cNvSpPr>
            <a:spLocks xmlns:a="http://schemas.openxmlformats.org/drawingml/2006/main" noGrp="1"/>
          </p:cNvSpPr>
          <p:nvPr/>
        </p:nvSpPr>
        <p:spPr>
          <a:xfrm xmlns:a="http://schemas.openxmlformats.org/drawingml/2006/main">
            <a:off x="609600" y="4905375"/>
            <a:ext cx="5715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0" i="0">
                <a:solidFill>
                  <a:srgbClr val="A97287"/>
                </a:solidFill>
                <a:latin typeface="Georgia"/>
                <a:ea typeface="Georgia"/>
                <a:cs typeface="Georgia"/>
              </a:defRPr>
            </a:defPPr>
          </a:lstStyle>
          <a:p xmlns:a="http://schemas.openxmlformats.org/drawingml/2006/main">
            <a:pPr algn="l">
              <a:defRPr sz="3150" b="0" i="0">
                <a:solidFill>
                  <a:srgbClr val="A97287"/>
                </a:solidFill>
                <a:latin typeface="Georgia"/>
                <a:ea typeface="Georgia"/>
                <a:cs typeface="Georgia"/>
              </a:defRPr>
            </a:pPr>
            <a:r>
              <a:rPr sz="3150" b="0" i="0">
                <a:solidFill>
                  <a:srgbClr val="A97287"/>
                </a:solidFill>
                <a:latin typeface="Georgia"/>
                <a:ea typeface="Georgia"/>
                <a:cs typeface="Georgia"/>
              </a:rPr>
              <a:t>04</a:t>
            </a:r>
          </a:p>
        </p:txBody>
      </p:sp>
      <p:sp>
        <p:nvSpPr>
          <p:cNvPr id="12" name="Reklama uchun bitta havola">
            <a:extLst xmlns:a="http://schemas.openxmlformats.org/drawingml/2006/main">
              <a:ext uri="{FF2B5EF4-FFF2-40B4-BE49-F238E27FC236}">
                <a16:creationId xmlns:a16="http://schemas.microsoft.com/office/drawing/2014/main" id="{FD316C9E-6C86-4FFA-8108-C391A0B243EB}"/>
              </a:ext>
            </a:extLst>
          </p:cNvPr>
          <p:cNvSpPr>
            <a:spLocks xmlns:a="http://schemas.openxmlformats.org/drawingml/2006/main" noGrp="1"/>
          </p:cNvSpPr>
          <p:nvPr/>
        </p:nvSpPr>
        <p:spPr>
          <a:xfrm xmlns:a="http://schemas.openxmlformats.org/drawingml/2006/main">
            <a:off x="1304925" y="4953000"/>
            <a:ext cx="41243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i="0">
                <a:solidFill>
                  <a:srgbClr val="471528"/>
                </a:solidFill>
                <a:latin typeface="Segoe UI"/>
                <a:ea typeface="Segoe UI"/>
                <a:cs typeface="Segoe UI"/>
              </a:defRPr>
            </a:defPPr>
          </a:lstStyle>
          <a:p xmlns:a="http://schemas.openxmlformats.org/drawingml/2006/main">
            <a:pPr algn="l">
              <a:defRPr sz="1800" b="1" i="0">
                <a:solidFill>
                  <a:srgbClr val="471528"/>
                </a:solidFill>
                <a:latin typeface="Segoe UI"/>
                <a:ea typeface="Segoe UI"/>
                <a:cs typeface="Segoe UI"/>
              </a:defRPr>
            </a:pPr>
            <a:r>
              <a:rPr sz="1800" b="1" i="0">
                <a:solidFill>
                  <a:srgbClr val="471528"/>
                </a:solidFill>
                <a:latin typeface="Segoe UI"/>
                <a:ea typeface="Segoe UI"/>
                <a:cs typeface="Segoe UI"/>
              </a:rPr>
              <a:t>Reklama uchun bitta havola</a:t>
            </a:r>
          </a:p>
        </p:txBody>
      </p:sp>
      <p:sp>
        <p:nvSpPr>
          <p:cNvPr id="13" name="Instagram bio, QR va reklama mijozni bir manzilga olib keladi.">
            <a:extLst xmlns:a="http://schemas.openxmlformats.org/drawingml/2006/main">
              <a:ext uri="{FF2B5EF4-FFF2-40B4-BE49-F238E27FC236}">
                <a16:creationId xmlns:a16="http://schemas.microsoft.com/office/drawing/2014/main" id="{B1313C08-52FB-4BE4-A6AC-F1C79447963D}"/>
              </a:ext>
            </a:extLst>
          </p:cNvPr>
          <p:cNvSpPr>
            <a:spLocks xmlns:a="http://schemas.openxmlformats.org/drawingml/2006/main" noGrp="1"/>
          </p:cNvSpPr>
          <p:nvPr/>
        </p:nvSpPr>
        <p:spPr>
          <a:xfrm xmlns:a="http://schemas.openxmlformats.org/drawingml/2006/main">
            <a:off x="1304925" y="5381625"/>
            <a:ext cx="412432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i="0">
                <a:solidFill>
                  <a:srgbClr val="62545D"/>
                </a:solidFill>
                <a:latin typeface="Segoe UI"/>
                <a:ea typeface="Segoe UI"/>
                <a:cs typeface="Segoe UI"/>
              </a:defRPr>
            </a:defPPr>
          </a:lstStyle>
          <a:p xmlns:a="http://schemas.openxmlformats.org/drawingml/2006/main">
            <a:pPr algn="l">
              <a:defRPr sz="1575" b="0" i="0">
                <a:solidFill>
                  <a:srgbClr val="62545D"/>
                </a:solidFill>
                <a:latin typeface="Segoe UI"/>
                <a:ea typeface="Segoe UI"/>
                <a:cs typeface="Segoe UI"/>
              </a:defRPr>
            </a:pPr>
            <a:r>
              <a:rPr sz="1575" b="0" i="0">
                <a:solidFill>
                  <a:srgbClr val="62545D"/>
                </a:solidFill>
                <a:latin typeface="Segoe UI"/>
                <a:ea typeface="Segoe UI"/>
                <a:cs typeface="Segoe UI"/>
              </a:rPr>
              <a:t>Instagram bio, QR va reklama</a:t>
            </a:r>
          </a:p>
          <a:p xmlns:a="http://schemas.openxmlformats.org/drawingml/2006/main">
            <a:pPr algn="l">
              <a:defRPr sz="1575" b="0" i="0">
                <a:solidFill>
                  <a:srgbClr val="62545D"/>
                </a:solidFill>
                <a:latin typeface="Segoe UI"/>
                <a:ea typeface="Segoe UI"/>
                <a:cs typeface="Segoe UI"/>
              </a:defRPr>
            </a:pPr>
            <a:r>
              <a:rPr sz="1575" b="0" i="0">
                <a:solidFill>
                  <a:srgbClr val="62545D"/>
                </a:solidFill>
                <a:latin typeface="Segoe UI"/>
                <a:ea typeface="Segoe UI"/>
                <a:cs typeface="Segoe UI"/>
              </a:rPr>
              <a:t>mijozni bir manzilga olib keladi.</a:t>
            </a:r>
          </a:p>
        </p:txBody>
      </p:sp>
      <p:pic>
        <p:nvPicPr>
          <p:cNvPr id="14" name="">
            <a:extLst xmlns:a="http://schemas.openxmlformats.org/drawingml/2006/main">
              <a:ext uri="{FF2B5EF4-FFF2-40B4-BE49-F238E27FC236}">
                <a16:creationId xmlns:a16="http://schemas.microsoft.com/office/drawing/2014/main" id="{632436CB-A723-4020-BCF3-15055AC5E295}"/>
              </a:ext>
            </a:extLst>
          </p:cNvPr>
          <p:cNvPicPr>
            <a:picLocks xmlns:a="http://schemas.openxmlformats.org/drawingml/2006/main" noChangeAspect="1"/>
          </p:cNvPicPr>
          <p:nvPr/>
        </p:nvPicPr>
        <p:blipFill>
          <a:blip xmlns:r="http://schemas.openxmlformats.org/officeDocument/2006/relationships" xmlns:a="http://schemas.openxmlformats.org/drawingml/2006/main" r:embed="R1456ca8a8e164297"/>
          <a:stretch xmlns:a="http://schemas.openxmlformats.org/drawingml/2006/main"/>
        </p:blipFill>
        <p:spPr>
          <a:xfrm xmlns:a="http://schemas.openxmlformats.org/drawingml/2006/main">
            <a:off x="5953146" y="1524000"/>
            <a:ext cx="5629233" cy="3725228"/>
          </a:xfrm>
          <a:prstGeom xmlns:a="http://schemas.openxmlformats.org/drawingml/2006/main" prst="rect">
            <a:avLst/>
          </a:prstGeom>
        </p:spPr>
      </p:pic>
      <p:sp>
        <p:nvSpPr>
          <p:cNvPr id="15" name="Beauty Me uslubiga mos ranglar, yirik suratlar va aniq yozilish tugmasi">
            <a:extLst xmlns:a="http://schemas.openxmlformats.org/drawingml/2006/main">
              <a:ext uri="{FF2B5EF4-FFF2-40B4-BE49-F238E27FC236}">
                <a16:creationId xmlns:a16="http://schemas.microsoft.com/office/drawing/2014/main" id="{EDB6A104-CCAF-4344-9854-E924EC3DC914}"/>
              </a:ext>
            </a:extLst>
          </p:cNvPr>
          <p:cNvSpPr>
            <a:spLocks xmlns:a="http://schemas.openxmlformats.org/drawingml/2006/main" noGrp="1"/>
          </p:cNvSpPr>
          <p:nvPr/>
        </p:nvSpPr>
        <p:spPr>
          <a:xfrm xmlns:a="http://schemas.openxmlformats.org/drawingml/2006/main">
            <a:off x="5953125" y="5524500"/>
            <a:ext cx="56292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i="0">
                <a:solidFill>
                  <a:srgbClr val="471528"/>
                </a:solidFill>
                <a:latin typeface="Georgia"/>
                <a:ea typeface="Georgia"/>
                <a:cs typeface="Georgia"/>
              </a:defRPr>
            </a:defPPr>
          </a:lstStyle>
          <a:p xmlns:a="http://schemas.openxmlformats.org/drawingml/2006/main">
            <a:pPr algn="l">
              <a:defRPr sz="2025" b="0" i="0">
                <a:solidFill>
                  <a:srgbClr val="471528"/>
                </a:solidFill>
                <a:latin typeface="Georgia"/>
                <a:ea typeface="Georgia"/>
                <a:cs typeface="Georgia"/>
              </a:defRPr>
            </a:pPr>
            <a:r>
              <a:rPr sz="2025" b="0" i="0">
                <a:solidFill>
                  <a:srgbClr val="471528"/>
                </a:solidFill>
                <a:latin typeface="Georgia"/>
                <a:ea typeface="Georgia"/>
                <a:cs typeface="Georgia"/>
              </a:rPr>
              <a:t>Beauty Me uslubiga mos ranglar,</a:t>
            </a:r>
          </a:p>
          <a:p xmlns:a="http://schemas.openxmlformats.org/drawingml/2006/main">
            <a:pPr algn="l">
              <a:defRPr sz="2025" b="0" i="0">
                <a:solidFill>
                  <a:srgbClr val="471528"/>
                </a:solidFill>
                <a:latin typeface="Georgia"/>
                <a:ea typeface="Georgia"/>
                <a:cs typeface="Georgia"/>
              </a:defRPr>
            </a:pPr>
            <a:r>
              <a:rPr sz="2025" b="0" i="0">
                <a:solidFill>
                  <a:srgbClr val="471528"/>
                </a:solidFill>
                <a:latin typeface="Georgia"/>
                <a:ea typeface="Georgia"/>
                <a:cs typeface="Georgia"/>
              </a:rPr>
              <a:t>yirik suratlar va aniq yozilish tugmasi</a:t>
            </a:r>
          </a:p>
        </p:txBody>
      </p:sp>
    </p:spTree>
    <p:extLst>
      <p:ext uri="{BB962C8B-B14F-4D97-AF65-F5344CB8AC3E}">
        <p14:creationId xmlns:p14="http://schemas.microsoft.com/office/powerpoint/2010/main" val="380525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Mijoz uchun qulay ko‘rinish">
            <a:extLst xmlns:a="http://schemas.openxmlformats.org/drawingml/2006/main">
              <a:ext uri="{FF2B5EF4-FFF2-40B4-BE49-F238E27FC236}">
                <a16:creationId xmlns:a16="http://schemas.microsoft.com/office/drawing/2014/main" id="{A58DB1D5-0E00-47E1-A780-88877C675D65}"/>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0" i="0">
                <a:solidFill>
                  <a:srgbClr val="471528"/>
                </a:solidFill>
                <a:latin typeface="Georgia"/>
                <a:ea typeface="Georgia"/>
                <a:cs typeface="Georgia"/>
              </a:defRPr>
            </a:defPPr>
          </a:lstStyle>
          <a:p xmlns:a="http://schemas.openxmlformats.org/drawingml/2006/main">
            <a:pPr algn="l">
              <a:defRPr sz="3675" b="0" i="0">
                <a:solidFill>
                  <a:srgbClr val="471528"/>
                </a:solidFill>
                <a:latin typeface="Georgia"/>
                <a:ea typeface="Georgia"/>
                <a:cs typeface="Georgia"/>
              </a:defRPr>
            </a:pPr>
            <a:r>
              <a:rPr sz="3675" b="0" i="0">
                <a:solidFill>
                  <a:srgbClr val="471528"/>
                </a:solidFill>
                <a:latin typeface="Georgia"/>
                <a:ea typeface="Georgia"/>
                <a:cs typeface="Georgia"/>
              </a:rPr>
              <a:t>Mijoz uchun qulay ko‘rinish</a:t>
            </a:r>
          </a:p>
        </p:txBody>
      </p:sp>
      <p:sp>
        <p:nvSpPr>
          <p:cNvPr id="2" name="6 xizmat yo‘nalishi">
            <a:extLst xmlns:a="http://schemas.openxmlformats.org/drawingml/2006/main">
              <a:ext uri="{FF2B5EF4-FFF2-40B4-BE49-F238E27FC236}">
                <a16:creationId xmlns:a16="http://schemas.microsoft.com/office/drawing/2014/main" id="{A5926363-E65B-441C-B60B-81D40604C493}"/>
              </a:ext>
            </a:extLst>
          </p:cNvPr>
          <p:cNvSpPr>
            <a:spLocks xmlns:a="http://schemas.openxmlformats.org/drawingml/2006/main" noGrp="1"/>
          </p:cNvSpPr>
          <p:nvPr/>
        </p:nvSpPr>
        <p:spPr>
          <a:xfrm xmlns:a="http://schemas.openxmlformats.org/drawingml/2006/main">
            <a:off x="609600" y="1685925"/>
            <a:ext cx="54673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i="0">
                <a:solidFill>
                  <a:srgbClr val="471528"/>
                </a:solidFill>
                <a:latin typeface="Georgia"/>
                <a:ea typeface="Georgia"/>
                <a:cs typeface="Georgia"/>
              </a:defRPr>
            </a:defPPr>
          </a:lstStyle>
          <a:p xmlns:a="http://schemas.openxmlformats.org/drawingml/2006/main">
            <a:pPr algn="l">
              <a:defRPr sz="2700" b="0" i="0">
                <a:solidFill>
                  <a:srgbClr val="471528"/>
                </a:solidFill>
                <a:latin typeface="Georgia"/>
                <a:ea typeface="Georgia"/>
                <a:cs typeface="Georgia"/>
              </a:defRPr>
            </a:pPr>
            <a:r>
              <a:rPr sz="5250" b="0" i="0">
                <a:solidFill>
                  <a:srgbClr val="471528"/>
                </a:solidFill>
                <a:latin typeface="Georgia"/>
                <a:ea typeface="Georgia"/>
                <a:cs typeface="Georgia"/>
              </a:rPr>
              <a:t>6</a:t>
            </a:r>
            <a:r>
              <a:rPr sz="2700" b="0" i="0">
                <a:solidFill>
                  <a:srgbClr val="471528"/>
                </a:solidFill>
                <a:latin typeface="Georgia"/>
                <a:ea typeface="Georgia"/>
                <a:cs typeface="Georgia"/>
              </a:rPr>
              <a:t> xizmat yo‘nalishi</a:t>
            </a:r>
          </a:p>
        </p:txBody>
      </p:sp>
      <p:sp>
        <p:nvSpPr>
          <p:cNvPr id="3" name="Soch, tirnoq, kosmetologiya, qosh va kiprik, makiyaj hamda massaj">
            <a:extLst xmlns:a="http://schemas.openxmlformats.org/drawingml/2006/main">
              <a:ext uri="{FF2B5EF4-FFF2-40B4-BE49-F238E27FC236}">
                <a16:creationId xmlns:a16="http://schemas.microsoft.com/office/drawing/2014/main" id="{6654E9B8-DD15-4884-82ED-D0D653802FD8}"/>
              </a:ext>
            </a:extLst>
          </p:cNvPr>
          <p:cNvSpPr>
            <a:spLocks xmlns:a="http://schemas.openxmlformats.org/drawingml/2006/main" noGrp="1"/>
          </p:cNvSpPr>
          <p:nvPr/>
        </p:nvSpPr>
        <p:spPr>
          <a:xfrm xmlns:a="http://schemas.openxmlformats.org/drawingml/2006/main">
            <a:off x="609600" y="2686050"/>
            <a:ext cx="53625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62545D"/>
                </a:solidFill>
                <a:latin typeface="Segoe UI"/>
                <a:ea typeface="Segoe UI"/>
                <a:cs typeface="Segoe UI"/>
              </a:defRPr>
            </a:defPPr>
          </a:lstStyle>
          <a:p xmlns:a="http://schemas.openxmlformats.org/drawingml/2006/main">
            <a:pPr algn="l">
              <a:defRPr sz="1800" b="0" i="0">
                <a:solidFill>
                  <a:srgbClr val="62545D"/>
                </a:solidFill>
                <a:latin typeface="Segoe UI"/>
                <a:ea typeface="Segoe UI"/>
                <a:cs typeface="Segoe UI"/>
              </a:defRPr>
            </a:pPr>
            <a:r>
              <a:rPr sz="1800" b="0" i="0">
                <a:solidFill>
                  <a:srgbClr val="62545D"/>
                </a:solidFill>
                <a:latin typeface="Segoe UI"/>
                <a:ea typeface="Segoe UI"/>
                <a:cs typeface="Segoe UI"/>
              </a:rPr>
              <a:t>Soch, tirnoq, kosmetologiya, qosh va</a:t>
            </a:r>
          </a:p>
          <a:p xmlns:a="http://schemas.openxmlformats.org/drawingml/2006/main">
            <a:pPr algn="l">
              <a:defRPr sz="1800" b="0" i="0">
                <a:solidFill>
                  <a:srgbClr val="62545D"/>
                </a:solidFill>
                <a:latin typeface="Segoe UI"/>
                <a:ea typeface="Segoe UI"/>
                <a:cs typeface="Segoe UI"/>
              </a:defRPr>
            </a:pPr>
            <a:r>
              <a:rPr sz="1800" b="0" i="0">
                <a:solidFill>
                  <a:srgbClr val="62545D"/>
                </a:solidFill>
                <a:latin typeface="Segoe UI"/>
                <a:ea typeface="Segoe UI"/>
                <a:cs typeface="Segoe UI"/>
              </a:rPr>
              <a:t>kiprik, makiyaj hamda massaj</a:t>
            </a:r>
          </a:p>
        </p:txBody>
      </p:sp>
      <p:sp>
        <p:nvSpPr>
          <p:cNvPr id="4" name="Haqiqiy ishlar galereyasi">
            <a:extLst xmlns:a="http://schemas.openxmlformats.org/drawingml/2006/main">
              <a:ext uri="{FF2B5EF4-FFF2-40B4-BE49-F238E27FC236}">
                <a16:creationId xmlns:a16="http://schemas.microsoft.com/office/drawing/2014/main" id="{318E7565-CCD6-44E0-AC0B-BB2DCBB16A16}"/>
              </a:ext>
            </a:extLst>
          </p:cNvPr>
          <p:cNvSpPr>
            <a:spLocks xmlns:a="http://schemas.openxmlformats.org/drawingml/2006/main" noGrp="1"/>
          </p:cNvSpPr>
          <p:nvPr/>
        </p:nvSpPr>
        <p:spPr>
          <a:xfrm xmlns:a="http://schemas.openxmlformats.org/drawingml/2006/main">
            <a:off x="609600" y="3743325"/>
            <a:ext cx="5381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i="0">
                <a:solidFill>
                  <a:srgbClr val="471528"/>
                </a:solidFill>
                <a:latin typeface="Georgia"/>
                <a:ea typeface="Georgia"/>
                <a:cs typeface="Georgia"/>
              </a:defRPr>
            </a:defPPr>
          </a:lstStyle>
          <a:p xmlns:a="http://schemas.openxmlformats.org/drawingml/2006/main">
            <a:pPr algn="l">
              <a:defRPr sz="2325" b="0" i="0">
                <a:solidFill>
                  <a:srgbClr val="471528"/>
                </a:solidFill>
                <a:latin typeface="Georgia"/>
                <a:ea typeface="Georgia"/>
                <a:cs typeface="Georgia"/>
              </a:defRPr>
            </a:pPr>
            <a:r>
              <a:rPr sz="2325" b="0" i="0">
                <a:solidFill>
                  <a:srgbClr val="471528"/>
                </a:solidFill>
                <a:latin typeface="Georgia"/>
                <a:ea typeface="Georgia"/>
                <a:cs typeface="Georgia"/>
              </a:rPr>
              <a:t>Haqiqiy ishlar galereyasi</a:t>
            </a:r>
          </a:p>
        </p:txBody>
      </p:sp>
      <p:sp>
        <p:nvSpPr>
          <p:cNvPr id="5" name="Filtrlar, kattalashtirish va suratga mos xizmatga darhol yozilish">
            <a:extLst xmlns:a="http://schemas.openxmlformats.org/drawingml/2006/main">
              <a:ext uri="{FF2B5EF4-FFF2-40B4-BE49-F238E27FC236}">
                <a16:creationId xmlns:a16="http://schemas.microsoft.com/office/drawing/2014/main" id="{A20B9841-BA6B-4E74-BAE4-D74D40C03F1A}"/>
              </a:ext>
            </a:extLst>
          </p:cNvPr>
          <p:cNvSpPr>
            <a:spLocks xmlns:a="http://schemas.openxmlformats.org/drawingml/2006/main" noGrp="1"/>
          </p:cNvSpPr>
          <p:nvPr/>
        </p:nvSpPr>
        <p:spPr>
          <a:xfrm xmlns:a="http://schemas.openxmlformats.org/drawingml/2006/main">
            <a:off x="609600" y="4295775"/>
            <a:ext cx="53054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62545D"/>
                </a:solidFill>
                <a:latin typeface="Segoe UI"/>
                <a:ea typeface="Segoe UI"/>
                <a:cs typeface="Segoe UI"/>
              </a:defRPr>
            </a:defPPr>
          </a:lstStyle>
          <a:p xmlns:a="http://schemas.openxmlformats.org/drawingml/2006/main">
            <a:pPr algn="l">
              <a:defRPr sz="1800" b="0" i="0">
                <a:solidFill>
                  <a:srgbClr val="62545D"/>
                </a:solidFill>
                <a:latin typeface="Segoe UI"/>
                <a:ea typeface="Segoe UI"/>
                <a:cs typeface="Segoe UI"/>
              </a:defRPr>
            </a:pPr>
            <a:r>
              <a:rPr sz="1800" b="0" i="0">
                <a:solidFill>
                  <a:srgbClr val="62545D"/>
                </a:solidFill>
                <a:latin typeface="Segoe UI"/>
                <a:ea typeface="Segoe UI"/>
                <a:cs typeface="Segoe UI"/>
              </a:rPr>
              <a:t>Filtrlar, kattalashtirish va suratga</a:t>
            </a:r>
          </a:p>
          <a:p xmlns:a="http://schemas.openxmlformats.org/drawingml/2006/main">
            <a:pPr algn="l">
              <a:defRPr sz="1800" b="0" i="0">
                <a:solidFill>
                  <a:srgbClr val="62545D"/>
                </a:solidFill>
                <a:latin typeface="Segoe UI"/>
                <a:ea typeface="Segoe UI"/>
                <a:cs typeface="Segoe UI"/>
              </a:defRPr>
            </a:pPr>
            <a:r>
              <a:rPr sz="1800" b="0" i="0">
                <a:solidFill>
                  <a:srgbClr val="62545D"/>
                </a:solidFill>
                <a:latin typeface="Segoe UI"/>
                <a:ea typeface="Segoe UI"/>
                <a:cs typeface="Segoe UI"/>
              </a:rPr>
              <a:t>mos xizmatga darhol yozilish</a:t>
            </a:r>
          </a:p>
        </p:txBody>
      </p:sp>
      <p:sp>
        <p:nvSpPr>
          <p:cNvPr id="6" name="Telefon va kompyuter uchun">
            <a:extLst xmlns:a="http://schemas.openxmlformats.org/drawingml/2006/main">
              <a:ext uri="{FF2B5EF4-FFF2-40B4-BE49-F238E27FC236}">
                <a16:creationId xmlns:a16="http://schemas.microsoft.com/office/drawing/2014/main" id="{72D96234-3936-4D7D-9A52-4007DE6D96F7}"/>
              </a:ext>
            </a:extLst>
          </p:cNvPr>
          <p:cNvSpPr>
            <a:spLocks xmlns:a="http://schemas.openxmlformats.org/drawingml/2006/main" noGrp="1"/>
          </p:cNvSpPr>
          <p:nvPr/>
        </p:nvSpPr>
        <p:spPr>
          <a:xfrm xmlns:a="http://schemas.openxmlformats.org/drawingml/2006/main">
            <a:off x="609600" y="5314950"/>
            <a:ext cx="54387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i="0">
                <a:solidFill>
                  <a:srgbClr val="471528"/>
                </a:solidFill>
                <a:latin typeface="Georgia"/>
                <a:ea typeface="Georgia"/>
                <a:cs typeface="Georgia"/>
              </a:defRPr>
            </a:defPPr>
          </a:lstStyle>
          <a:p xmlns:a="http://schemas.openxmlformats.org/drawingml/2006/main">
            <a:pPr algn="l">
              <a:defRPr sz="2250" b="0" i="0">
                <a:solidFill>
                  <a:srgbClr val="471528"/>
                </a:solidFill>
                <a:latin typeface="Georgia"/>
                <a:ea typeface="Georgia"/>
                <a:cs typeface="Georgia"/>
              </a:defRPr>
            </a:pPr>
            <a:r>
              <a:rPr sz="2250" b="0" i="0">
                <a:solidFill>
                  <a:srgbClr val="471528"/>
                </a:solidFill>
                <a:latin typeface="Georgia"/>
                <a:ea typeface="Georgia"/>
                <a:cs typeface="Georgia"/>
              </a:rPr>
              <a:t>Telefon va kompyuter uchun</a:t>
            </a:r>
          </a:p>
        </p:txBody>
      </p:sp>
      <p:sp>
        <p:nvSpPr>
          <p:cNvPr id="7" name="UZ/RU tillari, ijodiy o‘tishlar, yozilish formasi va qulay aloqa">
            <a:extLst xmlns:a="http://schemas.openxmlformats.org/drawingml/2006/main">
              <a:ext uri="{FF2B5EF4-FFF2-40B4-BE49-F238E27FC236}">
                <a16:creationId xmlns:a16="http://schemas.microsoft.com/office/drawing/2014/main" id="{EBF227CD-3E55-4019-BD48-F5914BC9EFD1}"/>
              </a:ext>
            </a:extLst>
          </p:cNvPr>
          <p:cNvSpPr>
            <a:spLocks xmlns:a="http://schemas.openxmlformats.org/drawingml/2006/main" noGrp="1"/>
          </p:cNvSpPr>
          <p:nvPr/>
        </p:nvSpPr>
        <p:spPr>
          <a:xfrm xmlns:a="http://schemas.openxmlformats.org/drawingml/2006/main">
            <a:off x="609600" y="5857875"/>
            <a:ext cx="54673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62545D"/>
                </a:solidFill>
                <a:latin typeface="Segoe UI"/>
                <a:ea typeface="Segoe UI"/>
                <a:cs typeface="Segoe UI"/>
              </a:defRPr>
            </a:defPPr>
          </a:lstStyle>
          <a:p xmlns:a="http://schemas.openxmlformats.org/drawingml/2006/main">
            <a:pPr algn="l">
              <a:defRPr sz="1800" b="0" i="0">
                <a:solidFill>
                  <a:srgbClr val="62545D"/>
                </a:solidFill>
                <a:latin typeface="Segoe UI"/>
                <a:ea typeface="Segoe UI"/>
                <a:cs typeface="Segoe UI"/>
              </a:defRPr>
            </a:pPr>
            <a:r>
              <a:rPr sz="1800" b="0" i="0">
                <a:solidFill>
                  <a:srgbClr val="62545D"/>
                </a:solidFill>
                <a:latin typeface="Segoe UI"/>
                <a:ea typeface="Segoe UI"/>
                <a:cs typeface="Segoe UI"/>
              </a:rPr>
              <a:t>UZ/RU tillari, ijodiy o‘tishlar,</a:t>
            </a:r>
          </a:p>
          <a:p xmlns:a="http://schemas.openxmlformats.org/drawingml/2006/main">
            <a:pPr algn="l">
              <a:defRPr sz="1800" b="0" i="0">
                <a:solidFill>
                  <a:srgbClr val="62545D"/>
                </a:solidFill>
                <a:latin typeface="Segoe UI"/>
                <a:ea typeface="Segoe UI"/>
                <a:cs typeface="Segoe UI"/>
              </a:defRPr>
            </a:pPr>
            <a:r>
              <a:rPr sz="1800" b="0" i="0">
                <a:solidFill>
                  <a:srgbClr val="62545D"/>
                </a:solidFill>
                <a:latin typeface="Segoe UI"/>
                <a:ea typeface="Segoe UI"/>
                <a:cs typeface="Segoe UI"/>
              </a:rPr>
              <a:t>yozilish formasi va qulay aloqa</a:t>
            </a:r>
          </a:p>
        </p:txBody>
      </p:sp>
      <p:pic>
        <p:nvPicPr>
          <p:cNvPr id="8" name="">
            <a:extLst xmlns:a="http://schemas.openxmlformats.org/drawingml/2006/main">
              <a:ext uri="{FF2B5EF4-FFF2-40B4-BE49-F238E27FC236}">
                <a16:creationId xmlns:a16="http://schemas.microsoft.com/office/drawing/2014/main" id="{2FC48542-273B-4925-9E34-27EFA01B36FA}"/>
              </a:ext>
            </a:extLst>
          </p:cNvPr>
          <p:cNvPicPr>
            <a:picLocks xmlns:a="http://schemas.openxmlformats.org/drawingml/2006/main" noChangeAspect="1"/>
          </p:cNvPicPr>
          <p:nvPr/>
        </p:nvPicPr>
        <p:blipFill>
          <a:blip xmlns:r="http://schemas.openxmlformats.org/officeDocument/2006/relationships" xmlns:a="http://schemas.openxmlformats.org/drawingml/2006/main" r:embed="Rc81984b29acb4e4f"/>
          <a:stretch xmlns:a="http://schemas.openxmlformats.org/drawingml/2006/main"/>
        </p:blipFill>
        <p:spPr>
          <a:xfrm xmlns:a="http://schemas.openxmlformats.org/drawingml/2006/main">
            <a:off x="6819925" y="1676400"/>
            <a:ext cx="2162125" cy="4679061"/>
          </a:xfrm>
          <a:prstGeom xmlns:a="http://schemas.openxmlformats.org/drawingml/2006/main" prst="roundRect">
            <a:avLst>
              <a:gd name="adj" fmla="val 6167"/>
            </a:avLst>
          </a:prstGeom>
        </p:spPr>
      </p:pic>
      <p:pic>
        <p:nvPicPr>
          <p:cNvPr id="9" name="">
            <a:extLst xmlns:a="http://schemas.openxmlformats.org/drawingml/2006/main">
              <a:ext uri="{FF2B5EF4-FFF2-40B4-BE49-F238E27FC236}">
                <a16:creationId xmlns:a16="http://schemas.microsoft.com/office/drawing/2014/main" id="{6CD18365-A8B1-444A-8814-A32D2CA5A215}"/>
              </a:ext>
            </a:extLst>
          </p:cNvPr>
          <p:cNvPicPr>
            <a:picLocks xmlns:a="http://schemas.openxmlformats.org/drawingml/2006/main" noChangeAspect="1"/>
          </p:cNvPicPr>
          <p:nvPr/>
        </p:nvPicPr>
        <p:blipFill>
          <a:blip xmlns:r="http://schemas.openxmlformats.org/officeDocument/2006/relationships" xmlns:a="http://schemas.openxmlformats.org/drawingml/2006/main" r:embed="Ra3e867ad53044974"/>
          <a:stretch xmlns:a="http://schemas.openxmlformats.org/drawingml/2006/main"/>
        </p:blipFill>
        <p:spPr>
          <a:xfrm xmlns:a="http://schemas.openxmlformats.org/drawingml/2006/main">
            <a:off x="9305950" y="1676400"/>
            <a:ext cx="2162125" cy="4679061"/>
          </a:xfrm>
          <a:prstGeom xmlns:a="http://schemas.openxmlformats.org/drawingml/2006/main" prst="roundRect">
            <a:avLst>
              <a:gd name="adj" fmla="val 6167"/>
            </a:avLst>
          </a:prstGeom>
        </p:spPr>
      </p:pic>
    </p:spTree>
    <p:extLst>
      <p:ext uri="{BB962C8B-B14F-4D97-AF65-F5344CB8AC3E}">
        <p14:creationId xmlns:p14="http://schemas.microsoft.com/office/powerpoint/2010/main" val="242293412"/>
      </p:ext>
    </p:extLst>
  </p:cSld>
</p:sld>
</file>

<file path=ppt/slides/slide4.xml><?xml version="1.0" encoding="utf-8"?>
<p:sld xmlns:p="http://schemas.openxmlformats.org/presentationml/2006/main">
  <p:cSld>
    <p:bg>
      <p:bgPr>
        <a:solidFill xmlns:a="http://schemas.openxmlformats.org/drawingml/2006/main">
          <a:srgbClr val="FBF9FA"/>
        </a:solidFill>
      </p:bgPr>
    </p:bg>
    <p:spTree>
      <p:nvGrpSpPr>
        <p:cNvPr id="1" name=""/>
        <p:cNvGrpSpPr/>
        <p:nvPr/>
      </p:nvGrpSpPr>
      <p:grpSpPr>
        <a:xfrm xmlns:a="http://schemas.openxmlformats.org/drawingml/2006/main"/>
      </p:grpSpPr>
      <p:sp>
        <p:nvSpPr>
          <p:cNvPr id="10" name="Boshqaruv o‘z qo‘lingizda">
            <a:extLst xmlns:a="http://schemas.openxmlformats.org/drawingml/2006/main">
              <a:ext uri="{FF2B5EF4-FFF2-40B4-BE49-F238E27FC236}">
                <a16:creationId xmlns:a16="http://schemas.microsoft.com/office/drawing/2014/main" id="{CF7E9C7D-36EA-409D-8265-02BE0C96D76A}"/>
              </a:ext>
            </a:extLst>
          </p:cNvPr>
          <p:cNvSpPr>
            <a:spLocks xmlns:a="http://schemas.openxmlformats.org/drawingml/2006/main" noGrp="1"/>
          </p:cNvSpPr>
          <p:nvPr/>
        </p:nvSpPr>
        <p:spPr>
          <a:xfrm xmlns:a="http://schemas.openxmlformats.org/drawingml/2006/main">
            <a:off x="609600" y="45720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0" i="0">
                <a:solidFill>
                  <a:srgbClr val="471528"/>
                </a:solidFill>
                <a:latin typeface="Georgia"/>
                <a:ea typeface="Georgia"/>
                <a:cs typeface="Georgia"/>
              </a:defRPr>
            </a:defPPr>
          </a:lstStyle>
          <a:p xmlns:a="http://schemas.openxmlformats.org/drawingml/2006/main">
            <a:pPr algn="l">
              <a:defRPr sz="3675" b="0" i="0">
                <a:solidFill>
                  <a:srgbClr val="471528"/>
                </a:solidFill>
                <a:latin typeface="Georgia"/>
                <a:ea typeface="Georgia"/>
                <a:cs typeface="Georgia"/>
              </a:defRPr>
            </a:pPr>
            <a:r>
              <a:rPr sz="3675" b="0" i="0">
                <a:solidFill>
                  <a:srgbClr val="471528"/>
                </a:solidFill>
                <a:latin typeface="Georgia"/>
                <a:ea typeface="Georgia"/>
                <a:cs typeface="Georgia"/>
              </a:rPr>
              <a:t>Boshqaruv o‘z qo‘lingizda</a:t>
            </a:r>
          </a:p>
        </p:txBody>
      </p:sp>
      <p:pic>
        <p:nvPicPr>
          <p:cNvPr id="2" name="">
            <a:extLst xmlns:a="http://schemas.openxmlformats.org/drawingml/2006/main">
              <a:ext uri="{FF2B5EF4-FFF2-40B4-BE49-F238E27FC236}">
                <a16:creationId xmlns:a16="http://schemas.microsoft.com/office/drawing/2014/main" id="{214A636F-601D-4100-BBA8-27DCEB5864B0}"/>
              </a:ext>
            </a:extLst>
          </p:cNvPr>
          <p:cNvPicPr>
            <a:picLocks xmlns:a="http://schemas.openxmlformats.org/drawingml/2006/main" noChangeAspect="1"/>
          </p:cNvPicPr>
          <p:nvPr/>
        </p:nvPicPr>
        <p:blipFill>
          <a:blip xmlns:r="http://schemas.openxmlformats.org/officeDocument/2006/relationships" xmlns:a="http://schemas.openxmlformats.org/drawingml/2006/main" r:embed="Rcb4e4f2b46264206"/>
          <a:stretch xmlns:a="http://schemas.openxmlformats.org/drawingml/2006/main"/>
        </p:blipFill>
        <p:spPr>
          <a:xfrm xmlns:a="http://schemas.openxmlformats.org/drawingml/2006/main">
            <a:off x="609630" y="1600200"/>
            <a:ext cx="7038916" cy="4658106"/>
          </a:xfrm>
          <a:prstGeom xmlns:a="http://schemas.openxmlformats.org/drawingml/2006/main" prst="rect">
            <a:avLst/>
          </a:prstGeom>
        </p:spPr>
      </p:pic>
      <p:sp>
        <p:nvSpPr>
          <p:cNvPr id="3" name="Matn va rasmlar">
            <a:extLst xmlns:a="http://schemas.openxmlformats.org/drawingml/2006/main">
              <a:ext uri="{FF2B5EF4-FFF2-40B4-BE49-F238E27FC236}">
                <a16:creationId xmlns:a16="http://schemas.microsoft.com/office/drawing/2014/main" id="{AE17FE44-224E-4071-B7F1-98D700BDE12E}"/>
              </a:ext>
            </a:extLst>
          </p:cNvPr>
          <p:cNvSpPr>
            <a:spLocks xmlns:a="http://schemas.openxmlformats.org/drawingml/2006/main" noGrp="1"/>
          </p:cNvSpPr>
          <p:nvPr/>
        </p:nvSpPr>
        <p:spPr>
          <a:xfrm xmlns:a="http://schemas.openxmlformats.org/drawingml/2006/main">
            <a:off x="8096250" y="1657350"/>
            <a:ext cx="34861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i="0">
                <a:solidFill>
                  <a:srgbClr val="471528"/>
                </a:solidFill>
                <a:latin typeface="Georgia"/>
                <a:ea typeface="Georgia"/>
                <a:cs typeface="Georgia"/>
              </a:defRPr>
            </a:defPPr>
          </a:lstStyle>
          <a:p xmlns:a="http://schemas.openxmlformats.org/drawingml/2006/main">
            <a:pPr algn="l">
              <a:defRPr sz="2175" b="0" i="0">
                <a:solidFill>
                  <a:srgbClr val="471528"/>
                </a:solidFill>
                <a:latin typeface="Georgia"/>
                <a:ea typeface="Georgia"/>
                <a:cs typeface="Georgia"/>
              </a:defRPr>
            </a:pPr>
            <a:r>
              <a:rPr sz="2175" b="0" i="0">
                <a:solidFill>
                  <a:srgbClr val="471528"/>
                </a:solidFill>
                <a:latin typeface="Georgia"/>
                <a:ea typeface="Georgia"/>
                <a:cs typeface="Georgia"/>
              </a:rPr>
              <a:t>Matn va rasmlar</a:t>
            </a:r>
          </a:p>
        </p:txBody>
      </p:sp>
      <p:sp>
        <p:nvSpPr>
          <p:cNvPr id="4" name="Rasm yuklash, kesimini tanlash, xizmat va ma’lumotni yangilash">
            <a:extLst xmlns:a="http://schemas.openxmlformats.org/drawingml/2006/main">
              <a:ext uri="{FF2B5EF4-FFF2-40B4-BE49-F238E27FC236}">
                <a16:creationId xmlns:a16="http://schemas.microsoft.com/office/drawing/2014/main" id="{DA81EBCE-5E18-43CF-A4DE-F054289AD841}"/>
              </a:ext>
            </a:extLst>
          </p:cNvPr>
          <p:cNvSpPr>
            <a:spLocks xmlns:a="http://schemas.openxmlformats.org/drawingml/2006/main" noGrp="1"/>
          </p:cNvSpPr>
          <p:nvPr/>
        </p:nvSpPr>
        <p:spPr>
          <a:xfrm xmlns:a="http://schemas.openxmlformats.org/drawingml/2006/main">
            <a:off x="8096250" y="2209800"/>
            <a:ext cx="3486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62545D"/>
                </a:solidFill>
                <a:latin typeface="Segoe UI"/>
                <a:ea typeface="Segoe UI"/>
                <a:cs typeface="Segoe UI"/>
              </a:defRPr>
            </a:defPPr>
          </a:lstStyle>
          <a:p xmlns:a="http://schemas.openxmlformats.org/drawingml/2006/main">
            <a:pPr algn="l">
              <a:defRPr sz="1650" b="0" i="0">
                <a:solidFill>
                  <a:srgbClr val="62545D"/>
                </a:solidFill>
                <a:latin typeface="Segoe UI"/>
                <a:ea typeface="Segoe UI"/>
                <a:cs typeface="Segoe UI"/>
              </a:defRPr>
            </a:pPr>
            <a:r>
              <a:rPr sz="1650" b="0" i="0">
                <a:solidFill>
                  <a:srgbClr val="62545D"/>
                </a:solidFill>
                <a:latin typeface="Segoe UI"/>
                <a:ea typeface="Segoe UI"/>
                <a:cs typeface="Segoe UI"/>
              </a:rPr>
              <a:t>Rasm yuklash, kesimini tanlash,</a:t>
            </a:r>
          </a:p>
          <a:p xmlns:a="http://schemas.openxmlformats.org/drawingml/2006/main">
            <a:pPr algn="l">
              <a:defRPr sz="1650" b="0" i="0">
                <a:solidFill>
                  <a:srgbClr val="62545D"/>
                </a:solidFill>
                <a:latin typeface="Segoe UI"/>
                <a:ea typeface="Segoe UI"/>
                <a:cs typeface="Segoe UI"/>
              </a:defRPr>
            </a:pPr>
            <a:r>
              <a:rPr sz="1650" b="0" i="0">
                <a:solidFill>
                  <a:srgbClr val="62545D"/>
                </a:solidFill>
                <a:latin typeface="Segoe UI"/>
                <a:ea typeface="Segoe UI"/>
                <a:cs typeface="Segoe UI"/>
              </a:rPr>
              <a:t>xizmat va ma’lumotni yangilash</a:t>
            </a:r>
          </a:p>
        </p:txBody>
      </p:sp>
      <p:sp>
        <p:nvSpPr>
          <p:cNvPr id="5" name="Mijoz so‘rovlari">
            <a:extLst xmlns:a="http://schemas.openxmlformats.org/drawingml/2006/main">
              <a:ext uri="{FF2B5EF4-FFF2-40B4-BE49-F238E27FC236}">
                <a16:creationId xmlns:a16="http://schemas.microsoft.com/office/drawing/2014/main" id="{E5E288D9-F31C-4C1F-8838-37F0BC308695}"/>
              </a:ext>
            </a:extLst>
          </p:cNvPr>
          <p:cNvSpPr>
            <a:spLocks xmlns:a="http://schemas.openxmlformats.org/drawingml/2006/main" noGrp="1"/>
          </p:cNvSpPr>
          <p:nvPr/>
        </p:nvSpPr>
        <p:spPr>
          <a:xfrm xmlns:a="http://schemas.openxmlformats.org/drawingml/2006/main">
            <a:off x="8096250" y="3257550"/>
            <a:ext cx="34861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i="0">
                <a:solidFill>
                  <a:srgbClr val="471528"/>
                </a:solidFill>
                <a:latin typeface="Georgia"/>
                <a:ea typeface="Georgia"/>
                <a:cs typeface="Georgia"/>
              </a:defRPr>
            </a:defPPr>
          </a:lstStyle>
          <a:p xmlns:a="http://schemas.openxmlformats.org/drawingml/2006/main">
            <a:pPr algn="l">
              <a:defRPr sz="2175" b="0" i="0">
                <a:solidFill>
                  <a:srgbClr val="471528"/>
                </a:solidFill>
                <a:latin typeface="Georgia"/>
                <a:ea typeface="Georgia"/>
                <a:cs typeface="Georgia"/>
              </a:defRPr>
            </a:pPr>
            <a:r>
              <a:rPr sz="2175" b="0" i="0">
                <a:solidFill>
                  <a:srgbClr val="471528"/>
                </a:solidFill>
                <a:latin typeface="Georgia"/>
                <a:ea typeface="Georgia"/>
                <a:cs typeface="Georgia"/>
              </a:rPr>
              <a:t>Mijoz so‘rovlari</a:t>
            </a:r>
          </a:p>
        </p:txBody>
      </p:sp>
      <p:sp>
        <p:nvSpPr>
          <p:cNvPr id="6" name="Demo yozilish so‘rovi, holat, izoh va mas’ul xodim">
            <a:extLst xmlns:a="http://schemas.openxmlformats.org/drawingml/2006/main">
              <a:ext uri="{FF2B5EF4-FFF2-40B4-BE49-F238E27FC236}">
                <a16:creationId xmlns:a16="http://schemas.microsoft.com/office/drawing/2014/main" id="{2C5FB311-249D-4B0E-A4A2-4ACA886C4257}"/>
              </a:ext>
            </a:extLst>
          </p:cNvPr>
          <p:cNvSpPr>
            <a:spLocks xmlns:a="http://schemas.openxmlformats.org/drawingml/2006/main" noGrp="1"/>
          </p:cNvSpPr>
          <p:nvPr/>
        </p:nvSpPr>
        <p:spPr>
          <a:xfrm xmlns:a="http://schemas.openxmlformats.org/drawingml/2006/main">
            <a:off x="8096250" y="3810000"/>
            <a:ext cx="3486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62545D"/>
                </a:solidFill>
                <a:latin typeface="Segoe UI"/>
                <a:ea typeface="Segoe UI"/>
                <a:cs typeface="Segoe UI"/>
              </a:defRPr>
            </a:defPPr>
          </a:lstStyle>
          <a:p xmlns:a="http://schemas.openxmlformats.org/drawingml/2006/main">
            <a:pPr algn="l">
              <a:defRPr sz="1650" b="0" i="0">
                <a:solidFill>
                  <a:srgbClr val="62545D"/>
                </a:solidFill>
                <a:latin typeface="Segoe UI"/>
                <a:ea typeface="Segoe UI"/>
                <a:cs typeface="Segoe UI"/>
              </a:defRPr>
            </a:pPr>
            <a:r>
              <a:rPr sz="1650" b="0" i="0">
                <a:solidFill>
                  <a:srgbClr val="62545D"/>
                </a:solidFill>
                <a:latin typeface="Segoe UI"/>
                <a:ea typeface="Segoe UI"/>
                <a:cs typeface="Segoe UI"/>
              </a:rPr>
              <a:t>Demo yozilish so‘rovi, holat,</a:t>
            </a:r>
          </a:p>
          <a:p xmlns:a="http://schemas.openxmlformats.org/drawingml/2006/main">
            <a:pPr algn="l">
              <a:defRPr sz="1650" b="0" i="0">
                <a:solidFill>
                  <a:srgbClr val="62545D"/>
                </a:solidFill>
                <a:latin typeface="Segoe UI"/>
                <a:ea typeface="Segoe UI"/>
                <a:cs typeface="Segoe UI"/>
              </a:defRPr>
            </a:pPr>
            <a:r>
              <a:rPr sz="1650" b="0" i="0">
                <a:solidFill>
                  <a:srgbClr val="62545D"/>
                </a:solidFill>
                <a:latin typeface="Segoe UI"/>
                <a:ea typeface="Segoe UI"/>
                <a:cs typeface="Segoe UI"/>
              </a:rPr>
              <a:t>izoh va mas’ul xodim</a:t>
            </a:r>
          </a:p>
        </p:txBody>
      </p:sp>
      <p:sp>
        <p:nvSpPr>
          <p:cNvPr id="7" name="Statistika va nazorat">
            <a:extLst xmlns:a="http://schemas.openxmlformats.org/drawingml/2006/main">
              <a:ext uri="{FF2B5EF4-FFF2-40B4-BE49-F238E27FC236}">
                <a16:creationId xmlns:a16="http://schemas.microsoft.com/office/drawing/2014/main" id="{70A70BE1-D7D9-448F-9E28-A52B1134FF2B}"/>
              </a:ext>
            </a:extLst>
          </p:cNvPr>
          <p:cNvSpPr>
            <a:spLocks xmlns:a="http://schemas.openxmlformats.org/drawingml/2006/main" noGrp="1"/>
          </p:cNvSpPr>
          <p:nvPr/>
        </p:nvSpPr>
        <p:spPr>
          <a:xfrm xmlns:a="http://schemas.openxmlformats.org/drawingml/2006/main">
            <a:off x="8096250" y="4857750"/>
            <a:ext cx="34861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i="0">
                <a:solidFill>
                  <a:srgbClr val="471528"/>
                </a:solidFill>
                <a:latin typeface="Georgia"/>
                <a:ea typeface="Georgia"/>
                <a:cs typeface="Georgia"/>
              </a:defRPr>
            </a:defPPr>
          </a:lstStyle>
          <a:p xmlns:a="http://schemas.openxmlformats.org/drawingml/2006/main">
            <a:pPr algn="l">
              <a:defRPr sz="2175" b="0" i="0">
                <a:solidFill>
                  <a:srgbClr val="471528"/>
                </a:solidFill>
                <a:latin typeface="Georgia"/>
                <a:ea typeface="Georgia"/>
                <a:cs typeface="Georgia"/>
              </a:defRPr>
            </a:pPr>
            <a:r>
              <a:rPr sz="2175" b="0" i="0">
                <a:solidFill>
                  <a:srgbClr val="471528"/>
                </a:solidFill>
                <a:latin typeface="Georgia"/>
                <a:ea typeface="Georgia"/>
                <a:cs typeface="Georgia"/>
              </a:rPr>
              <a:t>Statistika va nazorat</a:t>
            </a:r>
          </a:p>
        </p:txBody>
      </p:sp>
      <p:sp>
        <p:nvSpPr>
          <p:cNvPr id="8" name="Tashriflar, Telegram bosishlari, xodimlar va nashrlar tarixi">
            <a:extLst xmlns:a="http://schemas.openxmlformats.org/drawingml/2006/main">
              <a:ext uri="{FF2B5EF4-FFF2-40B4-BE49-F238E27FC236}">
                <a16:creationId xmlns:a16="http://schemas.microsoft.com/office/drawing/2014/main" id="{147A5914-480E-4920-85B7-0B308BDC3DFE}"/>
              </a:ext>
            </a:extLst>
          </p:cNvPr>
          <p:cNvSpPr>
            <a:spLocks xmlns:a="http://schemas.openxmlformats.org/drawingml/2006/main" noGrp="1"/>
          </p:cNvSpPr>
          <p:nvPr/>
        </p:nvSpPr>
        <p:spPr>
          <a:xfrm xmlns:a="http://schemas.openxmlformats.org/drawingml/2006/main">
            <a:off x="8096250" y="5410200"/>
            <a:ext cx="3486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62545D"/>
                </a:solidFill>
                <a:latin typeface="Segoe UI"/>
                <a:ea typeface="Segoe UI"/>
                <a:cs typeface="Segoe UI"/>
              </a:defRPr>
            </a:defPPr>
          </a:lstStyle>
          <a:p xmlns:a="http://schemas.openxmlformats.org/drawingml/2006/main">
            <a:pPr algn="l">
              <a:defRPr sz="1650" b="0" i="0">
                <a:solidFill>
                  <a:srgbClr val="62545D"/>
                </a:solidFill>
                <a:latin typeface="Segoe UI"/>
                <a:ea typeface="Segoe UI"/>
                <a:cs typeface="Segoe UI"/>
              </a:defRPr>
            </a:pPr>
            <a:r>
              <a:rPr sz="1650" b="0" i="0">
                <a:solidFill>
                  <a:srgbClr val="62545D"/>
                </a:solidFill>
                <a:latin typeface="Segoe UI"/>
                <a:ea typeface="Segoe UI"/>
                <a:cs typeface="Segoe UI"/>
              </a:rPr>
              <a:t>Tashriflar, Telegram bosishlari,</a:t>
            </a:r>
          </a:p>
          <a:p xmlns:a="http://schemas.openxmlformats.org/drawingml/2006/main">
            <a:pPr algn="l">
              <a:defRPr sz="1650" b="0" i="0">
                <a:solidFill>
                  <a:srgbClr val="62545D"/>
                </a:solidFill>
                <a:latin typeface="Segoe UI"/>
                <a:ea typeface="Segoe UI"/>
                <a:cs typeface="Segoe UI"/>
              </a:defRPr>
            </a:pPr>
            <a:r>
              <a:rPr sz="1650" b="0" i="0">
                <a:solidFill>
                  <a:srgbClr val="62545D"/>
                </a:solidFill>
                <a:latin typeface="Segoe UI"/>
                <a:ea typeface="Segoe UI"/>
                <a:cs typeface="Segoe UI"/>
              </a:rPr>
              <a:t>xodimlar va nashrlar tarixi</a:t>
            </a:r>
          </a:p>
        </p:txBody>
      </p:sp>
      <p:sp>
        <p:nvSpPr>
          <p:cNvPr id="9" name="Demo: raqamlar namuna, tahrirlar brauzerda. Paket doirasida haqiqiy bazani ulab ishga tush">
            <a:extLst xmlns:a="http://schemas.openxmlformats.org/drawingml/2006/main">
              <a:ext uri="{FF2B5EF4-FFF2-40B4-BE49-F238E27FC236}">
                <a16:creationId xmlns:a16="http://schemas.microsoft.com/office/drawing/2014/main" id="{954DDA93-DD9E-4AE5-B47C-275FA9F0E98B}"/>
              </a:ext>
            </a:extLst>
          </p:cNvPr>
          <p:cNvSpPr>
            <a:spLocks xmlns:a="http://schemas.openxmlformats.org/drawingml/2006/main" noGrp="1"/>
          </p:cNvSpPr>
          <p:nvPr/>
        </p:nvSpPr>
        <p:spPr>
          <a:xfrm xmlns:a="http://schemas.openxmlformats.org/drawingml/2006/main">
            <a:off x="609600" y="644842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65" b="0" i="0">
                <a:solidFill>
                  <a:srgbClr val="471528"/>
                </a:solidFill>
                <a:latin typeface="Segoe UI"/>
                <a:ea typeface="Segoe UI"/>
                <a:cs typeface="Segoe UI"/>
              </a:defRPr>
            </a:defPPr>
          </a:lstStyle>
          <a:p xmlns:a="http://schemas.openxmlformats.org/drawingml/2006/main">
            <a:pPr algn="l">
              <a:defRPr sz="1365" b="0" i="0">
                <a:solidFill>
                  <a:srgbClr val="471528"/>
                </a:solidFill>
                <a:latin typeface="Segoe UI"/>
                <a:ea typeface="Segoe UI"/>
                <a:cs typeface="Segoe UI"/>
              </a:defRPr>
            </a:pPr>
            <a:r>
              <a:rPr sz="1365" b="0" i="0">
                <a:solidFill>
                  <a:srgbClr val="471528"/>
                </a:solidFill>
                <a:latin typeface="Segoe UI"/>
                <a:ea typeface="Segoe UI"/>
                <a:cs typeface="Segoe UI"/>
              </a:rPr>
              <a:t>Demo: raqamlar namuna, tahrirlar brauzerda. Paket doirasida haqiqiy bazani ulab ishga tushiramiz.</a:t>
            </a:r>
          </a:p>
        </p:txBody>
      </p:sp>
    </p:spTree>
    <p:extLst>
      <p:ext uri="{BB962C8B-B14F-4D97-AF65-F5344CB8AC3E}">
        <p14:creationId xmlns:p14="http://schemas.microsoft.com/office/powerpoint/2010/main" val="290458938"/>
      </p:ext>
    </p:extLst>
  </p:cSld>
</p:sld>
</file>

<file path=ppt/slides/slide5.xml><?xml version="1.0" encoding="utf-8"?>
<p:sld xmlns:p="http://schemas.openxmlformats.org/presentationml/2006/main">
  <p:cSld>
    <p:bg>
      <p:bgPr>
        <a:solidFill xmlns:a="http://schemas.openxmlformats.org/drawingml/2006/main">
          <a:srgbClr val="2B0D19"/>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BF08E80E-D935-4155-997A-E4066AD8517C}"/>
              </a:ext>
            </a:extLst>
          </p:cNvPr>
          <p:cNvPicPr>
            <a:picLocks xmlns:a="http://schemas.openxmlformats.org/drawingml/2006/main" noChangeAspect="1"/>
          </p:cNvPicPr>
          <p:nvPr/>
        </p:nvPicPr>
        <p:blipFill>
          <a:blip xmlns:r="http://schemas.openxmlformats.org/officeDocument/2006/relationships" xmlns:a="http://schemas.openxmlformats.org/drawingml/2006/main" r:embed="Rec51bc51a56f489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RM va Telegram bot">
            <a:extLst xmlns:a="http://schemas.openxmlformats.org/drawingml/2006/main">
              <a:ext uri="{FF2B5EF4-FFF2-40B4-BE49-F238E27FC236}">
                <a16:creationId xmlns:a16="http://schemas.microsoft.com/office/drawing/2014/main" id="{4004B3BF-FFC7-4B4C-A32D-62B50BF395FD}"/>
              </a:ext>
            </a:extLst>
          </p:cNvPr>
          <p:cNvSpPr>
            <a:spLocks xmlns:a="http://schemas.openxmlformats.org/drawingml/2006/main" noGrp="1"/>
          </p:cNvSpPr>
          <p:nvPr/>
        </p:nvSpPr>
        <p:spPr>
          <a:xfrm xmlns:a="http://schemas.openxmlformats.org/drawingml/2006/main">
            <a:off x="609600" y="409575"/>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0" i="0">
                <a:solidFill>
                  <a:srgbClr val="FFFFFF"/>
                </a:solidFill>
                <a:latin typeface="Georgia"/>
                <a:ea typeface="Georgia"/>
                <a:cs typeface="Georgia"/>
              </a:defRPr>
            </a:defPPr>
          </a:lstStyle>
          <a:p xmlns:a="http://schemas.openxmlformats.org/drawingml/2006/main">
            <a:pPr algn="l">
              <a:defRPr sz="3900" b="0" i="0">
                <a:solidFill>
                  <a:srgbClr val="FFFFFF"/>
                </a:solidFill>
                <a:latin typeface="Georgia"/>
                <a:ea typeface="Georgia"/>
                <a:cs typeface="Georgia"/>
              </a:defRPr>
            </a:pPr>
            <a:r>
              <a:rPr sz="3900" b="0" i="0">
                <a:solidFill>
                  <a:srgbClr val="FFFFFF"/>
                </a:solidFill>
                <a:latin typeface="Georgia"/>
                <a:ea typeface="Georgia"/>
                <a:cs typeface="Georgia"/>
              </a:rPr>
              <a:t>CRM va Telegram bot</a:t>
            </a:r>
          </a:p>
        </p:txBody>
      </p:sp>
      <p:sp>
        <p:nvSpPr>
          <p:cNvPr id="3" name="Saytdagi barcha zayavkalar tanlangan mas’ul xodimlarga keladi">
            <a:extLst xmlns:a="http://schemas.openxmlformats.org/drawingml/2006/main">
              <a:ext uri="{FF2B5EF4-FFF2-40B4-BE49-F238E27FC236}">
                <a16:creationId xmlns:a16="http://schemas.microsoft.com/office/drawing/2014/main" id="{9883C6BA-7967-4A92-B766-37E2CD568146}"/>
              </a:ext>
            </a:extLst>
          </p:cNvPr>
          <p:cNvSpPr>
            <a:spLocks xmlns:a="http://schemas.openxmlformats.org/drawingml/2006/main" noGrp="1"/>
          </p:cNvSpPr>
          <p:nvPr/>
        </p:nvSpPr>
        <p:spPr>
          <a:xfrm xmlns:a="http://schemas.openxmlformats.org/drawingml/2006/main">
            <a:off x="609600" y="117157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i="0">
                <a:solidFill>
                  <a:srgbClr val="E6D3D8"/>
                </a:solidFill>
                <a:latin typeface="Segoe UI"/>
                <a:ea typeface="Segoe UI"/>
                <a:cs typeface="Segoe UI"/>
              </a:defRPr>
            </a:defPPr>
          </a:lstStyle>
          <a:p xmlns:a="http://schemas.openxmlformats.org/drawingml/2006/main">
            <a:pPr algn="l">
              <a:defRPr sz="1725" b="0" i="0">
                <a:solidFill>
                  <a:srgbClr val="E6D3D8"/>
                </a:solidFill>
                <a:latin typeface="Segoe UI"/>
                <a:ea typeface="Segoe UI"/>
                <a:cs typeface="Segoe UI"/>
              </a:defRPr>
            </a:pPr>
            <a:r>
              <a:rPr sz="1725" b="0" i="0">
                <a:solidFill>
                  <a:srgbClr val="E6D3D8"/>
                </a:solidFill>
                <a:latin typeface="Segoe UI"/>
                <a:ea typeface="Segoe UI"/>
                <a:cs typeface="Segoe UI"/>
              </a:rPr>
              <a:t>Saytdagi barcha zayavkalar tanlangan mas’ul xodimlarga keladi</a:t>
            </a:r>
          </a:p>
        </p:txBody>
      </p:sp>
      <p:sp>
        <p:nvSpPr>
          <p:cNvPr id="4" name="01">
            <a:extLst xmlns:a="http://schemas.openxmlformats.org/drawingml/2006/main">
              <a:ext uri="{FF2B5EF4-FFF2-40B4-BE49-F238E27FC236}">
                <a16:creationId xmlns:a16="http://schemas.microsoft.com/office/drawing/2014/main" id="{781211DF-1485-4F61-B240-EDC2947BA2BA}"/>
              </a:ext>
            </a:extLst>
          </p:cNvPr>
          <p:cNvSpPr>
            <a:spLocks xmlns:a="http://schemas.openxmlformats.org/drawingml/2006/main" noGrp="1"/>
          </p:cNvSpPr>
          <p:nvPr/>
        </p:nvSpPr>
        <p:spPr>
          <a:xfrm xmlns:a="http://schemas.openxmlformats.org/drawingml/2006/main">
            <a:off x="609600" y="1885950"/>
            <a:ext cx="990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75" b="0" i="0">
                <a:solidFill>
                  <a:srgbClr val="E5C9AC"/>
                </a:solidFill>
                <a:latin typeface="Georgia"/>
                <a:ea typeface="Georgia"/>
                <a:cs typeface="Georgia"/>
              </a:defRPr>
            </a:defPPr>
          </a:lstStyle>
          <a:p xmlns:a="http://schemas.openxmlformats.org/drawingml/2006/main">
            <a:pPr algn="l">
              <a:defRPr sz="4575" b="0" i="0">
                <a:solidFill>
                  <a:srgbClr val="E5C9AC"/>
                </a:solidFill>
                <a:latin typeface="Georgia"/>
                <a:ea typeface="Georgia"/>
                <a:cs typeface="Georgia"/>
              </a:defRPr>
            </a:pPr>
            <a:r>
              <a:rPr sz="4575" b="0" i="0">
                <a:solidFill>
                  <a:srgbClr val="E5C9AC"/>
                </a:solidFill>
                <a:latin typeface="Georgia"/>
                <a:ea typeface="Georgia"/>
                <a:cs typeface="Georgia"/>
              </a:rPr>
              <a:t>01</a:t>
            </a:r>
          </a:p>
        </p:txBody>
      </p:sp>
      <p:sp>
        <p:nvSpPr>
          <p:cNvPr id="5" name="Saytdagi zayavka">
            <a:extLst xmlns:a="http://schemas.openxmlformats.org/drawingml/2006/main">
              <a:ext uri="{FF2B5EF4-FFF2-40B4-BE49-F238E27FC236}">
                <a16:creationId xmlns:a16="http://schemas.microsoft.com/office/drawing/2014/main" id="{D86CECCA-9E76-4158-9EC1-871C3199D90B}"/>
              </a:ext>
            </a:extLst>
          </p:cNvPr>
          <p:cNvSpPr>
            <a:spLocks xmlns:a="http://schemas.openxmlformats.org/drawingml/2006/main" noGrp="1"/>
          </p:cNvSpPr>
          <p:nvPr/>
        </p:nvSpPr>
        <p:spPr>
          <a:xfrm xmlns:a="http://schemas.openxmlformats.org/drawingml/2006/main">
            <a:off x="609600" y="2838450"/>
            <a:ext cx="2505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i="0">
                <a:solidFill>
                  <a:srgbClr val="FFFFFF"/>
                </a:solidFill>
                <a:latin typeface="Georgia"/>
                <a:ea typeface="Georgia"/>
                <a:cs typeface="Georgia"/>
              </a:defRPr>
            </a:defPPr>
          </a:lstStyle>
          <a:p xmlns:a="http://schemas.openxmlformats.org/drawingml/2006/main">
            <a:pPr algn="l">
              <a:defRPr sz="1950" b="0" i="0">
                <a:solidFill>
                  <a:srgbClr val="FFFFFF"/>
                </a:solidFill>
                <a:latin typeface="Georgia"/>
                <a:ea typeface="Georgia"/>
                <a:cs typeface="Georgia"/>
              </a:defRPr>
            </a:pPr>
            <a:r>
              <a:rPr sz="1950" b="0" i="0">
                <a:solidFill>
                  <a:srgbClr val="FFFFFF"/>
                </a:solidFill>
                <a:latin typeface="Georgia"/>
                <a:ea typeface="Georgia"/>
                <a:cs typeface="Georgia"/>
              </a:rPr>
              <a:t>Saytdagi zayavka</a:t>
            </a:r>
          </a:p>
        </p:txBody>
      </p:sp>
      <p:sp>
        <p:nvSpPr>
          <p:cNvPr id="6" name="Ism, telefon, xizmat va vaqt">
            <a:extLst xmlns:a="http://schemas.openxmlformats.org/drawingml/2006/main">
              <a:ext uri="{FF2B5EF4-FFF2-40B4-BE49-F238E27FC236}">
                <a16:creationId xmlns:a16="http://schemas.microsoft.com/office/drawing/2014/main" id="{FB9EE0BB-0AFF-4E23-AF4F-47FC35C399A2}"/>
              </a:ext>
            </a:extLst>
          </p:cNvPr>
          <p:cNvSpPr>
            <a:spLocks xmlns:a="http://schemas.openxmlformats.org/drawingml/2006/main" noGrp="1"/>
          </p:cNvSpPr>
          <p:nvPr/>
        </p:nvSpPr>
        <p:spPr>
          <a:xfrm xmlns:a="http://schemas.openxmlformats.org/drawingml/2006/main">
            <a:off x="609600" y="3562350"/>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E6D3D8"/>
                </a:solidFill>
                <a:latin typeface="Segoe UI"/>
                <a:ea typeface="Segoe UI"/>
                <a:cs typeface="Segoe UI"/>
              </a:defRPr>
            </a:defPPr>
          </a:lstStyle>
          <a:p xmlns:a="http://schemas.openxmlformats.org/drawingml/2006/main">
            <a:pPr algn="l">
              <a:defRPr sz="1650" b="0" i="0">
                <a:solidFill>
                  <a:srgbClr val="E6D3D8"/>
                </a:solidFill>
                <a:latin typeface="Segoe UI"/>
                <a:ea typeface="Segoe UI"/>
                <a:cs typeface="Segoe UI"/>
              </a:defRPr>
            </a:pPr>
            <a:r>
              <a:rPr sz="1650" b="0" i="0">
                <a:solidFill>
                  <a:srgbClr val="E6D3D8"/>
                </a:solidFill>
                <a:latin typeface="Segoe UI"/>
                <a:ea typeface="Segoe UI"/>
                <a:cs typeface="Segoe UI"/>
              </a:rPr>
              <a:t>Ism, telefon,</a:t>
            </a:r>
          </a:p>
          <a:p xmlns:a="http://schemas.openxmlformats.org/drawingml/2006/main">
            <a:pPr algn="l">
              <a:defRPr sz="1650" b="0" i="0">
                <a:solidFill>
                  <a:srgbClr val="E6D3D8"/>
                </a:solidFill>
                <a:latin typeface="Segoe UI"/>
                <a:ea typeface="Segoe UI"/>
                <a:cs typeface="Segoe UI"/>
              </a:defRPr>
            </a:pPr>
            <a:r>
              <a:rPr sz="1650" b="0" i="0">
                <a:solidFill>
                  <a:srgbClr val="E6D3D8"/>
                </a:solidFill>
                <a:latin typeface="Segoe UI"/>
                <a:ea typeface="Segoe UI"/>
                <a:cs typeface="Segoe UI"/>
              </a:rPr>
              <a:t>xizmat va vaqt</a:t>
            </a:r>
          </a:p>
        </p:txBody>
      </p:sp>
      <p:cxnSp>
        <p:nvCxnSpPr>
          <p:cNvPr id="7" name="CRM process flow">
            <a:extLst xmlns:a="http://schemas.openxmlformats.org/drawingml/2006/main">
              <a:ext uri="{FF2B5EF4-FFF2-40B4-BE49-F238E27FC236}">
                <a16:creationId xmlns:a16="http://schemas.microsoft.com/office/drawing/2014/main" id="{802C034B-1D1D-4F4A-97C0-9C29EAF9F73F}"/>
              </a:ext>
            </a:extLst>
          </p:cNvPr>
          <p:cNvCxnSpPr/>
          <p:nvPr/>
        </p:nvCxnSpPr>
        <p:spPr>
          <a:xfrm xmlns:a="http://schemas.openxmlformats.org/drawingml/2006/main">
            <a:off x="2095500" y="2228850"/>
            <a:ext cx="981075" cy="0"/>
          </a:xfrm>
          <a:prstGeom xmlns:a="http://schemas.openxmlformats.org/drawingml/2006/main" prst="straightConnector1">
            <a:avLst/>
          </a:prstGeom>
          <a:ln xmlns:a="http://schemas.openxmlformats.org/drawingml/2006/main" w="14288">
            <a:solidFill>
              <a:srgbClr val="E5C9AC"/>
            </a:solidFill>
            <a:prstDash val="solid"/>
            <a:tailEnd type="arrow" w="med" len="med"/>
          </a:ln>
        </p:spPr>
      </p:cxnSp>
      <p:sp>
        <p:nvSpPr>
          <p:cNvPr id="8" name="02">
            <a:extLst xmlns:a="http://schemas.openxmlformats.org/drawingml/2006/main">
              <a:ext uri="{FF2B5EF4-FFF2-40B4-BE49-F238E27FC236}">
                <a16:creationId xmlns:a16="http://schemas.microsoft.com/office/drawing/2014/main" id="{777EB086-A7FE-4FD3-B7CC-47328CB00408}"/>
              </a:ext>
            </a:extLst>
          </p:cNvPr>
          <p:cNvSpPr>
            <a:spLocks xmlns:a="http://schemas.openxmlformats.org/drawingml/2006/main" noGrp="1"/>
          </p:cNvSpPr>
          <p:nvPr/>
        </p:nvSpPr>
        <p:spPr>
          <a:xfrm xmlns:a="http://schemas.openxmlformats.org/drawingml/2006/main">
            <a:off x="3400425" y="1885950"/>
            <a:ext cx="990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75" b="0" i="0">
                <a:solidFill>
                  <a:srgbClr val="E5C9AC"/>
                </a:solidFill>
                <a:latin typeface="Georgia"/>
                <a:ea typeface="Georgia"/>
                <a:cs typeface="Georgia"/>
              </a:defRPr>
            </a:defPPr>
          </a:lstStyle>
          <a:p xmlns:a="http://schemas.openxmlformats.org/drawingml/2006/main">
            <a:pPr algn="l">
              <a:defRPr sz="4575" b="0" i="0">
                <a:solidFill>
                  <a:srgbClr val="E5C9AC"/>
                </a:solidFill>
                <a:latin typeface="Georgia"/>
                <a:ea typeface="Georgia"/>
                <a:cs typeface="Georgia"/>
              </a:defRPr>
            </a:pPr>
            <a:r>
              <a:rPr sz="4575" b="0" i="0">
                <a:solidFill>
                  <a:srgbClr val="E5C9AC"/>
                </a:solidFill>
                <a:latin typeface="Georgia"/>
                <a:ea typeface="Georgia"/>
                <a:cs typeface="Georgia"/>
              </a:rPr>
              <a:t>02</a:t>
            </a:r>
          </a:p>
        </p:txBody>
      </p:sp>
      <p:sp>
        <p:nvSpPr>
          <p:cNvPr id="9" name="CRM’da saqlash">
            <a:extLst xmlns:a="http://schemas.openxmlformats.org/drawingml/2006/main">
              <a:ext uri="{FF2B5EF4-FFF2-40B4-BE49-F238E27FC236}">
                <a16:creationId xmlns:a16="http://schemas.microsoft.com/office/drawing/2014/main" id="{E58FFF2A-550E-4271-BF72-DBEE39D20A49}"/>
              </a:ext>
            </a:extLst>
          </p:cNvPr>
          <p:cNvSpPr>
            <a:spLocks xmlns:a="http://schemas.openxmlformats.org/drawingml/2006/main" noGrp="1"/>
          </p:cNvSpPr>
          <p:nvPr/>
        </p:nvSpPr>
        <p:spPr>
          <a:xfrm xmlns:a="http://schemas.openxmlformats.org/drawingml/2006/main">
            <a:off x="3400425" y="2838450"/>
            <a:ext cx="2505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i="0">
                <a:solidFill>
                  <a:srgbClr val="FFFFFF"/>
                </a:solidFill>
                <a:latin typeface="Georgia"/>
                <a:ea typeface="Georgia"/>
                <a:cs typeface="Georgia"/>
              </a:defRPr>
            </a:defPPr>
          </a:lstStyle>
          <a:p xmlns:a="http://schemas.openxmlformats.org/drawingml/2006/main">
            <a:pPr algn="l">
              <a:defRPr sz="1950" b="0" i="0">
                <a:solidFill>
                  <a:srgbClr val="FFFFFF"/>
                </a:solidFill>
                <a:latin typeface="Georgia"/>
                <a:ea typeface="Georgia"/>
                <a:cs typeface="Georgia"/>
              </a:defRPr>
            </a:pPr>
            <a:r>
              <a:rPr sz="1950" b="0" i="0">
                <a:solidFill>
                  <a:srgbClr val="FFFFFF"/>
                </a:solidFill>
                <a:latin typeface="Georgia"/>
                <a:ea typeface="Georgia"/>
                <a:cs typeface="Georgia"/>
              </a:rPr>
              <a:t>CRM’da saqlash</a:t>
            </a:r>
          </a:p>
        </p:txBody>
      </p:sp>
      <p:sp>
        <p:nvSpPr>
          <p:cNvPr id="10" name="So‘rov va holat bir joyda ko‘rinadi">
            <a:extLst xmlns:a="http://schemas.openxmlformats.org/drawingml/2006/main">
              <a:ext uri="{FF2B5EF4-FFF2-40B4-BE49-F238E27FC236}">
                <a16:creationId xmlns:a16="http://schemas.microsoft.com/office/drawing/2014/main" id="{A09D69B6-E0C9-452B-9F42-C8DA9EF48A2C}"/>
              </a:ext>
            </a:extLst>
          </p:cNvPr>
          <p:cNvSpPr>
            <a:spLocks xmlns:a="http://schemas.openxmlformats.org/drawingml/2006/main" noGrp="1"/>
          </p:cNvSpPr>
          <p:nvPr/>
        </p:nvSpPr>
        <p:spPr>
          <a:xfrm xmlns:a="http://schemas.openxmlformats.org/drawingml/2006/main">
            <a:off x="3400425" y="3562350"/>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E6D3D8"/>
                </a:solidFill>
                <a:latin typeface="Segoe UI"/>
                <a:ea typeface="Segoe UI"/>
                <a:cs typeface="Segoe UI"/>
              </a:defRPr>
            </a:defPPr>
          </a:lstStyle>
          <a:p xmlns:a="http://schemas.openxmlformats.org/drawingml/2006/main">
            <a:pPr algn="l">
              <a:defRPr sz="1650" b="0" i="0">
                <a:solidFill>
                  <a:srgbClr val="E6D3D8"/>
                </a:solidFill>
                <a:latin typeface="Segoe UI"/>
                <a:ea typeface="Segoe UI"/>
                <a:cs typeface="Segoe UI"/>
              </a:defRPr>
            </a:pPr>
            <a:r>
              <a:rPr sz="1650" b="0" i="0">
                <a:solidFill>
                  <a:srgbClr val="E6D3D8"/>
                </a:solidFill>
                <a:latin typeface="Segoe UI"/>
                <a:ea typeface="Segoe UI"/>
                <a:cs typeface="Segoe UI"/>
              </a:rPr>
              <a:t>So‘rov va holat</a:t>
            </a:r>
          </a:p>
          <a:p xmlns:a="http://schemas.openxmlformats.org/drawingml/2006/main">
            <a:pPr algn="l">
              <a:defRPr sz="1650" b="0" i="0">
                <a:solidFill>
                  <a:srgbClr val="E6D3D8"/>
                </a:solidFill>
                <a:latin typeface="Segoe UI"/>
                <a:ea typeface="Segoe UI"/>
                <a:cs typeface="Segoe UI"/>
              </a:defRPr>
            </a:pPr>
            <a:r>
              <a:rPr sz="1650" b="0" i="0">
                <a:solidFill>
                  <a:srgbClr val="E6D3D8"/>
                </a:solidFill>
                <a:latin typeface="Segoe UI"/>
                <a:ea typeface="Segoe UI"/>
                <a:cs typeface="Segoe UI"/>
              </a:rPr>
              <a:t>bir joyda ko‘rinadi</a:t>
            </a:r>
          </a:p>
        </p:txBody>
      </p:sp>
      <p:cxnSp>
        <p:nvCxnSpPr>
          <p:cNvPr id="11" name="CRM process flow">
            <a:extLst xmlns:a="http://schemas.openxmlformats.org/drawingml/2006/main">
              <a:ext uri="{FF2B5EF4-FFF2-40B4-BE49-F238E27FC236}">
                <a16:creationId xmlns:a16="http://schemas.microsoft.com/office/drawing/2014/main" id="{5495A63D-35A7-452A-A1E0-3749396B8DE1}"/>
              </a:ext>
            </a:extLst>
          </p:cNvPr>
          <p:cNvCxnSpPr/>
          <p:nvPr/>
        </p:nvCxnSpPr>
        <p:spPr>
          <a:xfrm xmlns:a="http://schemas.openxmlformats.org/drawingml/2006/main">
            <a:off x="4886325" y="2228850"/>
            <a:ext cx="981075" cy="0"/>
          </a:xfrm>
          <a:prstGeom xmlns:a="http://schemas.openxmlformats.org/drawingml/2006/main" prst="straightConnector1">
            <a:avLst/>
          </a:prstGeom>
          <a:ln xmlns:a="http://schemas.openxmlformats.org/drawingml/2006/main" w="14288">
            <a:solidFill>
              <a:srgbClr val="E5C9AC"/>
            </a:solidFill>
            <a:prstDash val="solid"/>
            <a:tailEnd type="arrow" w="med" len="med"/>
          </a:ln>
        </p:spPr>
      </p:cxnSp>
      <p:sp>
        <p:nvSpPr>
          <p:cNvPr id="12" name="03">
            <a:extLst xmlns:a="http://schemas.openxmlformats.org/drawingml/2006/main">
              <a:ext uri="{FF2B5EF4-FFF2-40B4-BE49-F238E27FC236}">
                <a16:creationId xmlns:a16="http://schemas.microsoft.com/office/drawing/2014/main" id="{79E69B64-1702-46C6-A63A-C9E01B412F35}"/>
              </a:ext>
            </a:extLst>
          </p:cNvPr>
          <p:cNvSpPr>
            <a:spLocks xmlns:a="http://schemas.openxmlformats.org/drawingml/2006/main" noGrp="1"/>
          </p:cNvSpPr>
          <p:nvPr/>
        </p:nvSpPr>
        <p:spPr>
          <a:xfrm xmlns:a="http://schemas.openxmlformats.org/drawingml/2006/main">
            <a:off x="6191250" y="1885950"/>
            <a:ext cx="990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75" b="0" i="0">
                <a:solidFill>
                  <a:srgbClr val="E5C9AC"/>
                </a:solidFill>
                <a:latin typeface="Georgia"/>
                <a:ea typeface="Georgia"/>
                <a:cs typeface="Georgia"/>
              </a:defRPr>
            </a:defPPr>
          </a:lstStyle>
          <a:p xmlns:a="http://schemas.openxmlformats.org/drawingml/2006/main">
            <a:pPr algn="l">
              <a:defRPr sz="4575" b="0" i="0">
                <a:solidFill>
                  <a:srgbClr val="E5C9AC"/>
                </a:solidFill>
                <a:latin typeface="Georgia"/>
                <a:ea typeface="Georgia"/>
                <a:cs typeface="Georgia"/>
              </a:defRPr>
            </a:pPr>
            <a:r>
              <a:rPr sz="4575" b="0" i="0">
                <a:solidFill>
                  <a:srgbClr val="E5C9AC"/>
                </a:solidFill>
                <a:latin typeface="Georgia"/>
                <a:ea typeface="Georgia"/>
                <a:cs typeface="Georgia"/>
              </a:rPr>
              <a:t>03</a:t>
            </a:r>
          </a:p>
        </p:txBody>
      </p:sp>
      <p:sp>
        <p:nvSpPr>
          <p:cNvPr id="13" name="Telegram xabari">
            <a:extLst xmlns:a="http://schemas.openxmlformats.org/drawingml/2006/main">
              <a:ext uri="{FF2B5EF4-FFF2-40B4-BE49-F238E27FC236}">
                <a16:creationId xmlns:a16="http://schemas.microsoft.com/office/drawing/2014/main" id="{96F1B82A-013D-4096-A1F7-40621470662F}"/>
              </a:ext>
            </a:extLst>
          </p:cNvPr>
          <p:cNvSpPr>
            <a:spLocks xmlns:a="http://schemas.openxmlformats.org/drawingml/2006/main" noGrp="1"/>
          </p:cNvSpPr>
          <p:nvPr/>
        </p:nvSpPr>
        <p:spPr>
          <a:xfrm xmlns:a="http://schemas.openxmlformats.org/drawingml/2006/main">
            <a:off x="6191250" y="2838450"/>
            <a:ext cx="2505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i="0">
                <a:solidFill>
                  <a:srgbClr val="FFFFFF"/>
                </a:solidFill>
                <a:latin typeface="Georgia"/>
                <a:ea typeface="Georgia"/>
                <a:cs typeface="Georgia"/>
              </a:defRPr>
            </a:defPPr>
          </a:lstStyle>
          <a:p xmlns:a="http://schemas.openxmlformats.org/drawingml/2006/main">
            <a:pPr algn="l">
              <a:defRPr sz="1950" b="0" i="0">
                <a:solidFill>
                  <a:srgbClr val="FFFFFF"/>
                </a:solidFill>
                <a:latin typeface="Georgia"/>
                <a:ea typeface="Georgia"/>
                <a:cs typeface="Georgia"/>
              </a:defRPr>
            </a:pPr>
            <a:r>
              <a:rPr sz="1950" b="0" i="0">
                <a:solidFill>
                  <a:srgbClr val="FFFFFF"/>
                </a:solidFill>
                <a:latin typeface="Georgia"/>
                <a:ea typeface="Georgia"/>
                <a:cs typeface="Georgia"/>
              </a:rPr>
              <a:t>Telegram xabari</a:t>
            </a:r>
          </a:p>
        </p:txBody>
      </p:sp>
      <p:sp>
        <p:nvSpPr>
          <p:cNvPr id="14" name="Barcha zayavkalar mas’ul xodimlarga">
            <a:extLst xmlns:a="http://schemas.openxmlformats.org/drawingml/2006/main">
              <a:ext uri="{FF2B5EF4-FFF2-40B4-BE49-F238E27FC236}">
                <a16:creationId xmlns:a16="http://schemas.microsoft.com/office/drawing/2014/main" id="{9689929F-BC2A-415D-B1A1-46B4F2A9254C}"/>
              </a:ext>
            </a:extLst>
          </p:cNvPr>
          <p:cNvSpPr>
            <a:spLocks xmlns:a="http://schemas.openxmlformats.org/drawingml/2006/main" noGrp="1"/>
          </p:cNvSpPr>
          <p:nvPr/>
        </p:nvSpPr>
        <p:spPr>
          <a:xfrm xmlns:a="http://schemas.openxmlformats.org/drawingml/2006/main">
            <a:off x="6191250" y="3562350"/>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E6D3D8"/>
                </a:solidFill>
                <a:latin typeface="Segoe UI"/>
                <a:ea typeface="Segoe UI"/>
                <a:cs typeface="Segoe UI"/>
              </a:defRPr>
            </a:defPPr>
          </a:lstStyle>
          <a:p xmlns:a="http://schemas.openxmlformats.org/drawingml/2006/main">
            <a:pPr algn="l">
              <a:defRPr sz="1650" b="0" i="0">
                <a:solidFill>
                  <a:srgbClr val="E6D3D8"/>
                </a:solidFill>
                <a:latin typeface="Segoe UI"/>
                <a:ea typeface="Segoe UI"/>
                <a:cs typeface="Segoe UI"/>
              </a:defRPr>
            </a:pPr>
            <a:r>
              <a:rPr sz="1650" b="0" i="0">
                <a:solidFill>
                  <a:srgbClr val="E6D3D8"/>
                </a:solidFill>
                <a:latin typeface="Segoe UI"/>
                <a:ea typeface="Segoe UI"/>
                <a:cs typeface="Segoe UI"/>
              </a:rPr>
              <a:t>Barcha zayavkalar</a:t>
            </a:r>
          </a:p>
          <a:p xmlns:a="http://schemas.openxmlformats.org/drawingml/2006/main">
            <a:pPr algn="l">
              <a:defRPr sz="1650" b="0" i="0">
                <a:solidFill>
                  <a:srgbClr val="E6D3D8"/>
                </a:solidFill>
                <a:latin typeface="Segoe UI"/>
                <a:ea typeface="Segoe UI"/>
                <a:cs typeface="Segoe UI"/>
              </a:defRPr>
            </a:pPr>
            <a:r>
              <a:rPr sz="1650" b="0" i="0">
                <a:solidFill>
                  <a:srgbClr val="E6D3D8"/>
                </a:solidFill>
                <a:latin typeface="Segoe UI"/>
                <a:ea typeface="Segoe UI"/>
                <a:cs typeface="Segoe UI"/>
              </a:rPr>
              <a:t>mas’ul xodimlarga</a:t>
            </a:r>
          </a:p>
        </p:txBody>
      </p:sp>
      <p:cxnSp>
        <p:nvCxnSpPr>
          <p:cNvPr id="15" name="CRM process flow">
            <a:extLst xmlns:a="http://schemas.openxmlformats.org/drawingml/2006/main">
              <a:ext uri="{FF2B5EF4-FFF2-40B4-BE49-F238E27FC236}">
                <a16:creationId xmlns:a16="http://schemas.microsoft.com/office/drawing/2014/main" id="{11C685C8-E65F-40F0-8FC2-8F9B13F19BA3}"/>
              </a:ext>
            </a:extLst>
          </p:cNvPr>
          <p:cNvCxnSpPr/>
          <p:nvPr/>
        </p:nvCxnSpPr>
        <p:spPr>
          <a:xfrm xmlns:a="http://schemas.openxmlformats.org/drawingml/2006/main">
            <a:off x="7677150" y="2228850"/>
            <a:ext cx="981075" cy="0"/>
          </a:xfrm>
          <a:prstGeom xmlns:a="http://schemas.openxmlformats.org/drawingml/2006/main" prst="straightConnector1">
            <a:avLst/>
          </a:prstGeom>
          <a:ln xmlns:a="http://schemas.openxmlformats.org/drawingml/2006/main" w="14288">
            <a:solidFill>
              <a:srgbClr val="E5C9AC"/>
            </a:solidFill>
            <a:prstDash val="solid"/>
            <a:tailEnd type="arrow" w="med" len="med"/>
          </a:ln>
        </p:spPr>
      </p:cxnSp>
      <p:sp>
        <p:nvSpPr>
          <p:cNvPr id="16" name="04">
            <a:extLst xmlns:a="http://schemas.openxmlformats.org/drawingml/2006/main">
              <a:ext uri="{FF2B5EF4-FFF2-40B4-BE49-F238E27FC236}">
                <a16:creationId xmlns:a16="http://schemas.microsoft.com/office/drawing/2014/main" id="{2C625BBF-F878-4ABF-8B2A-EF9AF85E1486}"/>
              </a:ext>
            </a:extLst>
          </p:cNvPr>
          <p:cNvSpPr>
            <a:spLocks xmlns:a="http://schemas.openxmlformats.org/drawingml/2006/main" noGrp="1"/>
          </p:cNvSpPr>
          <p:nvPr/>
        </p:nvSpPr>
        <p:spPr>
          <a:xfrm xmlns:a="http://schemas.openxmlformats.org/drawingml/2006/main">
            <a:off x="8982075" y="1885950"/>
            <a:ext cx="990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75" b="0" i="0">
                <a:solidFill>
                  <a:srgbClr val="E5C9AC"/>
                </a:solidFill>
                <a:latin typeface="Georgia"/>
                <a:ea typeface="Georgia"/>
                <a:cs typeface="Georgia"/>
              </a:defRPr>
            </a:defPPr>
          </a:lstStyle>
          <a:p xmlns:a="http://schemas.openxmlformats.org/drawingml/2006/main">
            <a:pPr algn="l">
              <a:defRPr sz="4575" b="0" i="0">
                <a:solidFill>
                  <a:srgbClr val="E5C9AC"/>
                </a:solidFill>
                <a:latin typeface="Georgia"/>
                <a:ea typeface="Georgia"/>
                <a:cs typeface="Georgia"/>
              </a:defRPr>
            </a:pPr>
            <a:r>
              <a:rPr sz="4575" b="0" i="0">
                <a:solidFill>
                  <a:srgbClr val="E5C9AC"/>
                </a:solidFill>
                <a:latin typeface="Georgia"/>
                <a:ea typeface="Georgia"/>
                <a:cs typeface="Georgia"/>
              </a:rPr>
              <a:t>04</a:t>
            </a:r>
          </a:p>
        </p:txBody>
      </p:sp>
      <p:sp>
        <p:nvSpPr>
          <p:cNvPr id="17" name="Administrator amali">
            <a:extLst xmlns:a="http://schemas.openxmlformats.org/drawingml/2006/main">
              <a:ext uri="{FF2B5EF4-FFF2-40B4-BE49-F238E27FC236}">
                <a16:creationId xmlns:a16="http://schemas.microsoft.com/office/drawing/2014/main" id="{8982EA7C-B5C1-4651-9A58-F35454B323A5}"/>
              </a:ext>
            </a:extLst>
          </p:cNvPr>
          <p:cNvSpPr>
            <a:spLocks xmlns:a="http://schemas.openxmlformats.org/drawingml/2006/main" noGrp="1"/>
          </p:cNvSpPr>
          <p:nvPr/>
        </p:nvSpPr>
        <p:spPr>
          <a:xfrm xmlns:a="http://schemas.openxmlformats.org/drawingml/2006/main">
            <a:off x="8982075" y="2838450"/>
            <a:ext cx="2505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i="0">
                <a:solidFill>
                  <a:srgbClr val="FFFFFF"/>
                </a:solidFill>
                <a:latin typeface="Georgia"/>
                <a:ea typeface="Georgia"/>
                <a:cs typeface="Georgia"/>
              </a:defRPr>
            </a:defPPr>
          </a:lstStyle>
          <a:p xmlns:a="http://schemas.openxmlformats.org/drawingml/2006/main">
            <a:pPr algn="l">
              <a:defRPr sz="1950" b="0" i="0">
                <a:solidFill>
                  <a:srgbClr val="FFFFFF"/>
                </a:solidFill>
                <a:latin typeface="Georgia"/>
                <a:ea typeface="Georgia"/>
                <a:cs typeface="Georgia"/>
              </a:defRPr>
            </a:pPr>
            <a:r>
              <a:rPr sz="1950" b="0" i="0">
                <a:solidFill>
                  <a:srgbClr val="FFFFFF"/>
                </a:solidFill>
                <a:latin typeface="Georgia"/>
                <a:ea typeface="Georgia"/>
                <a:cs typeface="Georgia"/>
              </a:rPr>
              <a:t>Administrator amali</a:t>
            </a:r>
          </a:p>
        </p:txBody>
      </p:sp>
      <p:sp>
        <p:nvSpPr>
          <p:cNvPr id="18" name="Tasdiqlash yoki mijozga qo‘ng‘iroq">
            <a:extLst xmlns:a="http://schemas.openxmlformats.org/drawingml/2006/main">
              <a:ext uri="{FF2B5EF4-FFF2-40B4-BE49-F238E27FC236}">
                <a16:creationId xmlns:a16="http://schemas.microsoft.com/office/drawing/2014/main" id="{77E4A5FE-C5F0-4E60-B3EF-B3997A650D3A}"/>
              </a:ext>
            </a:extLst>
          </p:cNvPr>
          <p:cNvSpPr>
            <a:spLocks xmlns:a="http://schemas.openxmlformats.org/drawingml/2006/main" noGrp="1"/>
          </p:cNvSpPr>
          <p:nvPr/>
        </p:nvSpPr>
        <p:spPr>
          <a:xfrm xmlns:a="http://schemas.openxmlformats.org/drawingml/2006/main">
            <a:off x="8982075" y="3562350"/>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E6D3D8"/>
                </a:solidFill>
                <a:latin typeface="Segoe UI"/>
                <a:ea typeface="Segoe UI"/>
                <a:cs typeface="Segoe UI"/>
              </a:defRPr>
            </a:defPPr>
          </a:lstStyle>
          <a:p xmlns:a="http://schemas.openxmlformats.org/drawingml/2006/main">
            <a:pPr algn="l">
              <a:defRPr sz="1650" b="0" i="0">
                <a:solidFill>
                  <a:srgbClr val="E6D3D8"/>
                </a:solidFill>
                <a:latin typeface="Segoe UI"/>
                <a:ea typeface="Segoe UI"/>
                <a:cs typeface="Segoe UI"/>
              </a:defRPr>
            </a:pPr>
            <a:r>
              <a:rPr sz="1650" b="0" i="0">
                <a:solidFill>
                  <a:srgbClr val="E6D3D8"/>
                </a:solidFill>
                <a:latin typeface="Segoe UI"/>
                <a:ea typeface="Segoe UI"/>
                <a:cs typeface="Segoe UI"/>
              </a:rPr>
              <a:t>Tasdiqlash yoki</a:t>
            </a:r>
          </a:p>
          <a:p xmlns:a="http://schemas.openxmlformats.org/drawingml/2006/main">
            <a:pPr algn="l">
              <a:defRPr sz="1650" b="0" i="0">
                <a:solidFill>
                  <a:srgbClr val="E6D3D8"/>
                </a:solidFill>
                <a:latin typeface="Segoe UI"/>
                <a:ea typeface="Segoe UI"/>
                <a:cs typeface="Segoe UI"/>
              </a:defRPr>
            </a:pPr>
            <a:r>
              <a:rPr sz="1650" b="0" i="0">
                <a:solidFill>
                  <a:srgbClr val="E6D3D8"/>
                </a:solidFill>
                <a:latin typeface="Segoe UI"/>
                <a:ea typeface="Segoe UI"/>
                <a:cs typeface="Segoe UI"/>
              </a:rPr>
              <a:t>mijozga qo‘ng‘iroq</a:t>
            </a:r>
          </a:p>
        </p:txBody>
      </p:sp>
      <p:sp>
        <p:nvSpPr>
          <p:cNvPr id="19" name="Bot ichida boshqarish">
            <a:extLst xmlns:a="http://schemas.openxmlformats.org/drawingml/2006/main">
              <a:ext uri="{FF2B5EF4-FFF2-40B4-BE49-F238E27FC236}">
                <a16:creationId xmlns:a16="http://schemas.microsoft.com/office/drawing/2014/main" id="{5FCE8410-88B6-46E9-953D-36C300A36479}"/>
              </a:ext>
            </a:extLst>
          </p:cNvPr>
          <p:cNvSpPr>
            <a:spLocks xmlns:a="http://schemas.openxmlformats.org/drawingml/2006/main" noGrp="1"/>
          </p:cNvSpPr>
          <p:nvPr/>
        </p:nvSpPr>
        <p:spPr>
          <a:xfrm xmlns:a="http://schemas.openxmlformats.org/drawingml/2006/main">
            <a:off x="609600" y="464820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i="0">
                <a:solidFill>
                  <a:srgbClr val="FFFFFF"/>
                </a:solidFill>
                <a:latin typeface="Georgia"/>
                <a:ea typeface="Georgia"/>
                <a:cs typeface="Georgia"/>
              </a:defRPr>
            </a:defPPr>
          </a:lstStyle>
          <a:p xmlns:a="http://schemas.openxmlformats.org/drawingml/2006/main">
            <a:pPr algn="l">
              <a:defRPr sz="2325" b="0" i="0">
                <a:solidFill>
                  <a:srgbClr val="FFFFFF"/>
                </a:solidFill>
                <a:latin typeface="Georgia"/>
                <a:ea typeface="Georgia"/>
                <a:cs typeface="Georgia"/>
              </a:defRPr>
            </a:pPr>
            <a:r>
              <a:rPr sz="2325" b="0" i="0">
                <a:solidFill>
                  <a:srgbClr val="FFFFFF"/>
                </a:solidFill>
                <a:latin typeface="Georgia"/>
                <a:ea typeface="Georgia"/>
                <a:cs typeface="Georgia"/>
              </a:rPr>
              <a:t>Bot ichida boshqarish</a:t>
            </a:r>
          </a:p>
        </p:txBody>
      </p:sp>
      <p:sp>
        <p:nvSpPr>
          <p:cNvPr id="20" name="«Tasdiqlash» va «Bog‘lanildi» amallari. Telefon orqali mijoz bilan aloqa. Guruh yoki shaxs">
            <a:extLst xmlns:a="http://schemas.openxmlformats.org/drawingml/2006/main">
              <a:ext uri="{FF2B5EF4-FFF2-40B4-BE49-F238E27FC236}">
                <a16:creationId xmlns:a16="http://schemas.microsoft.com/office/drawing/2014/main" id="{0AF72278-2619-4B9A-B960-1B9302323C64}"/>
              </a:ext>
            </a:extLst>
          </p:cNvPr>
          <p:cNvSpPr>
            <a:spLocks xmlns:a="http://schemas.openxmlformats.org/drawingml/2006/main" noGrp="1"/>
          </p:cNvSpPr>
          <p:nvPr/>
        </p:nvSpPr>
        <p:spPr>
          <a:xfrm xmlns:a="http://schemas.openxmlformats.org/drawingml/2006/main">
            <a:off x="609600" y="5238750"/>
            <a:ext cx="5286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0" b="0" i="0">
                <a:solidFill>
                  <a:srgbClr val="E6D3D8"/>
                </a:solidFill>
                <a:latin typeface="Segoe UI"/>
                <a:ea typeface="Segoe UI"/>
                <a:cs typeface="Segoe UI"/>
              </a:defRPr>
            </a:defPPr>
          </a:lstStyle>
          <a:p xmlns:a="http://schemas.openxmlformats.org/drawingml/2006/main">
            <a:pPr algn="l">
              <a:defRPr sz="1680" b="0" i="0">
                <a:solidFill>
                  <a:srgbClr val="E6D3D8"/>
                </a:solidFill>
                <a:latin typeface="Segoe UI"/>
                <a:ea typeface="Segoe UI"/>
                <a:cs typeface="Segoe UI"/>
              </a:defRPr>
            </a:pPr>
            <a:r>
              <a:rPr sz="1680" b="0" i="0">
                <a:solidFill>
                  <a:srgbClr val="E6D3D8"/>
                </a:solidFill>
                <a:latin typeface="Segoe UI"/>
                <a:ea typeface="Segoe UI"/>
                <a:cs typeface="Segoe UI"/>
              </a:rPr>
              <a:t>«Tasdiqlash» va «Bog‘lanildi» amallari.</a:t>
            </a:r>
          </a:p>
          <a:p xmlns:a="http://schemas.openxmlformats.org/drawingml/2006/main">
            <a:pPr algn="l">
              <a:defRPr sz="1680" b="0" i="0">
                <a:solidFill>
                  <a:srgbClr val="E6D3D8"/>
                </a:solidFill>
                <a:latin typeface="Segoe UI"/>
                <a:ea typeface="Segoe UI"/>
                <a:cs typeface="Segoe UI"/>
              </a:defRPr>
            </a:pPr>
            <a:r>
              <a:rPr sz="1680" b="0" i="0">
                <a:solidFill>
                  <a:srgbClr val="E6D3D8"/>
                </a:solidFill>
                <a:latin typeface="Segoe UI"/>
                <a:ea typeface="Segoe UI"/>
                <a:cs typeface="Segoe UI"/>
              </a:rPr>
              <a:t>Telefon orqali mijoz bilan aloqa.</a:t>
            </a:r>
          </a:p>
          <a:p xmlns:a="http://schemas.openxmlformats.org/drawingml/2006/main">
            <a:pPr algn="l">
              <a:defRPr sz="1680" b="0" i="0">
                <a:solidFill>
                  <a:srgbClr val="E6D3D8"/>
                </a:solidFill>
                <a:latin typeface="Segoe UI"/>
                <a:ea typeface="Segoe UI"/>
                <a:cs typeface="Segoe UI"/>
              </a:defRPr>
            </a:pPr>
            <a:r>
              <a:rPr sz="1680" b="0" i="0">
                <a:solidFill>
                  <a:srgbClr val="E6D3D8"/>
                </a:solidFill>
                <a:latin typeface="Segoe UI"/>
                <a:ea typeface="Segoe UI"/>
                <a:cs typeface="Segoe UI"/>
              </a:rPr>
              <a:t>Guruh yoki shaxsiy chatlarga xabar.</a:t>
            </a:r>
          </a:p>
        </p:txBody>
      </p:sp>
      <p:sp>
        <p:nvSpPr>
          <p:cNvPr id="21" name="Holat CRM’da yangilanadi">
            <a:extLst xmlns:a="http://schemas.openxmlformats.org/drawingml/2006/main">
              <a:ext uri="{FF2B5EF4-FFF2-40B4-BE49-F238E27FC236}">
                <a16:creationId xmlns:a16="http://schemas.microsoft.com/office/drawing/2014/main" id="{021C612B-8698-41D9-B82B-C3E006B62836}"/>
              </a:ext>
            </a:extLst>
          </p:cNvPr>
          <p:cNvSpPr>
            <a:spLocks xmlns:a="http://schemas.openxmlformats.org/drawingml/2006/main" noGrp="1"/>
          </p:cNvSpPr>
          <p:nvPr/>
        </p:nvSpPr>
        <p:spPr>
          <a:xfrm xmlns:a="http://schemas.openxmlformats.org/drawingml/2006/main">
            <a:off x="6496050" y="4648200"/>
            <a:ext cx="5086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i="0">
                <a:solidFill>
                  <a:srgbClr val="FFFFFF"/>
                </a:solidFill>
                <a:latin typeface="Georgia"/>
                <a:ea typeface="Georgia"/>
                <a:cs typeface="Georgia"/>
              </a:defRPr>
            </a:defPPr>
          </a:lstStyle>
          <a:p xmlns:a="http://schemas.openxmlformats.org/drawingml/2006/main">
            <a:pPr algn="l">
              <a:defRPr sz="2325" b="0" i="0">
                <a:solidFill>
                  <a:srgbClr val="FFFFFF"/>
                </a:solidFill>
                <a:latin typeface="Georgia"/>
                <a:ea typeface="Georgia"/>
                <a:cs typeface="Georgia"/>
              </a:defRPr>
            </a:pPr>
            <a:r>
              <a:rPr sz="2325" b="0" i="0">
                <a:solidFill>
                  <a:srgbClr val="FFFFFF"/>
                </a:solidFill>
                <a:latin typeface="Georgia"/>
                <a:ea typeface="Georgia"/>
                <a:cs typeface="Georgia"/>
              </a:rPr>
              <a:t>Holat CRM’da yangilanadi</a:t>
            </a:r>
          </a:p>
        </p:txBody>
      </p:sp>
      <p:sp>
        <p:nvSpPr>
          <p:cNvPr id="22" name="Botdagi amal admin panelda ham ko‘rinadi. Holat, izoh va mas’ul xodimni kuzatish mumkin.">
            <a:extLst xmlns:a="http://schemas.openxmlformats.org/drawingml/2006/main">
              <a:ext uri="{FF2B5EF4-FFF2-40B4-BE49-F238E27FC236}">
                <a16:creationId xmlns:a16="http://schemas.microsoft.com/office/drawing/2014/main" id="{0E7B7471-6F98-4F65-B43F-F4BC2AF0604E}"/>
              </a:ext>
            </a:extLst>
          </p:cNvPr>
          <p:cNvSpPr>
            <a:spLocks xmlns:a="http://schemas.openxmlformats.org/drawingml/2006/main" noGrp="1"/>
          </p:cNvSpPr>
          <p:nvPr/>
        </p:nvSpPr>
        <p:spPr>
          <a:xfrm xmlns:a="http://schemas.openxmlformats.org/drawingml/2006/main">
            <a:off x="6496050" y="5238750"/>
            <a:ext cx="50863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0" b="0" i="0">
                <a:solidFill>
                  <a:srgbClr val="E6D3D8"/>
                </a:solidFill>
                <a:latin typeface="Segoe UI"/>
                <a:ea typeface="Segoe UI"/>
                <a:cs typeface="Segoe UI"/>
              </a:defRPr>
            </a:defPPr>
          </a:lstStyle>
          <a:p xmlns:a="http://schemas.openxmlformats.org/drawingml/2006/main">
            <a:pPr algn="l">
              <a:defRPr sz="1680" b="0" i="0">
                <a:solidFill>
                  <a:srgbClr val="E6D3D8"/>
                </a:solidFill>
                <a:latin typeface="Segoe UI"/>
                <a:ea typeface="Segoe UI"/>
                <a:cs typeface="Segoe UI"/>
              </a:defRPr>
            </a:pPr>
            <a:r>
              <a:rPr sz="1680" b="0" i="0">
                <a:solidFill>
                  <a:srgbClr val="E6D3D8"/>
                </a:solidFill>
                <a:latin typeface="Segoe UI"/>
                <a:ea typeface="Segoe UI"/>
                <a:cs typeface="Segoe UI"/>
              </a:rPr>
              <a:t>Botdagi amal admin panelda ham ko‘rinadi.</a:t>
            </a:r>
          </a:p>
          <a:p xmlns:a="http://schemas.openxmlformats.org/drawingml/2006/main">
            <a:pPr algn="l">
              <a:defRPr sz="1680" b="0" i="0">
                <a:solidFill>
                  <a:srgbClr val="E6D3D8"/>
                </a:solidFill>
                <a:latin typeface="Segoe UI"/>
                <a:ea typeface="Segoe UI"/>
                <a:cs typeface="Segoe UI"/>
              </a:defRPr>
            </a:pPr>
            <a:r>
              <a:rPr sz="1680" b="0" i="0">
                <a:solidFill>
                  <a:srgbClr val="E6D3D8"/>
                </a:solidFill>
                <a:latin typeface="Segoe UI"/>
                <a:ea typeface="Segoe UI"/>
                <a:cs typeface="Segoe UI"/>
              </a:rPr>
              <a:t>Holat, izoh va mas’ul xodimni</a:t>
            </a:r>
          </a:p>
          <a:p xmlns:a="http://schemas.openxmlformats.org/drawingml/2006/main">
            <a:pPr algn="l">
              <a:defRPr sz="1680" b="0" i="0">
                <a:solidFill>
                  <a:srgbClr val="E6D3D8"/>
                </a:solidFill>
                <a:latin typeface="Segoe UI"/>
                <a:ea typeface="Segoe UI"/>
                <a:cs typeface="Segoe UI"/>
              </a:defRPr>
            </a:pPr>
            <a:r>
              <a:rPr sz="1680" b="0" i="0">
                <a:solidFill>
                  <a:srgbClr val="E6D3D8"/>
                </a:solidFill>
                <a:latin typeface="Segoe UI"/>
                <a:ea typeface="Segoe UI"/>
                <a:cs typeface="Segoe UI"/>
              </a:rPr>
              <a:t>kuzatish mumkin.</a:t>
            </a:r>
          </a:p>
        </p:txBody>
      </p:sp>
      <p:sp>
        <p:nvSpPr>
          <p:cNvPr id="23" name="Paket doirasida ishlab beriladi. Hozirgi demo botga ulanmagan va statistikasi namuna.">
            <a:extLst xmlns:a="http://schemas.openxmlformats.org/drawingml/2006/main">
              <a:ext uri="{FF2B5EF4-FFF2-40B4-BE49-F238E27FC236}">
                <a16:creationId xmlns:a16="http://schemas.microsoft.com/office/drawing/2014/main" id="{5B36D4D3-7840-4FC1-8997-E3115CC17C63}"/>
              </a:ext>
            </a:extLst>
          </p:cNvPr>
          <p:cNvSpPr>
            <a:spLocks xmlns:a="http://schemas.openxmlformats.org/drawingml/2006/main" noGrp="1"/>
          </p:cNvSpPr>
          <p:nvPr/>
        </p:nvSpPr>
        <p:spPr>
          <a:xfrm xmlns:a="http://schemas.openxmlformats.org/drawingml/2006/main">
            <a:off x="609600" y="6429375"/>
            <a:ext cx="10972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73" b="0" i="0">
                <a:solidFill>
                  <a:srgbClr val="E5C9AC"/>
                </a:solidFill>
                <a:latin typeface="Segoe UI"/>
                <a:ea typeface="Segoe UI"/>
                <a:cs typeface="Segoe UI"/>
              </a:defRPr>
            </a:defPPr>
          </a:lstStyle>
          <a:p xmlns:a="http://schemas.openxmlformats.org/drawingml/2006/main">
            <a:pPr algn="l">
              <a:defRPr sz="1373" b="0" i="0">
                <a:solidFill>
                  <a:srgbClr val="E5C9AC"/>
                </a:solidFill>
                <a:latin typeface="Segoe UI"/>
                <a:ea typeface="Segoe UI"/>
                <a:cs typeface="Segoe UI"/>
              </a:defRPr>
            </a:pPr>
            <a:r>
              <a:rPr sz="1373" b="0" i="0">
                <a:solidFill>
                  <a:srgbClr val="E5C9AC"/>
                </a:solidFill>
                <a:latin typeface="Segoe UI"/>
                <a:ea typeface="Segoe UI"/>
                <a:cs typeface="Segoe UI"/>
              </a:rPr>
              <a:t>Paket doirasida ishlab beriladi. Hozirgi demo botga ulanmagan va statistikasi namuna.</a:t>
            </a:r>
          </a:p>
        </p:txBody>
      </p:sp>
    </p:spTree>
    <p:extLst>
      <p:ext uri="{BB962C8B-B14F-4D97-AF65-F5344CB8AC3E}">
        <p14:creationId xmlns:p14="http://schemas.microsoft.com/office/powerpoint/2010/main" val="1755217134"/>
      </p:ext>
    </p:extLst>
  </p:cSld>
</p:sld>
</file>

<file path=ppt/slides/slide6.xml><?xml version="1.0" encoding="utf-8"?>
<p:sld xmlns:p="http://schemas.openxmlformats.org/presentationml/2006/main">
  <p:cSld>
    <p:bg>
      <p:bgPr>
        <a:solidFill xmlns:a="http://schemas.openxmlformats.org/drawingml/2006/main">
          <a:srgbClr val="2B0D19"/>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F3FBFA38-4798-4BD8-942E-BD0C13D1B6B8}"/>
              </a:ext>
            </a:extLst>
          </p:cNvPr>
          <p:cNvPicPr>
            <a:picLocks xmlns:a="http://schemas.openxmlformats.org/drawingml/2006/main" noChangeAspect="1"/>
          </p:cNvPicPr>
          <p:nvPr/>
        </p:nvPicPr>
        <p:blipFill>
          <a:blip xmlns:r="http://schemas.openxmlformats.org/officeDocument/2006/relationships" xmlns:a="http://schemas.openxmlformats.org/drawingml/2006/main" r:embed="R4eb9c9452d544b5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aklif va ishga tushirish">
            <a:extLst xmlns:a="http://schemas.openxmlformats.org/drawingml/2006/main">
              <a:ext uri="{FF2B5EF4-FFF2-40B4-BE49-F238E27FC236}">
                <a16:creationId xmlns:a16="http://schemas.microsoft.com/office/drawing/2014/main" id="{0BFEB7DE-44C0-4165-9AA0-C9073C7D1D11}"/>
              </a:ext>
            </a:extLst>
          </p:cNvPr>
          <p:cNvSpPr>
            <a:spLocks xmlns:a="http://schemas.openxmlformats.org/drawingml/2006/main" noGrp="1"/>
          </p:cNvSpPr>
          <p:nvPr/>
        </p:nvSpPr>
        <p:spPr>
          <a:xfrm xmlns:a="http://schemas.openxmlformats.org/drawingml/2006/main">
            <a:off x="609600" y="428625"/>
            <a:ext cx="109728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0" i="0">
                <a:solidFill>
                  <a:srgbClr val="FFFFFF"/>
                </a:solidFill>
                <a:latin typeface="Georgia"/>
                <a:ea typeface="Georgia"/>
                <a:cs typeface="Georgia"/>
              </a:defRPr>
            </a:defPPr>
          </a:lstStyle>
          <a:p xmlns:a="http://schemas.openxmlformats.org/drawingml/2006/main">
            <a:pPr algn="l">
              <a:defRPr sz="3750" b="0" i="0">
                <a:solidFill>
                  <a:srgbClr val="FFFFFF"/>
                </a:solidFill>
                <a:latin typeface="Georgia"/>
                <a:ea typeface="Georgia"/>
                <a:cs typeface="Georgia"/>
              </a:defRPr>
            </a:pPr>
            <a:r>
              <a:rPr sz="3750" b="0" i="0">
                <a:solidFill>
                  <a:srgbClr val="FFFFFF"/>
                </a:solidFill>
                <a:latin typeface="Georgia"/>
                <a:ea typeface="Georgia"/>
                <a:cs typeface="Georgia"/>
              </a:rPr>
              <a:t>Taklif va ishga tushirish</a:t>
            </a:r>
          </a:p>
        </p:txBody>
      </p:sp>
      <p:sp>
        <p:nvSpPr>
          <p:cNvPr id="3" name="$250">
            <a:extLst xmlns:a="http://schemas.openxmlformats.org/drawingml/2006/main">
              <a:ext uri="{FF2B5EF4-FFF2-40B4-BE49-F238E27FC236}">
                <a16:creationId xmlns:a16="http://schemas.microsoft.com/office/drawing/2014/main" id="{C9498381-0432-4484-BAA2-551467C0A99C}"/>
              </a:ext>
            </a:extLst>
          </p:cNvPr>
          <p:cNvSpPr>
            <a:spLocks xmlns:a="http://schemas.openxmlformats.org/drawingml/2006/main" noGrp="1"/>
          </p:cNvSpPr>
          <p:nvPr/>
        </p:nvSpPr>
        <p:spPr>
          <a:xfrm xmlns:a="http://schemas.openxmlformats.org/drawingml/2006/main">
            <a:off x="542925" y="1419225"/>
            <a:ext cx="6858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675" b="0" i="0">
                <a:solidFill>
                  <a:srgbClr val="FFFFFF"/>
                </a:solidFill>
                <a:latin typeface="Georgia"/>
                <a:ea typeface="Georgia"/>
                <a:cs typeface="Georgia"/>
              </a:defRPr>
            </a:defPPr>
          </a:lstStyle>
          <a:p xmlns:a="http://schemas.openxmlformats.org/drawingml/2006/main">
            <a:pPr algn="l">
              <a:defRPr sz="9675" b="0" i="0">
                <a:solidFill>
                  <a:srgbClr val="FFFFFF"/>
                </a:solidFill>
                <a:latin typeface="Georgia"/>
                <a:ea typeface="Georgia"/>
                <a:cs typeface="Georgia"/>
              </a:defRPr>
            </a:pPr>
            <a:r>
              <a:rPr sz="9675" b="0" i="0">
                <a:solidFill>
                  <a:srgbClr val="FFFFFF"/>
                </a:solidFill>
                <a:latin typeface="Georgia"/>
                <a:ea typeface="Georgia"/>
                <a:cs typeface="Georgia"/>
              </a:rPr>
              <a:t>$250</a:t>
            </a:r>
          </a:p>
        </p:txBody>
      </p:sp>
      <p:sp>
        <p:nvSpPr>
          <p:cNvPr id="4" name="Bir martalik ishlab chiqish narxi">
            <a:extLst xmlns:a="http://schemas.openxmlformats.org/drawingml/2006/main">
              <a:ext uri="{FF2B5EF4-FFF2-40B4-BE49-F238E27FC236}">
                <a16:creationId xmlns:a16="http://schemas.microsoft.com/office/drawing/2014/main" id="{CF7BB348-B005-4666-B4BA-1990FB6EA384}"/>
              </a:ext>
            </a:extLst>
          </p:cNvPr>
          <p:cNvSpPr>
            <a:spLocks xmlns:a="http://schemas.openxmlformats.org/drawingml/2006/main" noGrp="1"/>
          </p:cNvSpPr>
          <p:nvPr/>
        </p:nvSpPr>
        <p:spPr>
          <a:xfrm xmlns:a="http://schemas.openxmlformats.org/drawingml/2006/main">
            <a:off x="609600" y="2962275"/>
            <a:ext cx="6810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i="0">
                <a:solidFill>
                  <a:srgbClr val="E5C9AC"/>
                </a:solidFill>
                <a:latin typeface="Segoe UI"/>
                <a:ea typeface="Segoe UI"/>
                <a:cs typeface="Segoe UI"/>
              </a:defRPr>
            </a:defPPr>
          </a:lstStyle>
          <a:p xmlns:a="http://schemas.openxmlformats.org/drawingml/2006/main">
            <a:pPr algn="l">
              <a:defRPr sz="1650" b="0" i="0">
                <a:solidFill>
                  <a:srgbClr val="E5C9AC"/>
                </a:solidFill>
                <a:latin typeface="Segoe UI"/>
                <a:ea typeface="Segoe UI"/>
                <a:cs typeface="Segoe UI"/>
              </a:defRPr>
            </a:pPr>
            <a:r>
              <a:rPr sz="1650" b="0" i="0">
                <a:solidFill>
                  <a:srgbClr val="E5C9AC"/>
                </a:solidFill>
                <a:latin typeface="Segoe UI"/>
                <a:ea typeface="Segoe UI"/>
                <a:cs typeface="Segoe UI"/>
              </a:rPr>
              <a:t>Bir martalik ishlab chiqish narxi</a:t>
            </a:r>
          </a:p>
        </p:txBody>
      </p:sp>
      <p:sp>
        <p:nvSpPr>
          <p:cNvPr id="5" name="Sayt, admin panel, CRM va Telegram bot">
            <a:extLst xmlns:a="http://schemas.openxmlformats.org/drawingml/2006/main">
              <a:ext uri="{FF2B5EF4-FFF2-40B4-BE49-F238E27FC236}">
                <a16:creationId xmlns:a16="http://schemas.microsoft.com/office/drawing/2014/main" id="{959E6E4F-718C-4859-ABF8-90A32AD880E8}"/>
              </a:ext>
            </a:extLst>
          </p:cNvPr>
          <p:cNvSpPr>
            <a:spLocks xmlns:a="http://schemas.openxmlformats.org/drawingml/2006/main" noGrp="1"/>
          </p:cNvSpPr>
          <p:nvPr/>
        </p:nvSpPr>
        <p:spPr>
          <a:xfrm xmlns:a="http://schemas.openxmlformats.org/drawingml/2006/main">
            <a:off x="609600" y="3429000"/>
            <a:ext cx="68103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i="0">
                <a:solidFill>
                  <a:srgbClr val="FFFFFF"/>
                </a:solidFill>
                <a:latin typeface="Segoe UI"/>
                <a:ea typeface="Segoe UI"/>
                <a:cs typeface="Segoe UI"/>
              </a:defRPr>
            </a:defPPr>
          </a:lstStyle>
          <a:p xmlns:a="http://schemas.openxmlformats.org/drawingml/2006/main">
            <a:pPr algn="l">
              <a:defRPr sz="1950" b="0" i="0">
                <a:solidFill>
                  <a:srgbClr val="FFFFFF"/>
                </a:solidFill>
                <a:latin typeface="Segoe UI"/>
                <a:ea typeface="Segoe UI"/>
                <a:cs typeface="Segoe UI"/>
              </a:defRPr>
            </a:pPr>
            <a:r>
              <a:rPr sz="1950" b="0" i="0">
                <a:solidFill>
                  <a:srgbClr val="FFFFFF"/>
                </a:solidFill>
                <a:latin typeface="Segoe UI"/>
                <a:ea typeface="Segoe UI"/>
                <a:cs typeface="Segoe UI"/>
              </a:rPr>
              <a:t>Sayt, admin panel, CRM va Telegram bot</a:t>
            </a:r>
          </a:p>
        </p:txBody>
      </p:sp>
      <p:sp>
        <p:nvSpPr>
          <p:cNvPr id="6" name="Ishga tushgach 1 oy bepul">
            <a:extLst xmlns:a="http://schemas.openxmlformats.org/drawingml/2006/main">
              <a:ext uri="{FF2B5EF4-FFF2-40B4-BE49-F238E27FC236}">
                <a16:creationId xmlns:a16="http://schemas.microsoft.com/office/drawing/2014/main" id="{F609290D-4E18-443E-9148-F5C50380303D}"/>
              </a:ext>
            </a:extLst>
          </p:cNvPr>
          <p:cNvSpPr>
            <a:spLocks xmlns:a="http://schemas.openxmlformats.org/drawingml/2006/main" noGrp="1"/>
          </p:cNvSpPr>
          <p:nvPr/>
        </p:nvSpPr>
        <p:spPr>
          <a:xfrm xmlns:a="http://schemas.openxmlformats.org/drawingml/2006/main">
            <a:off x="609600" y="4210050"/>
            <a:ext cx="685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i="0">
                <a:solidFill>
                  <a:srgbClr val="FFFFFF"/>
                </a:solidFill>
                <a:latin typeface="Georgia"/>
                <a:ea typeface="Georgia"/>
                <a:cs typeface="Georgia"/>
              </a:defRPr>
            </a:defPPr>
          </a:lstStyle>
          <a:p xmlns:a="http://schemas.openxmlformats.org/drawingml/2006/main">
            <a:pPr algn="l">
              <a:defRPr sz="2250" b="0" i="0">
                <a:solidFill>
                  <a:srgbClr val="FFFFFF"/>
                </a:solidFill>
                <a:latin typeface="Georgia"/>
                <a:ea typeface="Georgia"/>
                <a:cs typeface="Georgia"/>
              </a:defRPr>
            </a:pPr>
            <a:r>
              <a:rPr sz="2250" b="0" i="0">
                <a:solidFill>
                  <a:srgbClr val="FFFFFF"/>
                </a:solidFill>
                <a:latin typeface="Georgia"/>
                <a:ea typeface="Georgia"/>
                <a:cs typeface="Georgia"/>
              </a:rPr>
              <a:t>Ishga tushgach 1 oy bepul</a:t>
            </a:r>
          </a:p>
        </p:txBody>
      </p:sp>
      <p:sp>
        <p:nvSpPr>
          <p:cNvPr id="7" name="Servis, yordam va mas’ul xodimga saytni hamda admin panelni yuritishni 1 oy davomida o‘rga">
            <a:extLst xmlns:a="http://schemas.openxmlformats.org/drawingml/2006/main">
              <a:ext uri="{FF2B5EF4-FFF2-40B4-BE49-F238E27FC236}">
                <a16:creationId xmlns:a16="http://schemas.microsoft.com/office/drawing/2014/main" id="{A672469C-CC81-4E98-A7EB-8B1B44FB414E}"/>
              </a:ext>
            </a:extLst>
          </p:cNvPr>
          <p:cNvSpPr>
            <a:spLocks xmlns:a="http://schemas.openxmlformats.org/drawingml/2006/main" noGrp="1"/>
          </p:cNvSpPr>
          <p:nvPr/>
        </p:nvSpPr>
        <p:spPr>
          <a:xfrm xmlns:a="http://schemas.openxmlformats.org/drawingml/2006/main">
            <a:off x="609600" y="4762500"/>
            <a:ext cx="6819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13" b="0" i="0">
                <a:solidFill>
                  <a:srgbClr val="E6D3D8"/>
                </a:solidFill>
                <a:latin typeface="Segoe UI"/>
                <a:ea typeface="Segoe UI"/>
                <a:cs typeface="Segoe UI"/>
              </a:defRPr>
            </a:defPPr>
          </a:lstStyle>
          <a:p xmlns:a="http://schemas.openxmlformats.org/drawingml/2006/main">
            <a:pPr algn="l">
              <a:defRPr sz="1613" b="0" i="0">
                <a:solidFill>
                  <a:srgbClr val="E6D3D8"/>
                </a:solidFill>
                <a:latin typeface="Segoe UI"/>
                <a:ea typeface="Segoe UI"/>
                <a:cs typeface="Segoe UI"/>
              </a:defRPr>
            </a:pPr>
            <a:r>
              <a:rPr sz="1613" b="0" i="0">
                <a:solidFill>
                  <a:srgbClr val="E6D3D8"/>
                </a:solidFill>
                <a:latin typeface="Segoe UI"/>
                <a:ea typeface="Segoe UI"/>
                <a:cs typeface="Segoe UI"/>
              </a:rPr>
              <a:t>Servis, yordam va mas’ul xodimga saytni hamda</a:t>
            </a:r>
          </a:p>
          <a:p xmlns:a="http://schemas.openxmlformats.org/drawingml/2006/main">
            <a:pPr algn="l">
              <a:defRPr sz="1613" b="0" i="0">
                <a:solidFill>
                  <a:srgbClr val="E6D3D8"/>
                </a:solidFill>
                <a:latin typeface="Segoe UI"/>
                <a:ea typeface="Segoe UI"/>
                <a:cs typeface="Segoe UI"/>
              </a:defRPr>
            </a:pPr>
            <a:r>
              <a:rPr sz="1613" b="0" i="0">
                <a:solidFill>
                  <a:srgbClr val="E6D3D8"/>
                </a:solidFill>
                <a:latin typeface="Segoe UI"/>
                <a:ea typeface="Segoe UI"/>
                <a:cs typeface="Segoe UI"/>
              </a:rPr>
              <a:t>admin panelni yuritishni 1 oy davomida o‘rgatish.</a:t>
            </a:r>
          </a:p>
        </p:txBody>
      </p:sp>
      <p:sp>
        <p:nvSpPr>
          <p:cNvPr id="8" name="Domen va server / hosting">
            <a:extLst xmlns:a="http://schemas.openxmlformats.org/drawingml/2006/main">
              <a:ext uri="{FF2B5EF4-FFF2-40B4-BE49-F238E27FC236}">
                <a16:creationId xmlns:a16="http://schemas.microsoft.com/office/drawing/2014/main" id="{9C120B08-971C-42DD-B21F-BE31E8E83D51}"/>
              </a:ext>
            </a:extLst>
          </p:cNvPr>
          <p:cNvSpPr>
            <a:spLocks xmlns:a="http://schemas.openxmlformats.org/drawingml/2006/main" noGrp="1"/>
          </p:cNvSpPr>
          <p:nvPr/>
        </p:nvSpPr>
        <p:spPr>
          <a:xfrm xmlns:a="http://schemas.openxmlformats.org/drawingml/2006/main">
            <a:off x="609600" y="5572125"/>
            <a:ext cx="6858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FFFFFF"/>
                </a:solidFill>
                <a:latin typeface="Georgia"/>
                <a:ea typeface="Georgia"/>
                <a:cs typeface="Georgia"/>
              </a:defRPr>
            </a:defPPr>
          </a:lstStyle>
          <a:p xmlns:a="http://schemas.openxmlformats.org/drawingml/2006/main">
            <a:pPr algn="l">
              <a:defRPr sz="2100" b="0" i="0">
                <a:solidFill>
                  <a:srgbClr val="FFFFFF"/>
                </a:solidFill>
                <a:latin typeface="Georgia"/>
                <a:ea typeface="Georgia"/>
                <a:cs typeface="Georgia"/>
              </a:defRPr>
            </a:pPr>
            <a:r>
              <a:rPr sz="2100" b="0" i="0">
                <a:solidFill>
                  <a:srgbClr val="FFFFFF"/>
                </a:solidFill>
                <a:latin typeface="Georgia"/>
                <a:ea typeface="Georgia"/>
                <a:cs typeface="Georgia"/>
              </a:rPr>
              <a:t>Domen va server / hosting</a:t>
            </a:r>
          </a:p>
        </p:txBody>
      </p:sp>
      <p:sp>
        <p:nvSpPr>
          <p:cNvPr id="9" name="To‘lov mijoz hisobidan. Hisoblar biznes egasi nomiga ochiladi. Tanlash, ulash va to‘liq so">
            <a:extLst xmlns:a="http://schemas.openxmlformats.org/drawingml/2006/main">
              <a:ext uri="{FF2B5EF4-FFF2-40B4-BE49-F238E27FC236}">
                <a16:creationId xmlns:a16="http://schemas.microsoft.com/office/drawing/2014/main" id="{D0A9F902-707B-4B07-9001-72805A2C67F0}"/>
              </a:ext>
            </a:extLst>
          </p:cNvPr>
          <p:cNvSpPr>
            <a:spLocks xmlns:a="http://schemas.openxmlformats.org/drawingml/2006/main" noGrp="1"/>
          </p:cNvSpPr>
          <p:nvPr/>
        </p:nvSpPr>
        <p:spPr>
          <a:xfrm xmlns:a="http://schemas.openxmlformats.org/drawingml/2006/main">
            <a:off x="609600" y="607695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63" b="0" i="0">
                <a:solidFill>
                  <a:srgbClr val="E6D3D8"/>
                </a:solidFill>
                <a:latin typeface="Segoe UI"/>
                <a:ea typeface="Segoe UI"/>
                <a:cs typeface="Segoe UI"/>
              </a:defRPr>
            </a:defPPr>
          </a:lstStyle>
          <a:p xmlns:a="http://schemas.openxmlformats.org/drawingml/2006/main">
            <a:pPr algn="l">
              <a:defRPr sz="1463" b="0" i="0">
                <a:solidFill>
                  <a:srgbClr val="E6D3D8"/>
                </a:solidFill>
                <a:latin typeface="Segoe UI"/>
                <a:ea typeface="Segoe UI"/>
                <a:cs typeface="Segoe UI"/>
              </a:defRPr>
            </a:pPr>
            <a:r>
              <a:rPr sz="1463" b="0" i="0">
                <a:solidFill>
                  <a:srgbClr val="E6D3D8"/>
                </a:solidFill>
                <a:latin typeface="Segoe UI"/>
                <a:ea typeface="Segoe UI"/>
                <a:cs typeface="Segoe UI"/>
              </a:rPr>
              <a:t>To‘lov mijoz hisobidan. Hisoblar biznes egasi nomiga</a:t>
            </a:r>
          </a:p>
          <a:p xmlns:a="http://schemas.openxmlformats.org/drawingml/2006/main">
            <a:pPr algn="l">
              <a:defRPr sz="1463" b="0" i="0">
                <a:solidFill>
                  <a:srgbClr val="E6D3D8"/>
                </a:solidFill>
                <a:latin typeface="Segoe UI"/>
                <a:ea typeface="Segoe UI"/>
                <a:cs typeface="Segoe UI"/>
              </a:defRPr>
            </a:pPr>
            <a:r>
              <a:rPr sz="1463" b="0" i="0">
                <a:solidFill>
                  <a:srgbClr val="E6D3D8"/>
                </a:solidFill>
                <a:latin typeface="Segoe UI"/>
                <a:ea typeface="Segoe UI"/>
                <a:cs typeface="Segoe UI"/>
              </a:rPr>
              <a:t>ochiladi. Tanlash, ulash va to‘liq sozlashni biz bajaramiz.</a:t>
            </a:r>
          </a:p>
        </p:txBody>
      </p:sp>
      <p:sp>
        <p:nvSpPr>
          <p:cNvPr id="10" name="Demo havolalari">
            <a:extLst xmlns:a="http://schemas.openxmlformats.org/drawingml/2006/main">
              <a:ext uri="{FF2B5EF4-FFF2-40B4-BE49-F238E27FC236}">
                <a16:creationId xmlns:a16="http://schemas.microsoft.com/office/drawing/2014/main" id="{791476F2-586A-4965-9E43-F33D1474D63B}"/>
              </a:ext>
            </a:extLst>
          </p:cNvPr>
          <p:cNvSpPr>
            <a:spLocks xmlns:a="http://schemas.openxmlformats.org/drawingml/2006/main" noGrp="1"/>
          </p:cNvSpPr>
          <p:nvPr/>
        </p:nvSpPr>
        <p:spPr>
          <a:xfrm xmlns:a="http://schemas.openxmlformats.org/drawingml/2006/main">
            <a:off x="7972425" y="1628775"/>
            <a:ext cx="36099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FFFFFF"/>
                </a:solidFill>
                <a:latin typeface="Georgia"/>
                <a:ea typeface="Georgia"/>
                <a:cs typeface="Georgia"/>
              </a:defRPr>
            </a:defPPr>
          </a:lstStyle>
          <a:p xmlns:a="http://schemas.openxmlformats.org/drawingml/2006/main">
            <a:pPr algn="l">
              <a:defRPr sz="2400" b="0" i="0">
                <a:solidFill>
                  <a:srgbClr val="FFFFFF"/>
                </a:solidFill>
                <a:latin typeface="Georgia"/>
                <a:ea typeface="Georgia"/>
                <a:cs typeface="Georgia"/>
              </a:defRPr>
            </a:pPr>
            <a:r>
              <a:rPr sz="2400" b="0" i="0">
                <a:solidFill>
                  <a:srgbClr val="FFFFFF"/>
                </a:solidFill>
                <a:latin typeface="Georgia"/>
                <a:ea typeface="Georgia"/>
                <a:cs typeface="Georgia"/>
              </a:rPr>
              <a:t>Demo havolalari</a:t>
            </a:r>
          </a:p>
        </p:txBody>
      </p:sp>
      <p:pic>
        <p:nvPicPr>
          <p:cNvPr id="11" name="">
            <a:extLst xmlns:a="http://schemas.openxmlformats.org/drawingml/2006/main">
              <a:ext uri="{FF2B5EF4-FFF2-40B4-BE49-F238E27FC236}">
                <a16:creationId xmlns:a16="http://schemas.microsoft.com/office/drawing/2014/main" id="{95C0B955-2581-43BB-9558-02F63D53FB6F}"/>
              </a:ext>
            </a:extLst>
          </p:cNvPr>
          <p:cNvPicPr>
            <a:picLocks xmlns:a="http://schemas.openxmlformats.org/drawingml/2006/main" noChangeAspect="1"/>
          </p:cNvPicPr>
          <p:nvPr/>
        </p:nvPicPr>
        <p:blipFill>
          <a:blip xmlns:r="http://schemas.openxmlformats.org/officeDocument/2006/relationships" xmlns:a="http://schemas.openxmlformats.org/drawingml/2006/main" r:embed="R3eb26a8933b243fa"/>
          <a:stretch xmlns:a="http://schemas.openxmlformats.org/drawingml/2006/main"/>
        </p:blipFill>
        <p:spPr>
          <a:xfrm xmlns:a="http://schemas.openxmlformats.org/drawingml/2006/main">
            <a:off x="7991475" y="2352675"/>
            <a:ext cx="1581150" cy="1581150"/>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23783BB0-3AED-443D-94C5-5A4A66394773}"/>
              </a:ext>
            </a:extLst>
          </p:cNvPr>
          <p:cNvPicPr>
            <a:picLocks xmlns:a="http://schemas.openxmlformats.org/drawingml/2006/main" noChangeAspect="1"/>
          </p:cNvPicPr>
          <p:nvPr/>
        </p:nvPicPr>
        <p:blipFill>
          <a:blip xmlns:r="http://schemas.openxmlformats.org/officeDocument/2006/relationships" xmlns:a="http://schemas.openxmlformats.org/drawingml/2006/main" r:embed="Rec76b70918ca4b6c"/>
          <a:stretch xmlns:a="http://schemas.openxmlformats.org/drawingml/2006/main"/>
        </p:blipFill>
        <p:spPr>
          <a:xfrm xmlns:a="http://schemas.openxmlformats.org/drawingml/2006/main">
            <a:off x="9934575" y="2352675"/>
            <a:ext cx="1581150" cy="1581150"/>
          </a:xfrm>
          <a:prstGeom xmlns:a="http://schemas.openxmlformats.org/drawingml/2006/main" prst="rect">
            <a:avLst/>
          </a:prstGeom>
        </p:spPr>
      </p:pic>
      <p:sp>
        <p:nvSpPr>
          <p:cNvPr id="13" name="Mijoz sayti">
            <a:extLst xmlns:a="http://schemas.openxmlformats.org/drawingml/2006/main">
              <a:ext uri="{FF2B5EF4-FFF2-40B4-BE49-F238E27FC236}">
                <a16:creationId xmlns:a16="http://schemas.microsoft.com/office/drawing/2014/main" id="{3A0316CB-4278-44C2-857A-928E2DD107BC}"/>
              </a:ext>
            </a:extLst>
          </p:cNvPr>
          <p:cNvSpPr>
            <a:spLocks xmlns:a="http://schemas.openxmlformats.org/drawingml/2006/main" noGrp="1"/>
          </p:cNvSpPr>
          <p:nvPr/>
        </p:nvSpPr>
        <p:spPr>
          <a:xfrm xmlns:a="http://schemas.openxmlformats.org/drawingml/2006/main">
            <a:off x="7743825" y="4152900"/>
            <a:ext cx="2047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0" i="0">
                <a:solidFill>
                  <a:srgbClr val="FFFFFF"/>
                </a:solidFill>
                <a:latin typeface="Georgia"/>
                <a:ea typeface="Georgia"/>
                <a:cs typeface="Georgia"/>
              </a:defRPr>
            </a:defPPr>
          </a:lstStyle>
          <a:p xmlns:a="http://schemas.openxmlformats.org/drawingml/2006/main">
            <a:pPr algn="ctr">
              <a:defRPr sz="1875" b="0" i="0">
                <a:solidFill>
                  <a:srgbClr val="FFFFFF"/>
                </a:solidFill>
                <a:latin typeface="Georgia"/>
                <a:ea typeface="Georgia"/>
                <a:cs typeface="Georgia"/>
              </a:defRPr>
            </a:pPr>
            <a:r>
              <a:rPr sz="1875" b="0" i="0">
                <a:solidFill>
                  <a:srgbClr val="FFFFFF"/>
                </a:solidFill>
                <a:latin typeface="Georgia"/>
                <a:ea typeface="Georgia"/>
                <a:cs typeface="Georgia"/>
              </a:rPr>
              <a:t>Mijoz sayti</a:t>
            </a:r>
          </a:p>
        </p:txBody>
      </p:sp>
      <p:sp>
        <p:nvSpPr>
          <p:cNvPr id="14" name="Admin demo">
            <a:extLst xmlns:a="http://schemas.openxmlformats.org/drawingml/2006/main">
              <a:ext uri="{FF2B5EF4-FFF2-40B4-BE49-F238E27FC236}">
                <a16:creationId xmlns:a16="http://schemas.microsoft.com/office/drawing/2014/main" id="{5CC3940A-469D-4DD0-AB6C-CA0A2797F77F}"/>
              </a:ext>
            </a:extLst>
          </p:cNvPr>
          <p:cNvSpPr>
            <a:spLocks xmlns:a="http://schemas.openxmlformats.org/drawingml/2006/main" noGrp="1"/>
          </p:cNvSpPr>
          <p:nvPr/>
        </p:nvSpPr>
        <p:spPr>
          <a:xfrm xmlns:a="http://schemas.openxmlformats.org/drawingml/2006/main">
            <a:off x="9686925" y="4152900"/>
            <a:ext cx="2047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0" i="0">
                <a:solidFill>
                  <a:srgbClr val="FFFFFF"/>
                </a:solidFill>
                <a:latin typeface="Georgia"/>
                <a:ea typeface="Georgia"/>
                <a:cs typeface="Georgia"/>
              </a:defRPr>
            </a:defPPr>
          </a:lstStyle>
          <a:p xmlns:a="http://schemas.openxmlformats.org/drawingml/2006/main">
            <a:pPr algn="ctr">
              <a:defRPr sz="1875" b="0" i="0">
                <a:solidFill>
                  <a:srgbClr val="FFFFFF"/>
                </a:solidFill>
                <a:latin typeface="Georgia"/>
                <a:ea typeface="Georgia"/>
                <a:cs typeface="Georgia"/>
              </a:defRPr>
            </a:pPr>
            <a:r>
              <a:rPr sz="1875" b="0" i="0">
                <a:solidFill>
                  <a:srgbClr val="FFFFFF"/>
                </a:solidFill>
                <a:latin typeface="Georgia"/>
                <a:ea typeface="Georgia"/>
                <a:cs typeface="Georgia"/>
              </a:rPr>
              <a:t>Admin demo</a:t>
            </a:r>
          </a:p>
        </p:txBody>
      </p:sp>
      <p:sp>
        <p:nvSpPr>
          <p:cNvPr id="15" name="Saytni ochish">
            <a:extLst xmlns:a="http://schemas.openxmlformats.org/drawingml/2006/main">
              <a:ext uri="{FF2B5EF4-FFF2-40B4-BE49-F238E27FC236}">
                <a16:creationId xmlns:a16="http://schemas.microsoft.com/office/drawing/2014/main" id="{624E5AD2-3854-4B27-8EA0-88D498DD14FD}"/>
              </a:ext>
            </a:extLst>
          </p:cNvPr>
          <p:cNvSpPr>
            <a:spLocks xmlns:a="http://schemas.openxmlformats.org/drawingml/2006/main" noGrp="1"/>
          </p:cNvSpPr>
          <p:nvPr/>
        </p:nvSpPr>
        <p:spPr>
          <a:xfrm xmlns:a="http://schemas.openxmlformats.org/drawingml/2006/main">
            <a:off x="7743825" y="4667250"/>
            <a:ext cx="2047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1" i="0">
                <a:solidFill>
                  <a:srgbClr val="E5C9AC"/>
                </a:solidFill>
                <a:latin typeface="Segoe UI"/>
                <a:ea typeface="Segoe UI"/>
                <a:cs typeface="Segoe UI"/>
              </a:defRPr>
            </a:defPPr>
          </a:lstStyle>
          <a:p xmlns:a="http://schemas.openxmlformats.org/drawingml/2006/main">
            <a:pPr algn="ctr">
              <a:defRPr sz="1575" b="1" i="0">
                <a:solidFill>
                  <a:srgbClr val="E5C9AC"/>
                </a:solidFill>
                <a:latin typeface="Segoe UI"/>
                <a:ea typeface="Segoe UI"/>
                <a:cs typeface="Segoe UI"/>
              </a:defRPr>
            </a:pPr>
            <a:r>
              <a:rPr sz="1575" b="1" i="0" u="sng">
                <a:solidFill>
                  <a:srgbClr val="E5C9AC"/>
                </a:solidFill>
                <a:latin typeface="Segoe UI"/>
                <a:ea typeface="Segoe UI"/>
                <a:cs typeface="Segoe UI"/>
                <a:hlinkClick xmlns:r="http://schemas.openxmlformats.org/officeDocument/2006/relationships" r:id="Rf97fbb9b19e047a9"/>
              </a:rPr>
              <a:t>Saytni ochish</a:t>
            </a:r>
          </a:p>
        </p:txBody>
      </p:sp>
      <p:sp>
        <p:nvSpPr>
          <p:cNvPr id="16" name="Panelni ochish">
            <a:extLst xmlns:a="http://schemas.openxmlformats.org/drawingml/2006/main">
              <a:ext uri="{FF2B5EF4-FFF2-40B4-BE49-F238E27FC236}">
                <a16:creationId xmlns:a16="http://schemas.microsoft.com/office/drawing/2014/main" id="{90C8A303-CF45-4207-881D-A5E4779536D1}"/>
              </a:ext>
            </a:extLst>
          </p:cNvPr>
          <p:cNvSpPr>
            <a:spLocks xmlns:a="http://schemas.openxmlformats.org/drawingml/2006/main" noGrp="1"/>
          </p:cNvSpPr>
          <p:nvPr/>
        </p:nvSpPr>
        <p:spPr>
          <a:xfrm xmlns:a="http://schemas.openxmlformats.org/drawingml/2006/main">
            <a:off x="9686925" y="4667250"/>
            <a:ext cx="2047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1" i="0">
                <a:solidFill>
                  <a:srgbClr val="E5C9AC"/>
                </a:solidFill>
                <a:latin typeface="Segoe UI"/>
                <a:ea typeface="Segoe UI"/>
                <a:cs typeface="Segoe UI"/>
              </a:defRPr>
            </a:defPPr>
          </a:lstStyle>
          <a:p xmlns:a="http://schemas.openxmlformats.org/drawingml/2006/main">
            <a:pPr algn="ctr">
              <a:defRPr sz="1575" b="1" i="0">
                <a:solidFill>
                  <a:srgbClr val="E5C9AC"/>
                </a:solidFill>
                <a:latin typeface="Segoe UI"/>
                <a:ea typeface="Segoe UI"/>
                <a:cs typeface="Segoe UI"/>
              </a:defRPr>
            </a:pPr>
            <a:r>
              <a:rPr sz="1575" b="1" i="0" u="sng">
                <a:solidFill>
                  <a:srgbClr val="E5C9AC"/>
                </a:solidFill>
                <a:latin typeface="Segoe UI"/>
                <a:ea typeface="Segoe UI"/>
                <a:cs typeface="Segoe UI"/>
                <a:hlinkClick xmlns:r="http://schemas.openxmlformats.org/officeDocument/2006/relationships" r:id="Rf5b8f333e47543b3"/>
              </a:rPr>
              <a:t>Panelni ochish</a:t>
            </a:r>
          </a:p>
        </p:txBody>
      </p:sp>
      <p:sp>
        <p:nvSpPr>
          <p:cNvPr id="17" name="QR yoki havolani bosing. Admin demo parolsiz ochiladi.">
            <a:extLst xmlns:a="http://schemas.openxmlformats.org/drawingml/2006/main">
              <a:ext uri="{FF2B5EF4-FFF2-40B4-BE49-F238E27FC236}">
                <a16:creationId xmlns:a16="http://schemas.microsoft.com/office/drawing/2014/main" id="{D5DC207B-596D-4983-871C-2C154033C35E}"/>
              </a:ext>
            </a:extLst>
          </p:cNvPr>
          <p:cNvSpPr>
            <a:spLocks xmlns:a="http://schemas.openxmlformats.org/drawingml/2006/main" noGrp="1"/>
          </p:cNvSpPr>
          <p:nvPr/>
        </p:nvSpPr>
        <p:spPr>
          <a:xfrm xmlns:a="http://schemas.openxmlformats.org/drawingml/2006/main">
            <a:off x="7991475" y="5410200"/>
            <a:ext cx="35909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i="0">
                <a:solidFill>
                  <a:srgbClr val="E6D3D8"/>
                </a:solidFill>
                <a:latin typeface="Segoe UI"/>
                <a:ea typeface="Segoe UI"/>
                <a:cs typeface="Segoe UI"/>
              </a:defRPr>
            </a:defPPr>
          </a:lstStyle>
          <a:p xmlns:a="http://schemas.openxmlformats.org/drawingml/2006/main">
            <a:pPr algn="l">
              <a:defRPr sz="1575" b="0" i="0">
                <a:solidFill>
                  <a:srgbClr val="E6D3D8"/>
                </a:solidFill>
                <a:latin typeface="Segoe UI"/>
                <a:ea typeface="Segoe UI"/>
                <a:cs typeface="Segoe UI"/>
              </a:defRPr>
            </a:pPr>
            <a:r>
              <a:rPr sz="1575" b="0" i="0">
                <a:solidFill>
                  <a:srgbClr val="E6D3D8"/>
                </a:solidFill>
                <a:latin typeface="Segoe UI"/>
                <a:ea typeface="Segoe UI"/>
                <a:cs typeface="Segoe UI"/>
              </a:rPr>
              <a:t>QR yoki havolani bosing.</a:t>
            </a:r>
          </a:p>
          <a:p xmlns:a="http://schemas.openxmlformats.org/drawingml/2006/main">
            <a:pPr algn="l">
              <a:defRPr sz="1575" b="0" i="0">
                <a:solidFill>
                  <a:srgbClr val="E6D3D8"/>
                </a:solidFill>
                <a:latin typeface="Segoe UI"/>
                <a:ea typeface="Segoe UI"/>
                <a:cs typeface="Segoe UI"/>
              </a:defRPr>
            </a:pPr>
            <a:r>
              <a:rPr sz="1575" b="0" i="0">
                <a:solidFill>
                  <a:srgbClr val="E6D3D8"/>
                </a:solidFill>
                <a:latin typeface="Segoe UI"/>
                <a:ea typeface="Segoe UI"/>
                <a:cs typeface="Segoe UI"/>
              </a:rPr>
              <a:t>Admin demo parolsiz ochiladi.</a:t>
            </a:r>
          </a:p>
        </p:txBody>
      </p:sp>
    </p:spTree>
    <p:extLst>
      <p:ext uri="{BB962C8B-B14F-4D97-AF65-F5344CB8AC3E}">
        <p14:creationId xmlns:p14="http://schemas.microsoft.com/office/powerpoint/2010/main" val="1222377313"/>
      </p:ext>
    </p:extLst>
  </p:cSld>
</p:sld>
</file>

<file path=ppt/theme/theme1.xml><?xml version="1.0" encoding="utf-8"?>
<a:theme xmlns:a="http://schemas.openxmlformats.org/drawingml/2006/main" name="ChatGPT">
  <a:themeElements>
    <a:clrScheme name="Beauty Me Premium">
      <a:dk1>
        <a:srgbClr val="1B0710"/>
      </a:dk1>
      <a:lt1>
        <a:srgbClr val="FFFFFF"/>
      </a:lt1>
      <a:dk2>
        <a:srgbClr val="471528"/>
      </a:dk2>
      <a:lt2>
        <a:srgbClr val="FBF9FA"/>
      </a:lt2>
      <a:accent1>
        <a:srgbClr val="471528"/>
      </a:accent1>
      <a:accent2>
        <a:srgbClr val="A97287"/>
      </a:accent2>
      <a:accent3>
        <a:srgbClr val="E5C9AC"/>
      </a:accent3>
      <a:accent4>
        <a:srgbClr val="7A314E"/>
      </a:accent4>
      <a:accent5>
        <a:srgbClr val="D9B6C3"/>
      </a:accent5>
      <a:accent6>
        <a:srgbClr val="895D70"/>
      </a:accent6>
      <a:hlink>
        <a:srgbClr val="471528"/>
      </a:hlink>
      <a:folHlink>
        <a:srgbClr val="A97287"/>
      </a:folHlink>
    </a:clrScheme>
    <a:fontScheme name="">
      <a:majorFont>
        <a:latin typeface="Segoe UI"/>
        <a:ea typeface=""/>
        <a:cs typeface=""/>
      </a:majorFont>
      <a:minorFont>
        <a:latin typeface="Segoe UI"/>
        <a:ea typeface=""/>
        <a:cs typeface=""/>
      </a:minorFont>
    </a:fontScheme>
    <a:fmtScheme name="Beauty Me Premium">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2026-10-10T05:04:24.9450000Z</dcterms:created>
  <dcterms:modified xsi:type="dcterms:W3CDTF">2026-10-10T05:04:24.9450000Z</dcterms:modified>
</coreProperties>
</file>